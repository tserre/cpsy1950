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4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slide+xml" PartName="/ppt/slides/slide40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 showSpecialPlsOnTitleSld="0">
  <p:sldMasterIdLst>
    <p:sldMasterId id="2147483668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</p:sldIdLst>
  <p:sldSz cy="5143500" cx="9144000"/>
  <p:notesSz cx="6858000" cy="9144000"/>
  <p:embeddedFontLst>
    <p:embeddedFont>
      <p:font typeface="Raleway"/>
      <p:regular r:id="rId48"/>
      <p:bold r:id="rId49"/>
      <p:italic r:id="rId50"/>
      <p:boldItalic r:id="rId51"/>
    </p:embeddedFont>
    <p:embeddedFont>
      <p:font typeface="Outfit"/>
      <p:regular r:id="rId52"/>
      <p:bold r:id="rId53"/>
    </p:embeddedFont>
    <p:embeddedFont>
      <p:font typeface="Zilla Slab"/>
      <p:regular r:id="rId54"/>
      <p:bold r:id="rId55"/>
      <p:italic r:id="rId56"/>
    </p:embeddedFont>
    <p:embeddedFont>
      <p:font typeface="Zilla Slab Light"/>
      <p:bold r:id="rId57"/>
      <p:boldItalic r:id="rId5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E7EE7C1-EB04-47AD-AD27-7F6E7173889C}">
  <a:tblStyle styleId="{5E7EE7C1-EB04-47AD-AD27-7F6E7173889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4.xml"/><Relationship Id="rId42" Type="http://schemas.openxmlformats.org/officeDocument/2006/relationships/slide" Target="slides/slide36.xml"/><Relationship Id="rId41" Type="http://schemas.openxmlformats.org/officeDocument/2006/relationships/slide" Target="slides/slide35.xml"/><Relationship Id="rId44" Type="http://schemas.openxmlformats.org/officeDocument/2006/relationships/slide" Target="slides/slide38.xml"/><Relationship Id="rId43" Type="http://schemas.openxmlformats.org/officeDocument/2006/relationships/slide" Target="slides/slide37.xml"/><Relationship Id="rId46" Type="http://schemas.openxmlformats.org/officeDocument/2006/relationships/slide" Target="slides/slide40.xml"/><Relationship Id="rId45" Type="http://schemas.openxmlformats.org/officeDocument/2006/relationships/slide" Target="slides/slide39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48" Type="http://schemas.openxmlformats.org/officeDocument/2006/relationships/font" Target="fonts/Raleway-regular.fntdata"/><Relationship Id="rId47" Type="http://schemas.openxmlformats.org/officeDocument/2006/relationships/slide" Target="slides/slide41.xml"/><Relationship Id="rId49" Type="http://schemas.openxmlformats.org/officeDocument/2006/relationships/font" Target="fonts/Raleway-bold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33" Type="http://schemas.openxmlformats.org/officeDocument/2006/relationships/slide" Target="slides/slide27.xml"/><Relationship Id="rId32" Type="http://schemas.openxmlformats.org/officeDocument/2006/relationships/slide" Target="slides/slide26.xml"/><Relationship Id="rId35" Type="http://schemas.openxmlformats.org/officeDocument/2006/relationships/slide" Target="slides/slide29.xml"/><Relationship Id="rId34" Type="http://schemas.openxmlformats.org/officeDocument/2006/relationships/slide" Target="slides/slide28.xml"/><Relationship Id="rId37" Type="http://schemas.openxmlformats.org/officeDocument/2006/relationships/slide" Target="slides/slide31.xml"/><Relationship Id="rId36" Type="http://schemas.openxmlformats.org/officeDocument/2006/relationships/slide" Target="slides/slide30.xml"/><Relationship Id="rId39" Type="http://schemas.openxmlformats.org/officeDocument/2006/relationships/slide" Target="slides/slide33.xml"/><Relationship Id="rId38" Type="http://schemas.openxmlformats.org/officeDocument/2006/relationships/slide" Target="slides/slide32.xml"/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29" Type="http://schemas.openxmlformats.org/officeDocument/2006/relationships/slide" Target="slides/slide23.xml"/><Relationship Id="rId51" Type="http://schemas.openxmlformats.org/officeDocument/2006/relationships/font" Target="fonts/Raleway-boldItalic.fntdata"/><Relationship Id="rId50" Type="http://schemas.openxmlformats.org/officeDocument/2006/relationships/font" Target="fonts/Raleway-italic.fntdata"/><Relationship Id="rId53" Type="http://schemas.openxmlformats.org/officeDocument/2006/relationships/font" Target="fonts/Outfit-bold.fntdata"/><Relationship Id="rId52" Type="http://schemas.openxmlformats.org/officeDocument/2006/relationships/font" Target="fonts/Outfit-regular.fntdata"/><Relationship Id="rId11" Type="http://schemas.openxmlformats.org/officeDocument/2006/relationships/slide" Target="slides/slide5.xml"/><Relationship Id="rId55" Type="http://schemas.openxmlformats.org/officeDocument/2006/relationships/font" Target="fonts/ZillaSlab-bold.fntdata"/><Relationship Id="rId10" Type="http://schemas.openxmlformats.org/officeDocument/2006/relationships/slide" Target="slides/slide4.xml"/><Relationship Id="rId54" Type="http://schemas.openxmlformats.org/officeDocument/2006/relationships/font" Target="fonts/ZillaSlab-regular.fntdata"/><Relationship Id="rId13" Type="http://schemas.openxmlformats.org/officeDocument/2006/relationships/slide" Target="slides/slide7.xml"/><Relationship Id="rId57" Type="http://schemas.openxmlformats.org/officeDocument/2006/relationships/font" Target="fonts/ZillaSlabLight-bold.fntdata"/><Relationship Id="rId12" Type="http://schemas.openxmlformats.org/officeDocument/2006/relationships/slide" Target="slides/slide6.xml"/><Relationship Id="rId56" Type="http://schemas.openxmlformats.org/officeDocument/2006/relationships/font" Target="fonts/ZillaSlab-italic.fntdata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58" Type="http://schemas.openxmlformats.org/officeDocument/2006/relationships/font" Target="fonts/ZillaSlabLight-boldItalic.fntdata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3bc9671085c_1_126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5" name="Google Shape;85;g3bc9671085c_1_126:notes"/>
          <p:cNvSpPr txBox="1"/>
          <p:nvPr>
            <p:ph idx="1" type="body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g3bc9671085c_1_126:notes"/>
          <p:cNvSpPr txBox="1"/>
          <p:nvPr>
            <p:ph idx="12" type="sldNum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c67357f7da_0_38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2" name="Google Shape;92;g3c67357f7da_0_38:notes"/>
          <p:cNvSpPr txBox="1"/>
          <p:nvPr>
            <p:ph idx="1" type="body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g3c67357f7da_0_38:notes"/>
          <p:cNvSpPr txBox="1"/>
          <p:nvPr>
            <p:ph idx="12" type="sldNum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c67357f7da_0_61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g3c67357f7da_0_61:notes"/>
          <p:cNvSpPr txBox="1"/>
          <p:nvPr>
            <p:ph idx="1" type="body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g3c67357f7da_0_61:notes"/>
          <p:cNvSpPr txBox="1"/>
          <p:nvPr>
            <p:ph idx="12" type="sldNum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93a967845b_0_216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5" name="Google Shape;135;g393a967845b_0_216:notes"/>
          <p:cNvSpPr txBox="1"/>
          <p:nvPr>
            <p:ph idx="1" type="body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g393a967845b_0_216:notes"/>
          <p:cNvSpPr txBox="1"/>
          <p:nvPr>
            <p:ph idx="12" type="sldNum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3c67357f7da_0_116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0" name="Google Shape;150;g3c67357f7da_0_116:notes"/>
          <p:cNvSpPr txBox="1"/>
          <p:nvPr>
            <p:ph idx="1" type="body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/>
              <a:t>T</a:t>
            </a:r>
            <a:r>
              <a:rPr lang="en" sz="1600"/>
              <a:t>he objectives haven't changed—just the scale. </a:t>
            </a:r>
            <a:endParaRPr sz="1600"/>
          </a:p>
        </p:txBody>
      </p:sp>
      <p:sp>
        <p:nvSpPr>
          <p:cNvPr id="151" name="Google Shape;151;g3c67357f7da_0_116:notes"/>
          <p:cNvSpPr txBox="1"/>
          <p:nvPr>
            <p:ph idx="12" type="sldNum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g393a967845b_0_2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02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latin typeface="Arial"/>
                <a:ea typeface="Arial"/>
                <a:cs typeface="Arial"/>
                <a:sym typeface="Arial"/>
              </a:rPr>
              <a:t>Since then, the development of modern deep networks has been driven primarily by engineering considerations—maximizing classification accuracy and scaling to larger datasets and architectures—rather than by biological constraints. </a:t>
            </a:r>
            <a:endParaRPr sz="1600">
              <a:latin typeface="Arial"/>
              <a:ea typeface="Arial"/>
              <a:cs typeface="Arial"/>
              <a:sym typeface="Arial"/>
            </a:endParaRPr>
          </a:p>
          <a:p>
            <a:pPr indent="-3302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latin typeface="Arial"/>
                <a:ea typeface="Arial"/>
                <a:cs typeface="Arial"/>
                <a:sym typeface="Arial"/>
              </a:rPr>
              <a:t>This figure from Epoch AI illustrates the dramatic scale of this shift: training compute has grown exponentially, with language models increasing at roughly 6× per year and vision models at 4× per year. From AlexNet in 2012 to today's frontier models like GPT-4 and Gemini Ultra, we've seen an increase of </a:t>
            </a:r>
            <a:r>
              <a:rPr b="1" lang="en" sz="1600">
                <a:latin typeface="Arial"/>
                <a:ea typeface="Arial"/>
                <a:cs typeface="Arial"/>
                <a:sym typeface="Arial"/>
              </a:rPr>
              <a:t>over ten orders of magnitude in training compute</a:t>
            </a:r>
            <a:r>
              <a:rPr lang="en" sz="1600">
                <a:latin typeface="Arial"/>
                <a:ea typeface="Arial"/>
                <a:cs typeface="Arial"/>
                <a:sym typeface="Arial"/>
              </a:rPr>
              <a:t>. </a:t>
            </a:r>
            <a:r>
              <a:rPr b="1" lang="en" sz="1600">
                <a:latin typeface="Arial"/>
                <a:ea typeface="Arial"/>
                <a:cs typeface="Arial"/>
                <a:sym typeface="Arial"/>
              </a:rPr>
              <a:t>This is scaling on a scale that biology simply cannot match.</a:t>
            </a:r>
            <a:endParaRPr b="1" sz="16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g393a967845b_0_24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393a967845b_0_2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Arial"/>
                <a:ea typeface="Arial"/>
                <a:cs typeface="Arial"/>
                <a:sym typeface="Arial"/>
              </a:rPr>
              <a:t>This figure from Epoch AI illustrates the dramatic scale of this shift: training compute has grown exponentially, with language models increasing at roughly 6× per year and vision models at 4× per year. From AlexNet in 2012 to today's frontier models like GPT-4 and Gemini Ultra, we've seen an increase of </a:t>
            </a:r>
            <a:r>
              <a:rPr b="1" lang="en" sz="1600">
                <a:latin typeface="Arial"/>
                <a:ea typeface="Arial"/>
                <a:cs typeface="Arial"/>
                <a:sym typeface="Arial"/>
              </a:rPr>
              <a:t>over ten orders of magnitude in training compute</a:t>
            </a:r>
            <a:r>
              <a:rPr lang="en" sz="1600">
                <a:latin typeface="Arial"/>
                <a:ea typeface="Arial"/>
                <a:cs typeface="Arial"/>
                <a:sym typeface="Arial"/>
              </a:rPr>
              <a:t>. </a:t>
            </a:r>
            <a:r>
              <a:rPr b="1" lang="en" sz="1600">
                <a:latin typeface="Arial"/>
                <a:ea typeface="Arial"/>
                <a:cs typeface="Arial"/>
                <a:sym typeface="Arial"/>
              </a:rPr>
              <a:t>This is scaling on a scale that biology simply cannot match.</a:t>
            </a:r>
            <a:endParaRPr b="1" sz="16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g393a967845b_0_23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393a967845b_0_2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02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latin typeface="Arial"/>
                <a:ea typeface="Arial"/>
                <a:cs typeface="Arial"/>
                <a:sym typeface="Arial"/>
              </a:rPr>
              <a:t>Since then, the development of modern deep networks has been driven primarily by engineering considerations—maximizing classification accuracy and scaling to larger datasets and architectures—rather than by biological constraints. </a:t>
            </a:r>
            <a:endParaRPr sz="1600">
              <a:latin typeface="Arial"/>
              <a:ea typeface="Arial"/>
              <a:cs typeface="Arial"/>
              <a:sym typeface="Arial"/>
            </a:endParaRPr>
          </a:p>
          <a:p>
            <a:pPr indent="-3302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latin typeface="Arial"/>
                <a:ea typeface="Arial"/>
                <a:cs typeface="Arial"/>
                <a:sym typeface="Arial"/>
              </a:rPr>
              <a:t>This figure from Epoch AI illustrates the dramatic scale of this shift: training compute has grown exponentially, with language models increasing at roughly 6× per year and vision models at 4× per year. From AlexNet in 2012 to today's frontier models like GPT-4 and Gemini Ultra, we've seen an increase of </a:t>
            </a:r>
            <a:r>
              <a:rPr b="1" lang="en" sz="1600">
                <a:latin typeface="Arial"/>
                <a:ea typeface="Arial"/>
                <a:cs typeface="Arial"/>
                <a:sym typeface="Arial"/>
              </a:rPr>
              <a:t>over ten orders of magnitude in training compute</a:t>
            </a:r>
            <a:r>
              <a:rPr lang="en" sz="1600">
                <a:latin typeface="Arial"/>
                <a:ea typeface="Arial"/>
                <a:cs typeface="Arial"/>
                <a:sym typeface="Arial"/>
              </a:rPr>
              <a:t>. </a:t>
            </a:r>
            <a:r>
              <a:rPr b="1" lang="en" sz="1600">
                <a:latin typeface="Arial"/>
                <a:ea typeface="Arial"/>
                <a:cs typeface="Arial"/>
                <a:sym typeface="Arial"/>
              </a:rPr>
              <a:t>This is scaling on a scale that biology simply cannot match.</a:t>
            </a:r>
            <a:endParaRPr b="1" sz="16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g393a967845b_0_25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c67357f7da_0_159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9" name="Google Shape;219;g3c67357f7da_0_159:notes"/>
          <p:cNvSpPr txBox="1"/>
          <p:nvPr>
            <p:ph idx="1" type="body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/>
              <a:t>GPT-3 to ChatGPT was just adding RLHF (same base model). LLaMA made open-source competitive. DeepSeek-R1 showed RL alone can induce reasoning. </a:t>
            </a:r>
            <a:endParaRPr sz="16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/>
              <a:t>Mention Claude, Gemini, Mistral as other key players </a:t>
            </a:r>
            <a:endParaRPr sz="1600"/>
          </a:p>
        </p:txBody>
      </p:sp>
      <p:sp>
        <p:nvSpPr>
          <p:cNvPr id="220" name="Google Shape;220;g3c67357f7da_0_159:notes"/>
          <p:cNvSpPr txBox="1"/>
          <p:nvPr>
            <p:ph idx="12" type="sldNum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3c67357f7da_0_898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0" name="Google Shape;270;g3c67357f7da_0_898:notes"/>
          <p:cNvSpPr txBox="1"/>
          <p:nvPr>
            <p:ph idx="1" type="body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1" name="Google Shape;271;g3c67357f7da_0_898:notes"/>
          <p:cNvSpPr txBox="1"/>
          <p:nvPr>
            <p:ph idx="12" type="sldNum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g393a967845b_0_741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7" name="Google Shape;277;g393a967845b_0_741:notes"/>
          <p:cNvSpPr txBox="1"/>
          <p:nvPr>
            <p:ph idx="1" type="body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/>
          </a:p>
        </p:txBody>
      </p:sp>
      <p:sp>
        <p:nvSpPr>
          <p:cNvPr id="278" name="Google Shape;278;g393a967845b_0_741:notes"/>
          <p:cNvSpPr txBox="1"/>
          <p:nvPr>
            <p:ph idx="12" type="sldNum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g3c67357f7da_0_216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0" name="Google Shape;310;g3c67357f7da_0_216:notes"/>
          <p:cNvSpPr txBox="1"/>
          <p:nvPr>
            <p:ph idx="1" type="body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/>
              <a:t>Raw GPT-3 is a text-completion engine—it continues patterns, not intentions. The poem example shows the difference clearly. Note that InstructGPT (1.3B parameters with RLHF) was preferred by humans over raw GPT-3 (175B) — alignment matters more than scale.</a:t>
            </a:r>
            <a:endParaRPr sz="1600"/>
          </a:p>
        </p:txBody>
      </p:sp>
      <p:sp>
        <p:nvSpPr>
          <p:cNvPr id="311" name="Google Shape;311;g3c67357f7da_0_216:notes"/>
          <p:cNvSpPr txBox="1"/>
          <p:nvPr>
            <p:ph idx="12" type="sldNum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3c67357f7da_0_232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6" name="Google Shape;326;g3c67357f7da_0_232:notes"/>
          <p:cNvSpPr txBox="1"/>
          <p:nvPr>
            <p:ph idx="1" type="body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7" name="Google Shape;327;g3c67357f7da_0_232:notes"/>
          <p:cNvSpPr txBox="1"/>
          <p:nvPr>
            <p:ph idx="12" type="sldNum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g3c67357f7da_0_321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2" name="Google Shape;352;g3c67357f7da_0_321:notes"/>
          <p:cNvSpPr txBox="1"/>
          <p:nvPr>
            <p:ph idx="1" type="body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3" name="Google Shape;353;g3c67357f7da_0_321:notes"/>
          <p:cNvSpPr txBox="1"/>
          <p:nvPr>
            <p:ph idx="12" type="sldNum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g393a967845b_0_13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0" name="Google Shape;380;g393a967845b_0_13:notes"/>
          <p:cNvSpPr txBox="1"/>
          <p:nvPr>
            <p:ph idx="1" type="body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1" name="Google Shape;381;g393a967845b_0_13:notes"/>
          <p:cNvSpPr txBox="1"/>
          <p:nvPr>
            <p:ph idx="12" type="sldNum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g3c67357f7da_0_904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8" name="Google Shape;388;g3c67357f7da_0_904:notes"/>
          <p:cNvSpPr txBox="1"/>
          <p:nvPr>
            <p:ph idx="1" type="body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9" name="Google Shape;389;g3c67357f7da_0_904:notes"/>
          <p:cNvSpPr txBox="1"/>
          <p:nvPr>
            <p:ph idx="12" type="sldNum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3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g3c67357f7da_0_374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5" name="Google Shape;395;g3c67357f7da_0_374:notes"/>
          <p:cNvSpPr txBox="1"/>
          <p:nvPr>
            <p:ph idx="1" type="body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/>
              <a:t>No gradient updates, no fine-tuning — the model 'learns' the task from the prompt alone. This was the central claim of GPT-3 and is one of the most surprising capabilities of large language models.</a:t>
            </a:r>
            <a:endParaRPr sz="16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6" name="Google Shape;396;g3c67357f7da_0_374:notes"/>
          <p:cNvSpPr txBox="1"/>
          <p:nvPr>
            <p:ph idx="12" type="sldNum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393a967845b_0_538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2" name="Google Shape;422;g393a967845b_0_538:notes"/>
          <p:cNvSpPr txBox="1"/>
          <p:nvPr>
            <p:ph idx="1" type="body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/>
          </a:p>
        </p:txBody>
      </p:sp>
      <p:sp>
        <p:nvSpPr>
          <p:cNvPr id="423" name="Google Shape;423;g393a967845b_0_538:notes"/>
          <p:cNvSpPr txBox="1"/>
          <p:nvPr>
            <p:ph idx="12" type="sldNum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4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g393a967845b_0_552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36" name="Google Shape;436;g393a967845b_0_552:notes"/>
          <p:cNvSpPr txBox="1"/>
          <p:nvPr>
            <p:ph idx="1" type="body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/>
          </a:p>
        </p:txBody>
      </p:sp>
      <p:sp>
        <p:nvSpPr>
          <p:cNvPr id="437" name="Google Shape;437;g393a967845b_0_552:notes"/>
          <p:cNvSpPr txBox="1"/>
          <p:nvPr>
            <p:ph idx="12" type="sldNum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8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g3c67357f7da_0_449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50" name="Google Shape;450;g3c67357f7da_0_449:notes"/>
          <p:cNvSpPr txBox="1"/>
          <p:nvPr>
            <p:ph idx="1" type="body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/>
              <a:t>Contrast</a:t>
            </a:r>
            <a:r>
              <a:rPr lang="en" sz="1600"/>
              <a:t> with InstructGPT: both use RL, but DeepSeek skips the human demonstrations entirely. The emergent behaviors (self-verification, aha moments, reflection) were not trained for — they appeared because they helped the model get correct answers. The NeuroAI parallel is real: organisms also develop reasoning strategies through reinforcement, not explicit instruction. </a:t>
            </a:r>
            <a:endParaRPr sz="1600"/>
          </a:p>
        </p:txBody>
      </p:sp>
      <p:sp>
        <p:nvSpPr>
          <p:cNvPr id="451" name="Google Shape;451;g3c67357f7da_0_449:notes"/>
          <p:cNvSpPr txBox="1"/>
          <p:nvPr>
            <p:ph idx="12" type="sldNum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5" name="Shape 4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Google Shape;476;g393a967845b_0_565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77" name="Google Shape;477;g393a967845b_0_565:notes"/>
          <p:cNvSpPr txBox="1"/>
          <p:nvPr>
            <p:ph idx="1" type="body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8" name="Google Shape;478;g393a967845b_0_565:notes"/>
          <p:cNvSpPr txBox="1"/>
          <p:nvPr>
            <p:ph idx="12" type="sldNum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g393a967845b_0_597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10" name="Google Shape;510;g393a967845b_0_597:notes"/>
          <p:cNvSpPr txBox="1"/>
          <p:nvPr>
            <p:ph idx="1" type="body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1" name="Google Shape;511;g393a967845b_0_597:notes"/>
          <p:cNvSpPr txBox="1"/>
          <p:nvPr>
            <p:ph idx="12" type="sldNum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7" name="Shape 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Google Shape;518;g393a967845b_0_605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19" name="Google Shape;519;g393a967845b_0_605:notes"/>
          <p:cNvSpPr txBox="1"/>
          <p:nvPr>
            <p:ph idx="1" type="body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0" name="Google Shape;520;g393a967845b_0_605:notes"/>
          <p:cNvSpPr txBox="1"/>
          <p:nvPr>
            <p:ph idx="12" type="sldNum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5" name="Shape 5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g3c67357f7da_0_910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7" name="Google Shape;527;g3c67357f7da_0_910:notes"/>
          <p:cNvSpPr txBox="1"/>
          <p:nvPr>
            <p:ph idx="1" type="body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8" name="Google Shape;528;g3c67357f7da_0_910:notes"/>
          <p:cNvSpPr txBox="1"/>
          <p:nvPr>
            <p:ph idx="12" type="sldNum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2" name="Shape 5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Google Shape;533;g3c67357f7da_0_484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34" name="Google Shape;534;g3c67357f7da_0_484:notes"/>
          <p:cNvSpPr txBox="1"/>
          <p:nvPr>
            <p:ph idx="1" type="body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/>
              <a:t>Scaling became a deliberate engineering strategy because of this predictability. </a:t>
            </a:r>
            <a:endParaRPr sz="16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/>
          </a:p>
        </p:txBody>
      </p:sp>
      <p:sp>
        <p:nvSpPr>
          <p:cNvPr id="535" name="Google Shape;535;g3c67357f7da_0_484:notes"/>
          <p:cNvSpPr txBox="1"/>
          <p:nvPr>
            <p:ph idx="12" type="sldNum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2" name="Shape 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Google Shape;543;g393a967845b_0_265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44" name="Google Shape;544;g393a967845b_0_265:notes"/>
          <p:cNvSpPr txBox="1"/>
          <p:nvPr>
            <p:ph idx="1" type="body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5" name="Google Shape;545;g393a967845b_0_265:notes"/>
          <p:cNvSpPr txBox="1"/>
          <p:nvPr>
            <p:ph idx="12" type="sldNum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0" name="Shape 5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Google Shape;551;g3c67357f7da_0_512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52" name="Google Shape;552;g3c67357f7da_0_512:notes"/>
          <p:cNvSpPr txBox="1"/>
          <p:nvPr>
            <p:ph idx="1" type="body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3" name="Google Shape;553;g3c67357f7da_0_512:notes"/>
          <p:cNvSpPr txBox="1"/>
          <p:nvPr>
            <p:ph idx="12" type="sldNum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2" name="Shape 5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Google Shape;573;g393a967845b_0_335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4" name="Google Shape;574;g393a967845b_0_335:notes"/>
          <p:cNvSpPr txBox="1"/>
          <p:nvPr>
            <p:ph idx="1" type="body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Brown CCV Oscar GPU Compute Capacity</a:t>
            </a:r>
            <a:br>
              <a:rPr lang="en"/>
            </a:br>
            <a:br>
              <a:rPr lang="en"/>
            </a:br>
            <a:r>
              <a:rPr lang="en"/>
              <a:t>This slide gives students a concrete sense of what "compute" means at a university scale vs. industry.</a:t>
            </a:r>
            <a:br>
              <a:rPr lang="en"/>
            </a:br>
            <a:br>
              <a:rPr lang="en"/>
            </a:br>
            <a:r>
              <a:rPr lang="en"/>
              <a:t>INVENTORY HIGHLIGHTS:</a:t>
            </a:r>
            <a:br>
              <a:rPr lang="en"/>
            </a:br>
            <a:r>
              <a:rPr lang="en"/>
              <a:t>- ~880 GPUs total across Oscar cluster</a:t>
            </a:r>
            <a:br>
              <a:rPr lang="en"/>
            </a:br>
            <a:r>
              <a:rPr lang="en"/>
              <a:t>- ~450 PFLOPS peak FP16 tensor compute</a:t>
            </a:r>
            <a:br>
              <a:rPr lang="en"/>
            </a:br>
            <a:r>
              <a:rPr lang="en"/>
              <a:t>- The 64 B200 GPUs (from the $1.34M NIH S10 grant) account for ~64% of all compute despite being ~7% of GPUs</a:t>
            </a:r>
            <a:br>
              <a:rPr lang="en"/>
            </a:br>
            <a:r>
              <a:rPr lang="en"/>
              <a:t>- 88 new RTX PRO 6000 Blackwell Max-Q workstation GPUs add another ~44 PFLOPS</a:t>
            </a:r>
            <a:br>
              <a:rPr lang="en"/>
            </a:br>
            <a:br>
              <a:rPr lang="en"/>
            </a:br>
            <a:r>
              <a:rPr lang="en"/>
              <a:t>PF-DAY CONVERSIONS:</a:t>
            </a:r>
            <a:br>
              <a:rPr lang="en"/>
            </a:br>
            <a:r>
              <a:rPr lang="en"/>
              <a:t>- 1 PF-day = 10^15 FLOP/s × 86,400 seconds = 8.64 × 10^19 FLOP</a:t>
            </a:r>
            <a:br>
              <a:rPr lang="en"/>
            </a:br>
            <a:r>
              <a:rPr lang="en"/>
              <a:t>- At ~450 PFLOPS peak, Brown could theoretically do ~450 PF-days per day</a:t>
            </a:r>
            <a:br>
              <a:rPr lang="en"/>
            </a:br>
            <a:r>
              <a:rPr lang="en"/>
              <a:t>- Realistic utilization (30-40%) → ~150 PF-days per actual day</a:t>
            </a:r>
            <a:br>
              <a:rPr lang="en"/>
            </a:br>
            <a:br>
              <a:rPr lang="en"/>
            </a:br>
            <a:endParaRPr/>
          </a:p>
        </p:txBody>
      </p:sp>
      <p:sp>
        <p:nvSpPr>
          <p:cNvPr id="575" name="Google Shape;575;g393a967845b_0_335:notes"/>
          <p:cNvSpPr txBox="1"/>
          <p:nvPr>
            <p:ph idx="12" type="sldNum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4" name="Shape 5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5" name="Google Shape;585;g393a967845b_0_283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86" name="Google Shape;586;g393a967845b_0_283:notes"/>
          <p:cNvSpPr txBox="1"/>
          <p:nvPr>
            <p:ph idx="1" type="body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/>
          </a:p>
        </p:txBody>
      </p:sp>
      <p:sp>
        <p:nvSpPr>
          <p:cNvPr id="587" name="Google Shape;587;g393a967845b_0_283:notes"/>
          <p:cNvSpPr txBox="1"/>
          <p:nvPr>
            <p:ph idx="12" type="sldNum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5" name="Shape 6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" name="Google Shape;636;g3c67357f7da_0_916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37" name="Google Shape;637;g3c67357f7da_0_916:notes"/>
          <p:cNvSpPr txBox="1"/>
          <p:nvPr>
            <p:ph idx="1" type="body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8" name="Google Shape;638;g3c67357f7da_0_916:notes"/>
          <p:cNvSpPr txBox="1"/>
          <p:nvPr>
            <p:ph idx="12" type="sldNum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2" name="Shape 6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Google Shape;643;g393a967845b_0_687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4" name="Google Shape;644;g393a967845b_0_687:notes"/>
          <p:cNvSpPr txBox="1"/>
          <p:nvPr>
            <p:ph idx="1" type="body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5" name="Google Shape;645;g393a967845b_0_687:notes"/>
          <p:cNvSpPr txBox="1"/>
          <p:nvPr>
            <p:ph idx="12" type="sldNum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1" name="Shape 6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Google Shape;652;g393a967845b_0_695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3" name="Google Shape;653;g393a967845b_0_695:notes"/>
          <p:cNvSpPr txBox="1"/>
          <p:nvPr>
            <p:ph idx="1" type="body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4" name="Google Shape;654;g393a967845b_0_695:notes"/>
          <p:cNvSpPr txBox="1"/>
          <p:nvPr>
            <p:ph idx="12" type="sldNum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9" name="Shape 6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Google Shape;660;g3c67357f7da_0_648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61" name="Google Shape;661;g3c67357f7da_0_648:notes"/>
          <p:cNvSpPr txBox="1"/>
          <p:nvPr>
            <p:ph idx="1" type="body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2" name="Google Shape;662;g3c67357f7da_0_648:notes"/>
          <p:cNvSpPr txBox="1"/>
          <p:nvPr>
            <p:ph idx="12" type="sldNum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7" name="Shape 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Google Shape;688;g3c67357f7da_0_680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9" name="Google Shape;689;g3c67357f7da_0_680:notes"/>
          <p:cNvSpPr txBox="1"/>
          <p:nvPr>
            <p:ph idx="1" type="body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0" name="Google Shape;690;g3c67357f7da_0_680:notes"/>
          <p:cNvSpPr txBox="1"/>
          <p:nvPr>
            <p:ph idx="12" type="sldNum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5" name="Shape 7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" name="Google Shape;716;g393a967845b_0_612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17" name="Google Shape;717;g393a967845b_0_612:notes"/>
          <p:cNvSpPr txBox="1"/>
          <p:nvPr>
            <p:ph idx="1" type="body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8" name="Google Shape;718;g393a967845b_0_612:notes"/>
          <p:cNvSpPr txBox="1"/>
          <p:nvPr>
            <p:ph idx="12" type="sldNum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g3c67357f7da_0_719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9" name="Google Shape;729;g3c67357f7da_0_719:notes"/>
          <p:cNvSpPr txBox="1"/>
          <p:nvPr>
            <p:ph idx="1" type="body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0" name="Google Shape;730;g3c67357f7da_0_719:notes"/>
          <p:cNvSpPr txBox="1"/>
          <p:nvPr>
            <p:ph idx="12" type="sldNum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7" name="Shape 7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8" name="Google Shape;748;g3c67357f7da_0_922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9" name="Google Shape;749;g3c67357f7da_0_922:notes"/>
          <p:cNvSpPr txBox="1"/>
          <p:nvPr>
            <p:ph idx="1" type="body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0" name="Google Shape;750;g3c67357f7da_0_922:notes"/>
          <p:cNvSpPr txBox="1"/>
          <p:nvPr>
            <p:ph idx="12" type="sldNum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g3c67357f7da_0_750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6" name="Google Shape;756;g3c67357f7da_0_750:notes"/>
          <p:cNvSpPr txBox="1"/>
          <p:nvPr>
            <p:ph idx="1" type="body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/>
              <a:t>Mahowald et al. gives the analytical framework (formal vs. functional). Bender et al. argues the pessimistic case (form alone isn't enough). Mitchell &amp; Krakauer maps the philosophical landscape. </a:t>
            </a:r>
            <a:endParaRPr sz="1600"/>
          </a:p>
        </p:txBody>
      </p:sp>
      <p:sp>
        <p:nvSpPr>
          <p:cNvPr id="757" name="Google Shape;757;g3c67357f7da_0_750:notes"/>
          <p:cNvSpPr txBox="1"/>
          <p:nvPr>
            <p:ph idx="12" type="sldNum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g3c67357f7da_0_797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5" name="Google Shape;775;g3c67357f7da_0_797:notes"/>
          <p:cNvSpPr txBox="1"/>
          <p:nvPr>
            <p:ph idx="1" type="body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6" name="Google Shape;776;g3c67357f7da_0_797:notes"/>
          <p:cNvSpPr txBox="1"/>
          <p:nvPr>
            <p:ph idx="12" type="sldNum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7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g3c67357f7da_0_822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99" name="Google Shape;799;g3c67357f7da_0_822:notes"/>
          <p:cNvSpPr txBox="1"/>
          <p:nvPr>
            <p:ph idx="1" type="body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0" name="Google Shape;800;g3c67357f7da_0_822:notes"/>
          <p:cNvSpPr txBox="1"/>
          <p:nvPr>
            <p:ph idx="12" type="sldNum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6" name="Shape 8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7" name="Google Shape;817;g39355611234_0_2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8" name="Google Shape;818;g39355611234_0_2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22860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91850"/>
            <a:ext cx="8520600" cy="359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683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  <a:defRPr sz="2200"/>
            </a:lvl1pPr>
            <a:lvl2pPr indent="-36830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Char char="○"/>
              <a:defRPr sz="2200"/>
            </a:lvl2pPr>
            <a:lvl3pPr indent="-36830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Char char="■"/>
              <a:defRPr sz="2200"/>
            </a:lvl3pPr>
            <a:lvl4pPr indent="-36830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  <a:defRPr sz="2200"/>
            </a:lvl4pPr>
            <a:lvl5pPr indent="-36830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Char char="○"/>
              <a:defRPr sz="2200"/>
            </a:lvl5pPr>
            <a:lvl6pPr indent="-36830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Char char="■"/>
              <a:defRPr sz="2200"/>
            </a:lvl6pPr>
            <a:lvl7pPr indent="-36830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  <a:defRPr sz="2200"/>
            </a:lvl7pPr>
            <a:lvl8pPr indent="-36830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Char char="○"/>
              <a:defRPr sz="2200"/>
            </a:lvl8pPr>
            <a:lvl9pPr indent="-36830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Char char="■"/>
              <a:defRPr sz="22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" name="Google Shape;20;p4"/>
          <p:cNvSpPr txBox="1"/>
          <p:nvPr>
            <p:ph idx="2" type="subTitle"/>
          </p:nvPr>
        </p:nvSpPr>
        <p:spPr>
          <a:xfrm>
            <a:off x="-3870" y="4726261"/>
            <a:ext cx="4046100" cy="411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Font typeface="Zilla Slab Light"/>
              <a:buNone/>
              <a:defRPr i="1" sz="1200">
                <a:latin typeface="Zilla Slab Light"/>
                <a:ea typeface="Zilla Slab Light"/>
                <a:cs typeface="Zilla Slab Light"/>
                <a:sym typeface="Zilla Slab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Font typeface="Zilla Slab Light"/>
              <a:buNone/>
              <a:defRPr i="1" sz="1200">
                <a:latin typeface="Zilla Slab Light"/>
                <a:ea typeface="Zilla Slab Light"/>
                <a:cs typeface="Zilla Slab Light"/>
                <a:sym typeface="Zilla Slab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Font typeface="Zilla Slab Light"/>
              <a:buNone/>
              <a:defRPr i="1" sz="1200">
                <a:latin typeface="Zilla Slab Light"/>
                <a:ea typeface="Zilla Slab Light"/>
                <a:cs typeface="Zilla Slab Light"/>
                <a:sym typeface="Zilla Slab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Font typeface="Zilla Slab Light"/>
              <a:buNone/>
              <a:defRPr i="1" sz="1200">
                <a:latin typeface="Zilla Slab Light"/>
                <a:ea typeface="Zilla Slab Light"/>
                <a:cs typeface="Zilla Slab Light"/>
                <a:sym typeface="Zilla Slab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Font typeface="Zilla Slab Light"/>
              <a:buNone/>
              <a:defRPr i="1" sz="1200">
                <a:latin typeface="Zilla Slab Light"/>
                <a:ea typeface="Zilla Slab Light"/>
                <a:cs typeface="Zilla Slab Light"/>
                <a:sym typeface="Zilla Slab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Font typeface="Zilla Slab Light"/>
              <a:buNone/>
              <a:defRPr i="1" sz="1200">
                <a:latin typeface="Zilla Slab Light"/>
                <a:ea typeface="Zilla Slab Light"/>
                <a:cs typeface="Zilla Slab Light"/>
                <a:sym typeface="Zilla Slab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Font typeface="Zilla Slab Light"/>
              <a:buNone/>
              <a:defRPr i="1" sz="1200">
                <a:latin typeface="Zilla Slab Light"/>
                <a:ea typeface="Zilla Slab Light"/>
                <a:cs typeface="Zilla Slab Light"/>
                <a:sym typeface="Zilla Slab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Font typeface="Zilla Slab Light"/>
              <a:buNone/>
              <a:defRPr i="1" sz="1200">
                <a:latin typeface="Zilla Slab Light"/>
                <a:ea typeface="Zilla Slab Light"/>
                <a:cs typeface="Zilla Slab Light"/>
                <a:sym typeface="Zilla Slab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Font typeface="Zilla Slab Light"/>
              <a:buNone/>
              <a:defRPr i="1" sz="1200">
                <a:latin typeface="Zilla Slab Light"/>
                <a:ea typeface="Zilla Slab Light"/>
                <a:cs typeface="Zilla Slab Light"/>
                <a:sym typeface="Zilla Slab Ligh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 txBox="1"/>
          <p:nvPr>
            <p:ph type="title"/>
          </p:nvPr>
        </p:nvSpPr>
        <p:spPr>
          <a:xfrm>
            <a:off x="311700" y="22860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3" name="Google Shape;23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5" name="Google Shape;25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6" name="Google Shape;26;p5"/>
          <p:cNvSpPr txBox="1"/>
          <p:nvPr>
            <p:ph idx="3" type="subTitle"/>
          </p:nvPr>
        </p:nvSpPr>
        <p:spPr>
          <a:xfrm>
            <a:off x="65825" y="4866125"/>
            <a:ext cx="2358000" cy="19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Zilla Slab Light"/>
              <a:buNone/>
              <a:defRPr i="1" sz="1000">
                <a:latin typeface="Zilla Slab Light"/>
                <a:ea typeface="Zilla Slab Light"/>
                <a:cs typeface="Zilla Slab Light"/>
                <a:sym typeface="Zilla Slab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 txBox="1"/>
          <p:nvPr>
            <p:ph type="title"/>
          </p:nvPr>
        </p:nvSpPr>
        <p:spPr>
          <a:xfrm>
            <a:off x="311700" y="22860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0" name="Google Shape;30;p6"/>
          <p:cNvSpPr txBox="1"/>
          <p:nvPr>
            <p:ph idx="1" type="subTitle"/>
          </p:nvPr>
        </p:nvSpPr>
        <p:spPr>
          <a:xfrm>
            <a:off x="65825" y="4866125"/>
            <a:ext cx="2358000" cy="19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Zilla Slab Light"/>
              <a:buNone/>
              <a:defRPr i="1" sz="1000">
                <a:latin typeface="Zilla Slab Light"/>
                <a:ea typeface="Zilla Slab Light"/>
                <a:cs typeface="Zilla Slab Light"/>
                <a:sym typeface="Zilla Slab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7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3" name="Google Shape;33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8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" name="Google Shape;36;p8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7" name="Google Shape;37;p8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8" name="Google Shape;38;p8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9" name="Google Shape;39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9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2" name="Google Shape;42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6" name="Google Shape;46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2"/>
          <p:cNvSpPr txBox="1"/>
          <p:nvPr>
            <p:ph type="title"/>
          </p:nvPr>
        </p:nvSpPr>
        <p:spPr>
          <a:xfrm>
            <a:off x="457200" y="228600"/>
            <a:ext cx="8229600" cy="55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51" name="Google Shape;51;p12"/>
          <p:cNvSpPr txBox="1"/>
          <p:nvPr>
            <p:ph idx="1" type="body"/>
          </p:nvPr>
        </p:nvSpPr>
        <p:spPr>
          <a:xfrm>
            <a:off x="457200" y="1200150"/>
            <a:ext cx="8229600" cy="33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1pPr>
            <a:lvl2pPr indent="-342900" lvl="1" marL="91440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2pPr>
            <a:lvl3pPr indent="-342900" lvl="2" marL="137160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3pPr>
            <a:lvl4pPr indent="-342900" lvl="3" marL="182880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4pPr>
            <a:lvl5pPr indent="-342900" lvl="4" marL="228600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5pPr>
            <a:lvl6pPr indent="-342900" lvl="5" marL="274320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6pPr>
            <a:lvl7pPr indent="-342900" lvl="6" marL="320040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7pPr>
            <a:lvl8pPr indent="-342900" lvl="7" marL="365760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8pPr>
            <a:lvl9pPr indent="-342900" lvl="8" marL="411480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800"/>
              <a:buChar char="■"/>
              <a:defRPr/>
            </a:lvl9pPr>
          </a:lstStyle>
          <a:p/>
        </p:txBody>
      </p:sp>
      <p:sp>
        <p:nvSpPr>
          <p:cNvPr id="52" name="Google Shape;52;p12"/>
          <p:cNvSpPr txBox="1"/>
          <p:nvPr>
            <p:ph idx="10" type="dt"/>
          </p:nvPr>
        </p:nvSpPr>
        <p:spPr>
          <a:xfrm>
            <a:off x="457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2"/>
          <p:cNvSpPr txBox="1"/>
          <p:nvPr>
            <p:ph idx="11" type="ftr"/>
          </p:nvPr>
        </p:nvSpPr>
        <p:spPr>
          <a:xfrm>
            <a:off x="3124200" y="4767263"/>
            <a:ext cx="2895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2">
  <p:cSld name="TITLE_AND_BODY_2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3"/>
          <p:cNvSpPr txBox="1"/>
          <p:nvPr>
            <p:ph type="title"/>
          </p:nvPr>
        </p:nvSpPr>
        <p:spPr>
          <a:xfrm>
            <a:off x="311700" y="23145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08350" lIns="108350" spcFirstLastPara="1" rIns="108350" wrap="square" tIns="10835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683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Outfit"/>
              <a:buChar char="●"/>
              <a:defRPr b="0" i="0" sz="2200" u="none" cap="none" strike="noStrike">
                <a:latin typeface="Outfit"/>
                <a:ea typeface="Outfit"/>
                <a:cs typeface="Outfit"/>
                <a:sym typeface="Outfit"/>
              </a:defRPr>
            </a:lvl1pPr>
            <a:lvl2pPr indent="-368300" lvl="1" marL="914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Outfit"/>
              <a:buChar char="○"/>
              <a:defRPr b="0" i="0" sz="2200" u="none" cap="none" strike="noStrike">
                <a:latin typeface="Outfit"/>
                <a:ea typeface="Outfit"/>
                <a:cs typeface="Outfit"/>
                <a:sym typeface="Outfit"/>
              </a:defRPr>
            </a:lvl2pPr>
            <a:lvl3pPr indent="-368300" lvl="2" marL="13716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Outfit"/>
              <a:buChar char="■"/>
              <a:defRPr b="0" i="0" sz="2200" u="none" cap="none" strike="noStrike">
                <a:latin typeface="Outfit"/>
                <a:ea typeface="Outfit"/>
                <a:cs typeface="Outfit"/>
                <a:sym typeface="Outfit"/>
              </a:defRPr>
            </a:lvl3pPr>
            <a:lvl4pPr indent="-368300" lvl="3" marL="18288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Outfit"/>
              <a:buChar char="●"/>
              <a:defRPr b="0" i="0" sz="2200" u="none" cap="none" strike="noStrike">
                <a:latin typeface="Outfit"/>
                <a:ea typeface="Outfit"/>
                <a:cs typeface="Outfit"/>
                <a:sym typeface="Outfit"/>
              </a:defRPr>
            </a:lvl4pPr>
            <a:lvl5pPr indent="-368300" lvl="4" marL="22860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Outfit"/>
              <a:buChar char="○"/>
              <a:defRPr b="0" i="0" sz="2200" u="none" cap="none" strike="noStrike">
                <a:latin typeface="Outfit"/>
                <a:ea typeface="Outfit"/>
                <a:cs typeface="Outfit"/>
                <a:sym typeface="Outfit"/>
              </a:defRPr>
            </a:lvl5pPr>
            <a:lvl6pPr indent="-368300" lvl="5" marL="2743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Outfit"/>
              <a:buChar char="■"/>
              <a:defRPr b="0" i="0" sz="2200" u="none" cap="none" strike="noStrike">
                <a:latin typeface="Outfit"/>
                <a:ea typeface="Outfit"/>
                <a:cs typeface="Outfit"/>
                <a:sym typeface="Outfit"/>
              </a:defRPr>
            </a:lvl6pPr>
            <a:lvl7pPr indent="-368300" lvl="6" marL="3200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Outfit"/>
              <a:buChar char="●"/>
              <a:defRPr b="0" i="0" sz="2200" u="none" cap="none" strike="noStrike">
                <a:latin typeface="Outfit"/>
                <a:ea typeface="Outfit"/>
                <a:cs typeface="Outfit"/>
                <a:sym typeface="Outfit"/>
              </a:defRPr>
            </a:lvl7pPr>
            <a:lvl8pPr indent="-368300" lvl="7" marL="36576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Outfit"/>
              <a:buChar char="○"/>
              <a:defRPr b="0" i="0" sz="2200" u="none" cap="none" strike="noStrike">
                <a:latin typeface="Outfit"/>
                <a:ea typeface="Outfit"/>
                <a:cs typeface="Outfit"/>
                <a:sym typeface="Outfit"/>
              </a:defRPr>
            </a:lvl8pPr>
            <a:lvl9pPr indent="-368300" lvl="8" marL="41148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Outfit"/>
              <a:buChar char="■"/>
              <a:defRPr b="0" i="0" sz="2200" u="none" cap="none" strike="noStrike">
                <a:latin typeface="Outfit"/>
                <a:ea typeface="Outfit"/>
                <a:cs typeface="Outfit"/>
                <a:sym typeface="Outfit"/>
              </a:defRPr>
            </a:lvl9pPr>
          </a:lstStyle>
          <a:p/>
        </p:txBody>
      </p:sp>
      <p:sp>
        <p:nvSpPr>
          <p:cNvPr id="58" name="Google Shape;58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_1">
    <p:bg>
      <p:bgPr>
        <a:solidFill>
          <a:srgbClr val="0F172A"/>
        </a:solidFill>
      </p:bgPr>
    </p:bg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/>
          <p:nvPr/>
        </p:nvSpPr>
        <p:spPr>
          <a:xfrm>
            <a:off x="0" y="4962822"/>
            <a:ext cx="9144000" cy="639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" name="Google Shape;61;p1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">
  <p:cSld name="CONTENT">
    <p:bg>
      <p:bgPr>
        <a:solidFill>
          <a:srgbClr val="FFFFFF"/>
        </a:solid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5"/>
          <p:cNvSpPr/>
          <p:nvPr/>
        </p:nvSpPr>
        <p:spPr>
          <a:xfrm>
            <a:off x="0" y="0"/>
            <a:ext cx="54900" cy="514350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" name="Google Shape;64;p15"/>
          <p:cNvSpPr txBox="1"/>
          <p:nvPr>
            <p:ph type="title"/>
          </p:nvPr>
        </p:nvSpPr>
        <p:spPr>
          <a:xfrm>
            <a:off x="548640" y="228600"/>
            <a:ext cx="8046600" cy="59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marR="0" algn="ctr">
              <a:spcBef>
                <a:spcPts val="0"/>
              </a:spcBef>
              <a:spcAft>
                <a:spcPts val="0"/>
              </a:spcAft>
              <a:buClr>
                <a:srgbClr val="4F46E5"/>
              </a:buClr>
              <a:buSzPts val="2800"/>
              <a:buNone/>
              <a:defRPr b="0" i="0" u="none" cap="none" strike="noStrike">
                <a:solidFill>
                  <a:srgbClr val="4F46E5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548640" y="1005840"/>
            <a:ext cx="8046600" cy="3794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marR="0" algn="l">
              <a:spcBef>
                <a:spcPts val="640"/>
              </a:spcBef>
              <a:spcAft>
                <a:spcPts val="0"/>
              </a:spcAft>
              <a:buSzPts val="2200"/>
              <a:buNone/>
              <a:defRPr i="0" sz="2200" u="none" cap="none" strike="noStrike"/>
            </a:lvl1pPr>
            <a:lvl2pPr indent="-368300" lvl="1" marL="914400" marR="0" algn="l">
              <a:spcBef>
                <a:spcPts val="1200"/>
              </a:spcBef>
              <a:spcAft>
                <a:spcPts val="0"/>
              </a:spcAft>
              <a:buSzPts val="2200"/>
              <a:buChar char="–"/>
              <a:defRPr i="0" sz="2200" u="none" cap="none" strike="noStrike"/>
            </a:lvl2pPr>
            <a:lvl3pPr indent="-368300" lvl="2" marL="1371600" marR="0" algn="l">
              <a:spcBef>
                <a:spcPts val="1200"/>
              </a:spcBef>
              <a:spcAft>
                <a:spcPts val="0"/>
              </a:spcAft>
              <a:buSzPts val="2200"/>
              <a:buChar char="•"/>
              <a:defRPr i="0" sz="2200" u="none" cap="none" strike="noStrike"/>
            </a:lvl3pPr>
            <a:lvl4pPr indent="-368300" lvl="3" marL="1828800" marR="0" algn="l">
              <a:spcBef>
                <a:spcPts val="1200"/>
              </a:spcBef>
              <a:spcAft>
                <a:spcPts val="0"/>
              </a:spcAft>
              <a:buSzPts val="2200"/>
              <a:buChar char="–"/>
              <a:defRPr i="0" sz="2200" u="none" cap="none" strike="noStrike"/>
            </a:lvl4pPr>
            <a:lvl5pPr indent="-368300" lvl="4" marL="2286000" marR="0" algn="l">
              <a:spcBef>
                <a:spcPts val="1200"/>
              </a:spcBef>
              <a:spcAft>
                <a:spcPts val="0"/>
              </a:spcAft>
              <a:buSzPts val="2200"/>
              <a:buChar char="»"/>
              <a:defRPr i="0" sz="2200" u="none" cap="none" strike="noStrike"/>
            </a:lvl5pPr>
            <a:lvl6pPr indent="-368300" lvl="5" marL="2743200" marR="0" algn="l">
              <a:spcBef>
                <a:spcPts val="1200"/>
              </a:spcBef>
              <a:spcAft>
                <a:spcPts val="0"/>
              </a:spcAft>
              <a:buSzPts val="2200"/>
              <a:buChar char="•"/>
              <a:defRPr i="0" sz="2200" u="none" cap="none" strike="noStrike"/>
            </a:lvl6pPr>
            <a:lvl7pPr indent="-368300" lvl="6" marL="3200400" marR="0" algn="l">
              <a:spcBef>
                <a:spcPts val="1200"/>
              </a:spcBef>
              <a:spcAft>
                <a:spcPts val="0"/>
              </a:spcAft>
              <a:buSzPts val="2200"/>
              <a:buChar char="•"/>
              <a:defRPr i="0" sz="2200" u="none" cap="none" strike="noStrike"/>
            </a:lvl7pPr>
            <a:lvl8pPr indent="-368300" lvl="7" marL="3657600" marR="0" algn="l">
              <a:spcBef>
                <a:spcPts val="1200"/>
              </a:spcBef>
              <a:spcAft>
                <a:spcPts val="0"/>
              </a:spcAft>
              <a:buSzPts val="2200"/>
              <a:buChar char="•"/>
              <a:defRPr i="0" sz="2200" u="none" cap="none" strike="noStrike"/>
            </a:lvl8pPr>
            <a:lvl9pPr indent="-368300" lvl="8" marL="4114800" marR="0" algn="l">
              <a:spcBef>
                <a:spcPts val="1200"/>
              </a:spcBef>
              <a:spcAft>
                <a:spcPts val="1200"/>
              </a:spcAft>
              <a:buSzPts val="2200"/>
              <a:buChar char="•"/>
              <a:defRPr i="0" sz="2200" u="none" cap="none" strike="noStrike"/>
            </a:lvl9pPr>
          </a:lstStyle>
          <a:p/>
        </p:txBody>
      </p:sp>
      <p:sp>
        <p:nvSpPr>
          <p:cNvPr id="66" name="Google Shape;66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">
  <p:cSld name="SECTION">
    <p:bg>
      <p:bgPr>
        <a:solidFill>
          <a:srgbClr val="0F172A"/>
        </a:solidFill>
      </p:bgPr>
    </p:bg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6"/>
          <p:cNvSpPr/>
          <p:nvPr/>
        </p:nvSpPr>
        <p:spPr>
          <a:xfrm>
            <a:off x="548640" y="1874520"/>
            <a:ext cx="54900" cy="13716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" name="Google Shape;69;p16"/>
          <p:cNvSpPr txBox="1"/>
          <p:nvPr>
            <p:ph type="title"/>
          </p:nvPr>
        </p:nvSpPr>
        <p:spPr>
          <a:xfrm>
            <a:off x="914400" y="1737360"/>
            <a:ext cx="76809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marR="0" algn="ctr">
              <a:spcBef>
                <a:spcPts val="0"/>
              </a:spcBef>
              <a:spcAft>
                <a:spcPts val="0"/>
              </a:spcAft>
              <a:buClr>
                <a:srgbClr val="4F46E5"/>
              </a:buClr>
              <a:buSzPts val="4400"/>
              <a:buNone/>
              <a:defRPr b="0" i="0" sz="4400" u="none" cap="none" strike="noStrike">
                <a:solidFill>
                  <a:srgbClr val="4F46E5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utfit"/>
              <a:buNone/>
              <a:defRPr sz="1800">
                <a:solidFill>
                  <a:schemeClr val="lt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utfit"/>
              <a:buNone/>
              <a:defRPr sz="1800">
                <a:solidFill>
                  <a:schemeClr val="lt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utfit"/>
              <a:buNone/>
              <a:defRPr sz="1800">
                <a:solidFill>
                  <a:schemeClr val="lt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utfit"/>
              <a:buNone/>
              <a:defRPr sz="1800">
                <a:solidFill>
                  <a:schemeClr val="lt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utfit"/>
              <a:buNone/>
              <a:defRPr sz="1800">
                <a:solidFill>
                  <a:schemeClr val="lt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utfit"/>
              <a:buNone/>
              <a:defRPr sz="1800">
                <a:solidFill>
                  <a:schemeClr val="lt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utfit"/>
              <a:buNone/>
              <a:defRPr sz="1800">
                <a:solidFill>
                  <a:schemeClr val="lt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utfit"/>
              <a:buNone/>
              <a:defRPr sz="1800">
                <a:solidFill>
                  <a:schemeClr val="lt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/>
        </p:txBody>
      </p:sp>
      <p:sp>
        <p:nvSpPr>
          <p:cNvPr id="70" name="Google Shape;70;p16"/>
          <p:cNvSpPr txBox="1"/>
          <p:nvPr>
            <p:ph idx="1" type="body"/>
          </p:nvPr>
        </p:nvSpPr>
        <p:spPr>
          <a:xfrm>
            <a:off x="914400" y="2743200"/>
            <a:ext cx="7680900" cy="1097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i="0" sz="2200" u="none" cap="none" strike="noStrike">
                <a:solidFill>
                  <a:schemeClr val="lt1"/>
                </a:solidFill>
              </a:defRPr>
            </a:lvl1pPr>
            <a:lvl2pPr indent="-368300" lvl="1" marL="914400" marR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2200"/>
              <a:buChar char="–"/>
              <a:defRPr i="0" sz="2200" u="none" cap="none" strike="noStrike">
                <a:solidFill>
                  <a:schemeClr val="lt1"/>
                </a:solidFill>
              </a:defRPr>
            </a:lvl2pPr>
            <a:lvl3pPr indent="-368300" lvl="2" marL="1371600" marR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2200"/>
              <a:buChar char="•"/>
              <a:defRPr i="0" sz="2200" u="none" cap="none" strike="noStrike">
                <a:solidFill>
                  <a:schemeClr val="lt1"/>
                </a:solidFill>
              </a:defRPr>
            </a:lvl3pPr>
            <a:lvl4pPr indent="-368300" lvl="3" marL="1828800" marR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2200"/>
              <a:buChar char="–"/>
              <a:defRPr i="0" sz="2200" u="none" cap="none" strike="noStrike">
                <a:solidFill>
                  <a:schemeClr val="lt1"/>
                </a:solidFill>
              </a:defRPr>
            </a:lvl4pPr>
            <a:lvl5pPr indent="-368300" lvl="4" marL="2286000" marR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2200"/>
              <a:buChar char="»"/>
              <a:defRPr i="0" sz="2200" u="none" cap="none" strike="noStrike">
                <a:solidFill>
                  <a:schemeClr val="lt1"/>
                </a:solidFill>
              </a:defRPr>
            </a:lvl5pPr>
            <a:lvl6pPr indent="-368300" lvl="5" marL="2743200" marR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2200"/>
              <a:buChar char="•"/>
              <a:defRPr i="0" sz="2200" u="none" cap="none" strike="noStrike">
                <a:solidFill>
                  <a:schemeClr val="lt1"/>
                </a:solidFill>
              </a:defRPr>
            </a:lvl6pPr>
            <a:lvl7pPr indent="-368300" lvl="6" marL="3200400" marR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2200"/>
              <a:buChar char="•"/>
              <a:defRPr i="0" sz="2200" u="none" cap="none" strike="noStrike">
                <a:solidFill>
                  <a:schemeClr val="lt1"/>
                </a:solidFill>
              </a:defRPr>
            </a:lvl7pPr>
            <a:lvl8pPr indent="-368300" lvl="7" marL="3657600" marR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2200"/>
              <a:buChar char="•"/>
              <a:defRPr i="0" sz="2200" u="none" cap="none" strike="noStrike">
                <a:solidFill>
                  <a:schemeClr val="lt1"/>
                </a:solidFill>
              </a:defRPr>
            </a:lvl8pPr>
            <a:lvl9pPr indent="-368300" lvl="8" marL="4114800" marR="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Clr>
                <a:schemeClr val="lt1"/>
              </a:buClr>
              <a:buSzPts val="2200"/>
              <a:buChar char="•"/>
              <a:defRPr i="0" sz="2200" u="none" cap="none" strike="noStrike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1" name="Google Shape;71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ESTION">
  <p:cSld name="QUESTION">
    <p:bg>
      <p:bgPr>
        <a:solidFill>
          <a:srgbClr val="0F172A"/>
        </a:solidFill>
      </p:bgPr>
    </p:bg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7"/>
          <p:cNvSpPr txBox="1"/>
          <p:nvPr>
            <p:ph idx="1" type="body"/>
          </p:nvPr>
        </p:nvSpPr>
        <p:spPr>
          <a:xfrm>
            <a:off x="914400" y="1508760"/>
            <a:ext cx="7315200" cy="2377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i="0" sz="3200" u="none" cap="none" strike="noStrike">
                <a:solidFill>
                  <a:schemeClr val="lt1"/>
                </a:solidFill>
              </a:defRPr>
            </a:lvl1pPr>
            <a:lvl2pPr indent="-406400" lvl="1" marL="914400" marR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2800"/>
              <a:buChar char="–"/>
              <a:defRPr i="0" sz="2800" u="none" cap="none" strike="noStrike">
                <a:solidFill>
                  <a:schemeClr val="lt1"/>
                </a:solidFill>
              </a:defRPr>
            </a:lvl2pPr>
            <a:lvl3pPr indent="-381000" lvl="2" marL="1371600" marR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i="0" sz="2400" u="none" cap="none" strike="noStrike">
                <a:solidFill>
                  <a:schemeClr val="lt1"/>
                </a:solidFill>
              </a:defRPr>
            </a:lvl3pPr>
            <a:lvl4pPr indent="-355600" lvl="3" marL="1828800" marR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2000"/>
              <a:buChar char="–"/>
              <a:defRPr i="0" sz="2000" u="none" cap="none" strike="noStrike">
                <a:solidFill>
                  <a:schemeClr val="lt1"/>
                </a:solidFill>
              </a:defRPr>
            </a:lvl4pPr>
            <a:lvl5pPr indent="-355600" lvl="4" marL="2286000" marR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2000"/>
              <a:buChar char="»"/>
              <a:defRPr i="0" sz="2000" u="none" cap="none" strike="noStrike">
                <a:solidFill>
                  <a:schemeClr val="lt1"/>
                </a:solidFill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2000"/>
              <a:buChar char="•"/>
              <a:defRPr i="0" sz="2000" u="none" cap="none" strike="noStrike">
                <a:solidFill>
                  <a:schemeClr val="lt1"/>
                </a:solidFill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2000"/>
              <a:buChar char="•"/>
              <a:defRPr i="0" sz="2000" u="none" cap="none" strike="noStrike">
                <a:solidFill>
                  <a:schemeClr val="lt1"/>
                </a:solidFill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2000"/>
              <a:buChar char="•"/>
              <a:defRPr i="0" sz="2000" u="none" cap="none" strike="noStrike">
                <a:solidFill>
                  <a:schemeClr val="lt1"/>
                </a:solidFill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Clr>
                <a:schemeClr val="lt1"/>
              </a:buClr>
              <a:buSzPts val="2000"/>
              <a:buChar char="•"/>
              <a:defRPr i="0" sz="2000" u="none" cap="none" strike="noStrike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4" name="Google Shape;74;p17"/>
          <p:cNvSpPr txBox="1"/>
          <p:nvPr>
            <p:ph idx="2" type="body"/>
          </p:nvPr>
        </p:nvSpPr>
        <p:spPr>
          <a:xfrm>
            <a:off x="914400" y="3977640"/>
            <a:ext cx="7315200" cy="82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marR="0" algn="l">
              <a:spcBef>
                <a:spcPts val="64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i="0" sz="2200" u="none" cap="none" strike="noStrike">
                <a:solidFill>
                  <a:schemeClr val="lt1"/>
                </a:solidFill>
              </a:defRPr>
            </a:lvl1pPr>
            <a:lvl2pPr indent="-368300" lvl="1" marL="914400" marR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2200"/>
              <a:buChar char="–"/>
              <a:defRPr i="0" sz="2200" u="none" cap="none" strike="noStrike">
                <a:solidFill>
                  <a:schemeClr val="lt1"/>
                </a:solidFill>
              </a:defRPr>
            </a:lvl2pPr>
            <a:lvl3pPr indent="-368300" lvl="2" marL="1371600" marR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2200"/>
              <a:buChar char="•"/>
              <a:defRPr i="0" sz="2200" u="none" cap="none" strike="noStrike">
                <a:solidFill>
                  <a:schemeClr val="lt1"/>
                </a:solidFill>
              </a:defRPr>
            </a:lvl3pPr>
            <a:lvl4pPr indent="-368300" lvl="3" marL="1828800" marR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2200"/>
              <a:buChar char="–"/>
              <a:defRPr i="0" sz="2200" u="none" cap="none" strike="noStrike">
                <a:solidFill>
                  <a:schemeClr val="lt1"/>
                </a:solidFill>
              </a:defRPr>
            </a:lvl4pPr>
            <a:lvl5pPr indent="-368300" lvl="4" marL="2286000" marR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2200"/>
              <a:buChar char="»"/>
              <a:defRPr i="0" sz="2200" u="none" cap="none" strike="noStrike">
                <a:solidFill>
                  <a:schemeClr val="lt1"/>
                </a:solidFill>
              </a:defRPr>
            </a:lvl5pPr>
            <a:lvl6pPr indent="-368300" lvl="5" marL="2743200" marR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2200"/>
              <a:buChar char="•"/>
              <a:defRPr i="0" sz="2200" u="none" cap="none" strike="noStrike">
                <a:solidFill>
                  <a:schemeClr val="lt1"/>
                </a:solidFill>
              </a:defRPr>
            </a:lvl6pPr>
            <a:lvl7pPr indent="-368300" lvl="6" marL="3200400" marR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2200"/>
              <a:buChar char="•"/>
              <a:defRPr i="0" sz="2200" u="none" cap="none" strike="noStrike">
                <a:solidFill>
                  <a:schemeClr val="lt1"/>
                </a:solidFill>
              </a:defRPr>
            </a:lvl7pPr>
            <a:lvl8pPr indent="-368300" lvl="7" marL="3657600" marR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2200"/>
              <a:buChar char="•"/>
              <a:defRPr i="0" sz="2200" u="none" cap="none" strike="noStrike">
                <a:solidFill>
                  <a:schemeClr val="lt1"/>
                </a:solidFill>
              </a:defRPr>
            </a:lvl8pPr>
            <a:lvl9pPr indent="-368300" lvl="8" marL="4114800" marR="0" algn="l">
              <a:spcBef>
                <a:spcPts val="1200"/>
              </a:spcBef>
              <a:spcAft>
                <a:spcPts val="1200"/>
              </a:spcAft>
              <a:buClr>
                <a:schemeClr val="lt1"/>
              </a:buClr>
              <a:buSzPts val="2200"/>
              <a:buChar char="•"/>
              <a:defRPr i="0" sz="2200" u="none" cap="none" strike="noStrike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5" name="Google Shape;75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1">
  <p:cSld name="TITLE_AND_BODY_3"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76175" lIns="76175" spcFirstLastPara="1" rIns="76175" wrap="square" tIns="761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78" name="Google Shape;78;p1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4275" lIns="64275" spcFirstLastPara="1" rIns="64275" wrap="square" tIns="64275">
            <a:noAutofit/>
          </a:bodyPr>
          <a:lstStyle>
            <a:lvl1pPr indent="-3683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2200"/>
              <a:buChar char="●"/>
              <a:defRPr i="0" sz="2200" u="none" cap="none" strike="noStrike">
                <a:solidFill>
                  <a:srgbClr val="334155"/>
                </a:solidFill>
              </a:defRPr>
            </a:lvl1pPr>
            <a:lvl2pPr indent="-368300" lvl="1" marL="914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2200"/>
              <a:buChar char="○"/>
              <a:defRPr i="0" sz="2200" u="none" cap="none" strike="noStrike">
                <a:solidFill>
                  <a:srgbClr val="334155"/>
                </a:solidFill>
              </a:defRPr>
            </a:lvl2pPr>
            <a:lvl3pPr indent="-368300" lvl="2" marL="13716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2200"/>
              <a:buChar char="■"/>
              <a:defRPr i="0" sz="2200" u="none" cap="none" strike="noStrike">
                <a:solidFill>
                  <a:srgbClr val="334155"/>
                </a:solidFill>
              </a:defRPr>
            </a:lvl3pPr>
            <a:lvl4pPr indent="-368300" lvl="3" marL="18288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2200"/>
              <a:buChar char="●"/>
              <a:defRPr i="0" sz="2200" u="none" cap="none" strike="noStrike">
                <a:solidFill>
                  <a:srgbClr val="334155"/>
                </a:solidFill>
              </a:defRPr>
            </a:lvl4pPr>
            <a:lvl5pPr indent="-368300" lvl="4" marL="22860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2200"/>
              <a:buChar char="○"/>
              <a:defRPr i="0" sz="2200" u="none" cap="none" strike="noStrike">
                <a:solidFill>
                  <a:srgbClr val="334155"/>
                </a:solidFill>
              </a:defRPr>
            </a:lvl5pPr>
            <a:lvl6pPr indent="-368300" lvl="5" marL="2743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2200"/>
              <a:buChar char="■"/>
              <a:defRPr i="0" sz="2200" u="none" cap="none" strike="noStrike">
                <a:solidFill>
                  <a:srgbClr val="334155"/>
                </a:solidFill>
              </a:defRPr>
            </a:lvl6pPr>
            <a:lvl7pPr indent="-368300" lvl="6" marL="3200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2200"/>
              <a:buChar char="●"/>
              <a:defRPr i="0" sz="2200" u="none" cap="none" strike="noStrike">
                <a:solidFill>
                  <a:srgbClr val="334155"/>
                </a:solidFill>
              </a:defRPr>
            </a:lvl7pPr>
            <a:lvl8pPr indent="-368300" lvl="7" marL="36576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2200"/>
              <a:buChar char="○"/>
              <a:defRPr i="0" sz="2200" u="none" cap="none" strike="noStrike">
                <a:solidFill>
                  <a:srgbClr val="334155"/>
                </a:solidFill>
              </a:defRPr>
            </a:lvl8pPr>
            <a:lvl9pPr indent="-368300" lvl="8" marL="41148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2200"/>
              <a:buChar char="■"/>
              <a:defRPr i="0" sz="2200" u="none" cap="none" strike="noStrike">
                <a:solidFill>
                  <a:srgbClr val="334155"/>
                </a:solidFill>
              </a:defRPr>
            </a:lvl9pPr>
          </a:lstStyle>
          <a:p/>
        </p:txBody>
      </p:sp>
      <p:sp>
        <p:nvSpPr>
          <p:cNvPr id="79" name="Google Shape;79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 1 2">
  <p:cSld name="CUSTOM_2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 1 1">
  <p:cSld name="CUSTOM_1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21" Type="http://schemas.openxmlformats.org/officeDocument/2006/relationships/theme" Target="../theme/theme1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4F46E5"/>
              </a:buClr>
              <a:buSzPts val="2800"/>
              <a:buFont typeface="Outfit"/>
              <a:buNone/>
              <a:defRPr b="1" sz="2800">
                <a:solidFill>
                  <a:srgbClr val="4F46E5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800"/>
              <a:buFont typeface="Outfit"/>
              <a:buChar char="●"/>
              <a:defRPr sz="1800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400"/>
              <a:buFont typeface="Outfit"/>
              <a:buChar char="○"/>
              <a:defRPr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400"/>
              <a:buFont typeface="Outfit"/>
              <a:buChar char="■"/>
              <a:defRPr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400"/>
              <a:buFont typeface="Outfit"/>
              <a:buChar char="●"/>
              <a:defRPr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400"/>
              <a:buFont typeface="Outfit"/>
              <a:buChar char="○"/>
              <a:defRPr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400"/>
              <a:buFont typeface="Outfit"/>
              <a:buChar char="■"/>
              <a:defRPr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400"/>
              <a:buFont typeface="Outfit"/>
              <a:buChar char="●"/>
              <a:defRPr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400"/>
              <a:buFont typeface="Outfit"/>
              <a:buChar char="○"/>
              <a:defRPr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400"/>
              <a:buFont typeface="Outfit"/>
              <a:buChar char="■"/>
              <a:defRPr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4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7.png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6.png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2"/>
          <p:cNvSpPr txBox="1"/>
          <p:nvPr>
            <p:ph idx="1" type="body"/>
          </p:nvPr>
        </p:nvSpPr>
        <p:spPr>
          <a:xfrm>
            <a:off x="0" y="32250"/>
            <a:ext cx="9144000" cy="3854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891B2"/>
              </a:buClr>
              <a:buSzPts val="1600"/>
              <a:buNone/>
            </a:pPr>
            <a:r>
              <a:rPr b="1" lang="en" sz="1600">
                <a:solidFill>
                  <a:srgbClr val="4F46E5"/>
                </a:solidFill>
                <a:latin typeface="Outfit"/>
                <a:ea typeface="Outfit"/>
                <a:cs typeface="Outfit"/>
                <a:sym typeface="Outfit"/>
              </a:rPr>
              <a:t>CPSY 1950</a:t>
            </a:r>
            <a:endParaRPr sz="1600">
              <a:solidFill>
                <a:srgbClr val="4F46E5"/>
              </a:solidFill>
              <a:latin typeface="Outfit"/>
              <a:ea typeface="Outfit"/>
              <a:cs typeface="Outfit"/>
              <a:sym typeface="Outfit"/>
            </a:endParaRPr>
          </a:p>
          <a:p>
            <a:pPr indent="0" lvl="0" marL="0" rtl="0" algn="ctr">
              <a:spcBef>
                <a:spcPts val="400"/>
              </a:spcBef>
              <a:spcAft>
                <a:spcPts val="0"/>
              </a:spcAft>
              <a:buClr>
                <a:srgbClr val="94A3B8"/>
              </a:buClr>
              <a:buSzPts val="2000"/>
              <a:buNone/>
            </a:pPr>
            <a:r>
              <a:rPr lang="en" sz="2000">
                <a:solidFill>
                  <a:srgbClr val="4F46E5"/>
                </a:solidFill>
                <a:latin typeface="Outfit"/>
                <a:ea typeface="Outfit"/>
                <a:cs typeface="Outfit"/>
                <a:sym typeface="Outfit"/>
              </a:rPr>
              <a:t>Deep Learning in Brains, Minds &amp; Machines</a:t>
            </a:r>
            <a:endParaRPr sz="1600">
              <a:solidFill>
                <a:srgbClr val="4F46E5"/>
              </a:solidFill>
              <a:latin typeface="Outfit"/>
              <a:ea typeface="Outfit"/>
              <a:cs typeface="Outfit"/>
              <a:sym typeface="Outfit"/>
            </a:endParaRPr>
          </a:p>
          <a:p>
            <a:pPr indent="0" lvl="0" marL="0" rtl="0" algn="ctr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t/>
            </a:r>
            <a:endParaRPr sz="1600">
              <a:latin typeface="Outfit"/>
              <a:ea typeface="Outfit"/>
              <a:cs typeface="Outfit"/>
              <a:sym typeface="Outfit"/>
            </a:endParaRPr>
          </a:p>
          <a:p>
            <a:pPr indent="0" lvl="0" marL="0" rtl="0" algn="ctr">
              <a:spcBef>
                <a:spcPts val="760"/>
              </a:spcBef>
              <a:spcAft>
                <a:spcPts val="1200"/>
              </a:spcAft>
              <a:buClr>
                <a:srgbClr val="FFFFFF"/>
              </a:buClr>
              <a:buSzPts val="3800"/>
              <a:buNone/>
            </a:pPr>
            <a:r>
              <a:rPr b="1" lang="en" sz="3800">
                <a:solidFill>
                  <a:srgbClr val="FFFFFF"/>
                </a:solidFill>
              </a:rPr>
              <a:t>Scaling, transfer &amp; emergence</a:t>
            </a:r>
            <a:endParaRPr b="1" sz="3800">
              <a:solidFill>
                <a:srgbClr val="FFFFFF"/>
              </a:solidFill>
            </a:endParaRPr>
          </a:p>
        </p:txBody>
      </p:sp>
      <p:sp>
        <p:nvSpPr>
          <p:cNvPr id="89" name="Google Shape;89;p22"/>
          <p:cNvSpPr txBox="1"/>
          <p:nvPr>
            <p:ph idx="2" type="body"/>
          </p:nvPr>
        </p:nvSpPr>
        <p:spPr>
          <a:xfrm>
            <a:off x="914400" y="3977640"/>
            <a:ext cx="7315200" cy="82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Clr>
                <a:srgbClr val="94A3B8"/>
              </a:buClr>
              <a:buSzPts val="1800"/>
              <a:buNone/>
            </a:pPr>
            <a:r>
              <a:rPr lang="en" sz="2000">
                <a:solidFill>
                  <a:srgbClr val="334155"/>
                </a:solidFill>
              </a:rPr>
              <a:t>What happens when you scale up the three levers?</a:t>
            </a:r>
            <a:endParaRPr sz="2000">
              <a:solidFill>
                <a:srgbClr val="334155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3"/>
          <p:cNvSpPr/>
          <p:nvPr/>
        </p:nvSpPr>
        <p:spPr>
          <a:xfrm>
            <a:off x="548640" y="274320"/>
            <a:ext cx="80466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46E5"/>
              </a:buClr>
              <a:buSzPts val="2400"/>
              <a:buFont typeface="Outfit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23"/>
          <p:cNvSpPr/>
          <p:nvPr/>
        </p:nvSpPr>
        <p:spPr>
          <a:xfrm>
            <a:off x="318945" y="1303663"/>
            <a:ext cx="1645800" cy="1645800"/>
          </a:xfrm>
          <a:prstGeom prst="rect">
            <a:avLst/>
          </a:prstGeom>
          <a:solidFill>
            <a:srgbClr val="F8FAFC"/>
          </a:solidFill>
          <a:ln cap="flat" cmpd="sng" w="12700">
            <a:solidFill>
              <a:srgbClr val="94A3B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23"/>
          <p:cNvSpPr/>
          <p:nvPr/>
        </p:nvSpPr>
        <p:spPr>
          <a:xfrm>
            <a:off x="318945" y="1349383"/>
            <a:ext cx="16458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400"/>
              <a:buFont typeface="Outfit"/>
              <a:buNone/>
            </a:pPr>
            <a:r>
              <a:rPr b="1" i="0" lang="en" sz="1400" u="none" cap="none" strike="noStrike">
                <a:solidFill>
                  <a:srgbClr val="94A3B8"/>
                </a:solidFill>
                <a:latin typeface="Outfit"/>
                <a:ea typeface="Outfit"/>
                <a:cs typeface="Outfit"/>
                <a:sym typeface="Outfit"/>
              </a:rPr>
              <a:t>W 1–2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23"/>
          <p:cNvSpPr/>
          <p:nvPr/>
        </p:nvSpPr>
        <p:spPr>
          <a:xfrm>
            <a:off x="410385" y="1760863"/>
            <a:ext cx="1463100" cy="1097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100"/>
              <a:buFont typeface="Outfit"/>
              <a:buNone/>
            </a:pPr>
            <a:r>
              <a:rPr b="0" i="0" lang="en" sz="1100" u="none" cap="none" strike="noStrike">
                <a:solidFill>
                  <a:srgbClr val="94A3B8"/>
                </a:solidFill>
                <a:latin typeface="Outfit"/>
                <a:ea typeface="Outfit"/>
                <a:cs typeface="Outfit"/>
                <a:sym typeface="Outfit"/>
              </a:rPr>
              <a:t>What is NeuroAI?</a:t>
            </a:r>
            <a:endParaRPr b="0" i="0" sz="1100" u="none" cap="none" strike="noStrike">
              <a:solidFill>
                <a:srgbClr val="94A3B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23"/>
          <p:cNvSpPr/>
          <p:nvPr/>
        </p:nvSpPr>
        <p:spPr>
          <a:xfrm>
            <a:off x="2056616" y="1897963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2200"/>
              <a:buFont typeface="Outfit"/>
              <a:buNone/>
            </a:pPr>
            <a:r>
              <a:rPr i="0" lang="en" sz="2200" u="none" cap="none" strike="noStrike">
                <a:solidFill>
                  <a:srgbClr val="94A3B8"/>
                </a:solidFill>
                <a:latin typeface="Outfit"/>
                <a:ea typeface="Outfit"/>
                <a:cs typeface="Outfit"/>
                <a:sym typeface="Outfit"/>
              </a:rPr>
              <a:t>→</a:t>
            </a:r>
            <a:endParaRPr i="0" sz="2200" u="none" cap="none" strike="noStrike">
              <a:solidFill>
                <a:schemeClr val="dk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100" name="Google Shape;100;p23"/>
          <p:cNvSpPr/>
          <p:nvPr/>
        </p:nvSpPr>
        <p:spPr>
          <a:xfrm>
            <a:off x="2605687" y="1303663"/>
            <a:ext cx="1645800" cy="1645800"/>
          </a:xfrm>
          <a:prstGeom prst="rect">
            <a:avLst/>
          </a:prstGeom>
          <a:solidFill>
            <a:srgbClr val="F8FAFC"/>
          </a:solidFill>
          <a:ln cap="flat" cmpd="sng" w="12700">
            <a:solidFill>
              <a:srgbClr val="94A3B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" name="Google Shape;101;p23"/>
          <p:cNvSpPr/>
          <p:nvPr/>
        </p:nvSpPr>
        <p:spPr>
          <a:xfrm>
            <a:off x="2605687" y="1349383"/>
            <a:ext cx="16458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400"/>
              <a:buFont typeface="Outfit"/>
              <a:buNone/>
            </a:pPr>
            <a:r>
              <a:rPr b="1" i="0" lang="en" sz="1400" u="none" cap="none" strike="noStrike">
                <a:solidFill>
                  <a:srgbClr val="94A3B8"/>
                </a:solidFill>
                <a:latin typeface="Outfit"/>
                <a:ea typeface="Outfit"/>
                <a:cs typeface="Outfit"/>
                <a:sym typeface="Outfit"/>
              </a:rPr>
              <a:t>W 3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23"/>
          <p:cNvSpPr/>
          <p:nvPr/>
        </p:nvSpPr>
        <p:spPr>
          <a:xfrm>
            <a:off x="2697127" y="1760863"/>
            <a:ext cx="1463100" cy="1097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100"/>
              <a:buFont typeface="Outfit"/>
              <a:buNone/>
            </a:pPr>
            <a:r>
              <a:rPr b="0" i="0" lang="en" sz="1100" u="none" cap="none" strike="noStrike">
                <a:solidFill>
                  <a:srgbClr val="94A3B8"/>
                </a:solidFill>
                <a:latin typeface="Outfit"/>
                <a:ea typeface="Outfit"/>
                <a:cs typeface="Outfit"/>
                <a:sym typeface="Outfit"/>
              </a:rPr>
              <a:t>Three levers:</a:t>
            </a:r>
            <a:endParaRPr b="0" i="0" sz="1100" u="none" cap="none" strike="noStrike">
              <a:solidFill>
                <a:srgbClr val="94A3B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100"/>
              <a:buFont typeface="Outfit"/>
              <a:buNone/>
            </a:pPr>
            <a:r>
              <a:rPr b="0" i="0" lang="en" sz="1100" u="none" cap="none" strike="noStrike">
                <a:solidFill>
                  <a:srgbClr val="94A3B8"/>
                </a:solidFill>
                <a:latin typeface="Outfit"/>
                <a:ea typeface="Outfit"/>
                <a:cs typeface="Outfit"/>
                <a:sym typeface="Outfit"/>
              </a:rPr>
              <a:t>architecture · objective · data</a:t>
            </a:r>
            <a:endParaRPr b="0" i="0" sz="1100" u="none" cap="none" strike="noStrike">
              <a:solidFill>
                <a:srgbClr val="94A3B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23"/>
          <p:cNvSpPr/>
          <p:nvPr/>
        </p:nvSpPr>
        <p:spPr>
          <a:xfrm>
            <a:off x="4343358" y="1897963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2200"/>
              <a:buFont typeface="Outfit"/>
              <a:buNone/>
            </a:pPr>
            <a:r>
              <a:rPr b="0" i="0" lang="en" sz="2200" u="none" cap="none" strike="noStrike">
                <a:solidFill>
                  <a:srgbClr val="94A3B8"/>
                </a:solidFill>
                <a:latin typeface="Outfit"/>
                <a:ea typeface="Outfit"/>
                <a:cs typeface="Outfit"/>
                <a:sym typeface="Outfit"/>
              </a:rPr>
              <a:t>→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04" name="Google Shape;104;p23"/>
          <p:cNvGrpSpPr/>
          <p:nvPr/>
        </p:nvGrpSpPr>
        <p:grpSpPr>
          <a:xfrm>
            <a:off x="4892425" y="1303663"/>
            <a:ext cx="1645803" cy="1645800"/>
            <a:chOff x="4206237" y="1097280"/>
            <a:chExt cx="1645803" cy="1645800"/>
          </a:xfrm>
        </p:grpSpPr>
        <p:sp>
          <p:nvSpPr>
            <p:cNvPr id="105" name="Google Shape;105;p23"/>
            <p:cNvSpPr/>
            <p:nvPr/>
          </p:nvSpPr>
          <p:spPr>
            <a:xfrm>
              <a:off x="4206240" y="1097280"/>
              <a:ext cx="1645800" cy="1645800"/>
            </a:xfrm>
            <a:prstGeom prst="rect">
              <a:avLst/>
            </a:prstGeom>
            <a:solidFill>
              <a:srgbClr val="ECFEFF"/>
            </a:solidFill>
            <a:ln cap="flat" cmpd="sng" w="25400">
              <a:solidFill>
                <a:srgbClr val="4F46E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" name="Google Shape;106;p23"/>
            <p:cNvSpPr/>
            <p:nvPr/>
          </p:nvSpPr>
          <p:spPr>
            <a:xfrm>
              <a:off x="4206240" y="1143000"/>
              <a:ext cx="1645800" cy="365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Clr>
                  <a:srgbClr val="4F46E5"/>
                </a:buClr>
                <a:buSzPts val="1400"/>
                <a:buFont typeface="Outfit"/>
                <a:buNone/>
              </a:pPr>
              <a:r>
                <a:rPr b="1" i="0" lang="en" sz="1400" u="none" cap="none" strike="noStrike">
                  <a:solidFill>
                    <a:srgbClr val="4F46E5"/>
                  </a:solidFill>
                  <a:latin typeface="Outfit"/>
                  <a:ea typeface="Outfit"/>
                  <a:cs typeface="Outfit"/>
                  <a:sym typeface="Outfit"/>
                </a:rPr>
                <a:t>W 4</a:t>
              </a:r>
              <a:endPara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7" name="Google Shape;107;p23"/>
            <p:cNvSpPr/>
            <p:nvPr/>
          </p:nvSpPr>
          <p:spPr>
            <a:xfrm>
              <a:off x="4206237" y="1554492"/>
              <a:ext cx="1645800" cy="1097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Clr>
                  <a:srgbClr val="475569"/>
                </a:buClr>
                <a:buSzPts val="1100"/>
                <a:buFont typeface="Outfit"/>
                <a:buNone/>
              </a:pPr>
              <a:r>
                <a:rPr b="0" i="0" lang="en" sz="1100" u="none" cap="none" strike="noStrike">
                  <a:solidFill>
                    <a:srgbClr val="334155"/>
                  </a:solidFill>
                  <a:latin typeface="Outfit"/>
                  <a:ea typeface="Outfit"/>
                  <a:cs typeface="Outfit"/>
                  <a:sym typeface="Outfit"/>
                </a:rPr>
                <a:t>Scal</a:t>
              </a:r>
              <a:r>
                <a:rPr lang="en" sz="1100">
                  <a:solidFill>
                    <a:srgbClr val="334155"/>
                  </a:solidFill>
                  <a:latin typeface="Outfit"/>
                  <a:ea typeface="Outfit"/>
                  <a:cs typeface="Outfit"/>
                  <a:sym typeface="Outfit"/>
                </a:rPr>
                <a:t>ing</a:t>
              </a:r>
              <a:r>
                <a:rPr b="0" i="0" lang="en" sz="1100" u="none" cap="none" strike="noStrike">
                  <a:solidFill>
                    <a:srgbClr val="334155"/>
                  </a:solidFill>
                  <a:latin typeface="Outfit"/>
                  <a:ea typeface="Outfit"/>
                  <a:cs typeface="Outfit"/>
                  <a:sym typeface="Outfit"/>
                </a:rPr>
                <a:t>:</a:t>
              </a:r>
              <a:endParaRPr b="0" i="0" sz="11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Clr>
                  <a:srgbClr val="475569"/>
                </a:buClr>
                <a:buSzPts val="1100"/>
                <a:buFont typeface="Outfit"/>
                <a:buNone/>
              </a:pPr>
              <a:r>
                <a:rPr b="0" i="0" lang="en" sz="1100" u="none" cap="none" strike="noStrike">
                  <a:solidFill>
                    <a:srgbClr val="334155"/>
                  </a:solidFill>
                  <a:latin typeface="Outfit"/>
                  <a:ea typeface="Outfit"/>
                  <a:cs typeface="Outfit"/>
                  <a:sym typeface="Outfit"/>
                </a:rPr>
                <a:t>transfer learning </a:t>
              </a:r>
              <a:r>
                <a:rPr lang="en" sz="1100">
                  <a:solidFill>
                    <a:srgbClr val="334155"/>
                  </a:solidFill>
                  <a:latin typeface="Outfit"/>
                  <a:ea typeface="Outfit"/>
                  <a:cs typeface="Outfit"/>
                  <a:sym typeface="Outfit"/>
                </a:rPr>
                <a:t>· ICL</a:t>
              </a:r>
              <a:r>
                <a:rPr b="0" i="0" lang="en" sz="1100" u="none" cap="none" strike="noStrike">
                  <a:solidFill>
                    <a:srgbClr val="334155"/>
                  </a:solidFill>
                  <a:latin typeface="Outfit"/>
                  <a:ea typeface="Outfit"/>
                  <a:cs typeface="Outfit"/>
                  <a:sym typeface="Outfit"/>
                </a:rPr>
                <a:t> · emergence </a:t>
              </a:r>
              <a:r>
                <a:rPr lang="en" sz="1100">
                  <a:solidFill>
                    <a:srgbClr val="334155"/>
                  </a:solidFill>
                  <a:latin typeface="Outfit"/>
                  <a:ea typeface="Outfit"/>
                  <a:cs typeface="Outfit"/>
                  <a:sym typeface="Outfit"/>
                </a:rPr>
                <a:t>· multi-modality </a:t>
              </a:r>
              <a:endParaRPr b="0" i="0" sz="11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Clr>
                  <a:srgbClr val="475569"/>
                </a:buClr>
                <a:buSzPts val="1100"/>
                <a:buFont typeface="Outfit"/>
                <a:buNone/>
              </a:pPr>
              <a:r>
                <a:t/>
              </a:r>
              <a:endParaRPr b="0" i="0" sz="11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08" name="Google Shape;108;p23"/>
          <p:cNvSpPr/>
          <p:nvPr/>
        </p:nvSpPr>
        <p:spPr>
          <a:xfrm>
            <a:off x="684705" y="4283087"/>
            <a:ext cx="78639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400"/>
              <a:buFont typeface="Outfit"/>
              <a:buNone/>
            </a:pPr>
            <a:r>
              <a:t/>
            </a:r>
            <a:endParaRPr b="0" i="1" sz="1300" u="none" cap="none" strike="noStrike">
              <a:solidFill>
                <a:srgbClr val="334155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23"/>
          <p:cNvSpPr/>
          <p:nvPr/>
        </p:nvSpPr>
        <p:spPr>
          <a:xfrm>
            <a:off x="6630099" y="1897963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2200"/>
              <a:buFont typeface="Outfit"/>
              <a:buNone/>
            </a:pPr>
            <a:r>
              <a:rPr b="0" i="0" lang="en" sz="2200" u="none" cap="none" strike="noStrike">
                <a:solidFill>
                  <a:srgbClr val="94A3B8"/>
                </a:solidFill>
                <a:latin typeface="Outfit"/>
                <a:ea typeface="Outfit"/>
                <a:cs typeface="Outfit"/>
                <a:sym typeface="Outfit"/>
              </a:rPr>
              <a:t>→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23"/>
          <p:cNvSpPr/>
          <p:nvPr/>
        </p:nvSpPr>
        <p:spPr>
          <a:xfrm>
            <a:off x="7179170" y="1303663"/>
            <a:ext cx="1645800" cy="1645800"/>
          </a:xfrm>
          <a:prstGeom prst="rect">
            <a:avLst/>
          </a:prstGeom>
          <a:solidFill>
            <a:srgbClr val="F8FAFC"/>
          </a:solidFill>
          <a:ln cap="flat" cmpd="sng" w="12700">
            <a:solidFill>
              <a:srgbClr val="94A3B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3"/>
          <p:cNvSpPr/>
          <p:nvPr/>
        </p:nvSpPr>
        <p:spPr>
          <a:xfrm>
            <a:off x="7179170" y="1349383"/>
            <a:ext cx="16458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891B2"/>
              </a:buClr>
              <a:buSzPts val="1400"/>
              <a:buFont typeface="Outfit"/>
              <a:buNone/>
            </a:pPr>
            <a:r>
              <a:rPr b="1" lang="en">
                <a:solidFill>
                  <a:srgbClr val="94A3B8"/>
                </a:solidFill>
                <a:latin typeface="Outfit"/>
                <a:ea typeface="Outfit"/>
                <a:cs typeface="Outfit"/>
                <a:sym typeface="Outfit"/>
              </a:rPr>
              <a:t>W 5</a:t>
            </a:r>
            <a:endParaRPr b="0" i="0" sz="1400" u="none" cap="none" strike="noStrike">
              <a:solidFill>
                <a:srgbClr val="94A3B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23"/>
          <p:cNvSpPr/>
          <p:nvPr/>
        </p:nvSpPr>
        <p:spPr>
          <a:xfrm>
            <a:off x="7270610" y="1760863"/>
            <a:ext cx="1463100" cy="1097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100"/>
              <a:buFont typeface="Outfit"/>
              <a:buNone/>
            </a:pPr>
            <a:r>
              <a:rPr lang="en" sz="1100">
                <a:solidFill>
                  <a:srgbClr val="94A3B8"/>
                </a:solidFill>
                <a:latin typeface="Outfit"/>
                <a:ea typeface="Outfit"/>
                <a:cs typeface="Outfit"/>
                <a:sym typeface="Outfit"/>
              </a:rPr>
              <a:t>Prediction vs. understanding</a:t>
            </a:r>
            <a:endParaRPr b="0" i="0" sz="1100" u="none" cap="none" strike="noStrike">
              <a:solidFill>
                <a:srgbClr val="94A3B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23"/>
          <p:cNvSpPr txBox="1"/>
          <p:nvPr>
            <p:ph idx="2" type="subTitle"/>
          </p:nvPr>
        </p:nvSpPr>
        <p:spPr>
          <a:xfrm>
            <a:off x="-3870" y="4726261"/>
            <a:ext cx="4046100" cy="411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14" name="Google Shape;114;p23"/>
          <p:cNvSpPr txBox="1"/>
          <p:nvPr>
            <p:ph type="title"/>
          </p:nvPr>
        </p:nvSpPr>
        <p:spPr>
          <a:xfrm>
            <a:off x="311700" y="228600"/>
            <a:ext cx="8520600" cy="61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This week</a:t>
            </a:r>
            <a:endParaRPr/>
          </a:p>
        </p:txBody>
      </p:sp>
      <p:sp>
        <p:nvSpPr>
          <p:cNvPr id="115" name="Google Shape;115;p23"/>
          <p:cNvSpPr txBox="1"/>
          <p:nvPr>
            <p:ph idx="1" type="body"/>
          </p:nvPr>
        </p:nvSpPr>
        <p:spPr>
          <a:xfrm>
            <a:off x="311700" y="3200400"/>
            <a:ext cx="8520600" cy="86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b="1" lang="en"/>
              <a:t>Today's reading: </a:t>
            </a:r>
            <a:r>
              <a:rPr lang="en"/>
              <a:t>Firestone (2020). Performance vs. competence in human–machine comparisons. PNAS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4"/>
          <p:cNvSpPr/>
          <p:nvPr/>
        </p:nvSpPr>
        <p:spPr>
          <a:xfrm>
            <a:off x="590255" y="1401757"/>
            <a:ext cx="2560200" cy="1440600"/>
          </a:xfrm>
          <a:prstGeom prst="rect">
            <a:avLst/>
          </a:prstGeom>
          <a:solidFill>
            <a:srgbClr val="F8FAFC"/>
          </a:solidFill>
          <a:ln cap="flat" cmpd="sng" w="19050">
            <a:solidFill>
              <a:srgbClr val="4F46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" name="Google Shape;122;p24"/>
          <p:cNvSpPr/>
          <p:nvPr/>
        </p:nvSpPr>
        <p:spPr>
          <a:xfrm>
            <a:off x="590265" y="1447477"/>
            <a:ext cx="25602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F46E5"/>
              </a:buClr>
              <a:buSzPts val="1400"/>
              <a:buFont typeface="Outfit"/>
              <a:buNone/>
            </a:pPr>
            <a:r>
              <a:rPr b="1" i="0" lang="en" sz="1400" u="none" cap="none" strike="noStrike">
                <a:solidFill>
                  <a:srgbClr val="4F46E5"/>
                </a:solidFill>
                <a:latin typeface="Outfit"/>
                <a:ea typeface="Outfit"/>
                <a:cs typeface="Outfit"/>
                <a:sym typeface="Outfit"/>
              </a:rPr>
              <a:t>🏗️ Architecture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24"/>
          <p:cNvSpPr/>
          <p:nvPr/>
        </p:nvSpPr>
        <p:spPr>
          <a:xfrm>
            <a:off x="607930" y="1904684"/>
            <a:ext cx="2528400" cy="93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200"/>
              <a:buFont typeface="Outfit"/>
              <a:buNone/>
            </a:pPr>
            <a:r>
              <a:rPr b="0" i="0" lang="en" sz="12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CNNs → Transformers 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200"/>
              <a:buFont typeface="Outfit"/>
              <a:buNone/>
            </a:pPr>
            <a:r>
              <a:rPr lang="en" sz="1200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One model </a:t>
            </a:r>
            <a:r>
              <a:rPr b="0" i="0" lang="en" sz="12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family now dominates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200"/>
              <a:buFont typeface="Outfit"/>
              <a:buNone/>
            </a:pPr>
            <a:r>
              <a:rPr b="0" i="0" lang="en" sz="12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vision, language, audio, </a:t>
            </a:r>
            <a:r>
              <a:rPr lang="en" sz="1200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etc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24"/>
          <p:cNvSpPr/>
          <p:nvPr/>
        </p:nvSpPr>
        <p:spPr>
          <a:xfrm>
            <a:off x="3333455" y="1401757"/>
            <a:ext cx="2560200" cy="1440600"/>
          </a:xfrm>
          <a:prstGeom prst="rect">
            <a:avLst/>
          </a:prstGeom>
          <a:solidFill>
            <a:srgbClr val="F8FAFC"/>
          </a:solidFill>
          <a:ln cap="flat" cmpd="sng" w="19050">
            <a:solidFill>
              <a:srgbClr val="0891B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24"/>
          <p:cNvSpPr/>
          <p:nvPr/>
        </p:nvSpPr>
        <p:spPr>
          <a:xfrm>
            <a:off x="3333465" y="1447477"/>
            <a:ext cx="25602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891B2"/>
              </a:buClr>
              <a:buSzPts val="1400"/>
              <a:buFont typeface="Outfit"/>
              <a:buNone/>
            </a:pPr>
            <a:r>
              <a:rPr b="1" i="0" lang="en" sz="1400" u="none" cap="none" strike="noStrike">
                <a:solidFill>
                  <a:srgbClr val="0891B2"/>
                </a:solidFill>
                <a:latin typeface="Outfit"/>
                <a:ea typeface="Outfit"/>
                <a:cs typeface="Outfit"/>
                <a:sym typeface="Outfit"/>
              </a:rPr>
              <a:t>🎯 Training Objective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24"/>
          <p:cNvSpPr/>
          <p:nvPr/>
        </p:nvSpPr>
        <p:spPr>
          <a:xfrm>
            <a:off x="3470626" y="1904681"/>
            <a:ext cx="2286000" cy="93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200"/>
              <a:buFont typeface="Outfit"/>
              <a:buNone/>
            </a:pPr>
            <a:r>
              <a:rPr b="0" i="0" lang="en" sz="12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Supervised → self-supervised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200"/>
              <a:buFont typeface="Outfit"/>
              <a:buNone/>
            </a:pPr>
            <a:r>
              <a:rPr b="0" i="0" lang="en" sz="12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Next-token pred, masked, contrastive, etc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200"/>
              <a:buFont typeface="Outfit"/>
              <a:buNone/>
            </a:pPr>
            <a:r>
              <a:rPr b="1" i="0" lang="en" sz="12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No labels needed at scale</a:t>
            </a:r>
            <a:endParaRPr b="1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24"/>
          <p:cNvSpPr/>
          <p:nvPr/>
        </p:nvSpPr>
        <p:spPr>
          <a:xfrm>
            <a:off x="6076655" y="1401757"/>
            <a:ext cx="2560200" cy="1440600"/>
          </a:xfrm>
          <a:prstGeom prst="rect">
            <a:avLst/>
          </a:prstGeom>
          <a:solidFill>
            <a:srgbClr val="F8FAFC"/>
          </a:solidFill>
          <a:ln cap="flat" cmpd="sng" w="19050">
            <a:solidFill>
              <a:srgbClr val="0E749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p24"/>
          <p:cNvSpPr/>
          <p:nvPr/>
        </p:nvSpPr>
        <p:spPr>
          <a:xfrm>
            <a:off x="6076665" y="1447477"/>
            <a:ext cx="25602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E7490"/>
              </a:buClr>
              <a:buSzPts val="1400"/>
              <a:buFont typeface="Outfit"/>
              <a:buNone/>
            </a:pPr>
            <a:r>
              <a:rPr b="1" i="0" lang="en" sz="1400" u="none" cap="none" strike="noStrike">
                <a:solidFill>
                  <a:srgbClr val="0E7490"/>
                </a:solidFill>
                <a:latin typeface="Outfit"/>
                <a:ea typeface="Outfit"/>
                <a:cs typeface="Outfit"/>
                <a:sym typeface="Outfit"/>
              </a:rPr>
              <a:t>📊 Data / Experience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24"/>
          <p:cNvSpPr/>
          <p:nvPr/>
        </p:nvSpPr>
        <p:spPr>
          <a:xfrm>
            <a:off x="6213828" y="1904681"/>
            <a:ext cx="2286000" cy="93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200"/>
              <a:buFont typeface="Outfit"/>
              <a:buNone/>
            </a:pPr>
            <a:r>
              <a:rPr b="0" i="0" lang="en" sz="12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ImageNet (1.2M images)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200"/>
              <a:buFont typeface="Outfit"/>
              <a:buNone/>
            </a:pPr>
            <a:r>
              <a:rPr b="0" i="0" lang="en" sz="12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→ LAION-5B (5.85B pairs)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200"/>
              <a:buFont typeface="Outfit"/>
              <a:buNone/>
            </a:pPr>
            <a:r>
              <a:rPr b="0" i="0" lang="en" sz="12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1000× growth in a decade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24"/>
          <p:cNvSpPr txBox="1"/>
          <p:nvPr>
            <p:ph idx="2" type="subTitle"/>
          </p:nvPr>
        </p:nvSpPr>
        <p:spPr>
          <a:xfrm>
            <a:off x="-3870" y="4726261"/>
            <a:ext cx="4046100" cy="411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24"/>
          <p:cNvSpPr txBox="1"/>
          <p:nvPr>
            <p:ph type="title"/>
          </p:nvPr>
        </p:nvSpPr>
        <p:spPr>
          <a:xfrm>
            <a:off x="311700" y="228600"/>
            <a:ext cx="8520600" cy="61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Last week: the three levers</a:t>
            </a:r>
            <a:endParaRPr/>
          </a:p>
        </p:txBody>
      </p:sp>
      <p:sp>
        <p:nvSpPr>
          <p:cNvPr id="132" name="Google Shape;132;p24"/>
          <p:cNvSpPr txBox="1"/>
          <p:nvPr>
            <p:ph idx="1" type="body"/>
          </p:nvPr>
        </p:nvSpPr>
        <p:spPr>
          <a:xfrm>
            <a:off x="311700" y="3200400"/>
            <a:ext cx="8520600" cy="135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This week's question:</a:t>
            </a:r>
            <a:r>
              <a:rPr lang="en"/>
              <a:t> When you scale data + models (and compute) </a:t>
            </a:r>
            <a:endParaRPr/>
          </a:p>
          <a:p>
            <a:pPr indent="-368300" lvl="0" marL="457200" rtl="0" algn="l">
              <a:spcBef>
                <a:spcPts val="1200"/>
              </a:spcBef>
              <a:spcAft>
                <a:spcPts val="0"/>
              </a:spcAft>
              <a:buSzPts val="2200"/>
              <a:buChar char="●"/>
            </a:pPr>
            <a:r>
              <a:rPr lang="en"/>
              <a:t>what new capabilities appear? </a:t>
            </a:r>
            <a:endParaRPr/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"/>
              <a:t>and should we believe them?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5"/>
          <p:cNvSpPr txBox="1"/>
          <p:nvPr>
            <p:ph type="title"/>
          </p:nvPr>
        </p:nvSpPr>
        <p:spPr>
          <a:xfrm>
            <a:off x="311700" y="228600"/>
            <a:ext cx="85206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2800"/>
              <a:buFont typeface="Georgia"/>
              <a:buNone/>
            </a:pPr>
            <a:r>
              <a:rPr lang="en"/>
              <a:t>The “pretraining-then-transfer” revolution</a:t>
            </a:r>
            <a:endParaRPr/>
          </a:p>
        </p:txBody>
      </p:sp>
      <p:sp>
        <p:nvSpPr>
          <p:cNvPr id="139" name="Google Shape;139;p25"/>
          <p:cNvSpPr/>
          <p:nvPr/>
        </p:nvSpPr>
        <p:spPr>
          <a:xfrm>
            <a:off x="363077" y="1122632"/>
            <a:ext cx="3931800" cy="14364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" name="Google Shape;140;p25"/>
          <p:cNvSpPr/>
          <p:nvPr/>
        </p:nvSpPr>
        <p:spPr>
          <a:xfrm>
            <a:off x="545948" y="1168362"/>
            <a:ext cx="34746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400"/>
              <a:buFont typeface="Calibri"/>
              <a:buNone/>
            </a:pPr>
            <a:r>
              <a:rPr b="1" i="0" lang="en" sz="2200" u="none" cap="none" strike="noStrike">
                <a:solidFill>
                  <a:srgbClr val="64748B"/>
                </a:solidFill>
                <a:latin typeface="Outfit"/>
                <a:ea typeface="Outfit"/>
                <a:cs typeface="Outfit"/>
                <a:sym typeface="Outfit"/>
              </a:rPr>
              <a:t>Old Approach</a:t>
            </a:r>
            <a:endParaRPr i="0" sz="2200" u="none" cap="none" strike="noStrike">
              <a:solidFill>
                <a:schemeClr val="dk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141" name="Google Shape;141;p25"/>
          <p:cNvSpPr/>
          <p:nvPr/>
        </p:nvSpPr>
        <p:spPr>
          <a:xfrm>
            <a:off x="459452" y="1626482"/>
            <a:ext cx="3610500" cy="109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400"/>
              <a:buFont typeface="Calibri"/>
              <a:buNone/>
            </a:pPr>
            <a:r>
              <a:rPr i="0" lang="en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Train from scratch on labeled data for one specific task</a:t>
            </a:r>
            <a:endParaRPr i="0" u="none" cap="none" strike="noStrike">
              <a:solidFill>
                <a:srgbClr val="475569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142" name="Google Shape;142;p25"/>
          <p:cNvSpPr/>
          <p:nvPr/>
        </p:nvSpPr>
        <p:spPr>
          <a:xfrm>
            <a:off x="4635452" y="1122642"/>
            <a:ext cx="4068900" cy="1436400"/>
          </a:xfrm>
          <a:prstGeom prst="rect">
            <a:avLst/>
          </a:prstGeom>
          <a:solidFill>
            <a:srgbClr val="ECFE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5"/>
          <p:cNvSpPr/>
          <p:nvPr/>
        </p:nvSpPr>
        <p:spPr>
          <a:xfrm>
            <a:off x="4635452" y="1122632"/>
            <a:ext cx="102000" cy="143640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25"/>
          <p:cNvSpPr/>
          <p:nvPr/>
        </p:nvSpPr>
        <p:spPr>
          <a:xfrm>
            <a:off x="4818327" y="1168362"/>
            <a:ext cx="34746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E7490"/>
              </a:buClr>
              <a:buSzPts val="1400"/>
              <a:buFont typeface="Calibri"/>
              <a:buNone/>
            </a:pPr>
            <a:r>
              <a:rPr b="1" i="0" lang="en" sz="2200" u="none" cap="none" strike="noStrike">
                <a:solidFill>
                  <a:srgbClr val="0E7490"/>
                </a:solidFill>
                <a:latin typeface="Outfit"/>
                <a:ea typeface="Outfit"/>
                <a:cs typeface="Outfit"/>
                <a:sym typeface="Outfit"/>
              </a:rPr>
              <a:t>New Approach</a:t>
            </a:r>
            <a:endParaRPr i="0" sz="2200" u="none" cap="none" strike="noStrike">
              <a:solidFill>
                <a:schemeClr val="dk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145" name="Google Shape;145;p25"/>
          <p:cNvSpPr/>
          <p:nvPr/>
        </p:nvSpPr>
        <p:spPr>
          <a:xfrm>
            <a:off x="4818327" y="1626492"/>
            <a:ext cx="3885900" cy="1004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400"/>
              <a:buFont typeface="Calibri"/>
              <a:buNone/>
            </a:pPr>
            <a:r>
              <a:rPr lang="en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P</a:t>
            </a:r>
            <a:r>
              <a:rPr i="0" lang="en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retrain on </a:t>
            </a:r>
            <a:r>
              <a:rPr b="1" i="1" lang="en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massive</a:t>
            </a:r>
            <a:r>
              <a:rPr i="0" lang="en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 data with a generative p</a:t>
            </a:r>
            <a:r>
              <a:rPr lang="en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retraining </a:t>
            </a:r>
            <a:r>
              <a:rPr i="0" lang="en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objective</a:t>
            </a:r>
            <a:r>
              <a:rPr lang="en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 before</a:t>
            </a:r>
            <a:r>
              <a:rPr i="0" lang="en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 finetun</a:t>
            </a:r>
            <a:r>
              <a:rPr lang="en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ing</a:t>
            </a:r>
            <a:r>
              <a:rPr i="0" lang="en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/adapting/</a:t>
            </a:r>
            <a:r>
              <a:rPr lang="en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transfering</a:t>
            </a:r>
            <a:r>
              <a:rPr i="0" lang="en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 </a:t>
            </a:r>
            <a:r>
              <a:rPr lang="en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to</a:t>
            </a:r>
            <a:r>
              <a:rPr i="0" lang="en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 specific tasks</a:t>
            </a:r>
            <a:endParaRPr i="0" u="none" cap="none" strike="noStrike">
              <a:solidFill>
                <a:srgbClr val="475569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146" name="Google Shape;146;p25"/>
          <p:cNvSpPr/>
          <p:nvPr/>
        </p:nvSpPr>
        <p:spPr>
          <a:xfrm>
            <a:off x="4188656" y="1802630"/>
            <a:ext cx="5487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2800"/>
              <a:buFont typeface="Calibri"/>
              <a:buNone/>
            </a:pPr>
            <a:r>
              <a:rPr b="0" i="0" lang="en" sz="28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25"/>
          <p:cNvSpPr/>
          <p:nvPr/>
        </p:nvSpPr>
        <p:spPr>
          <a:xfrm>
            <a:off x="491025" y="2926075"/>
            <a:ext cx="820410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600"/>
              <a:buFont typeface="Calibri"/>
              <a:buNone/>
            </a:pPr>
            <a:r>
              <a:rPr b="1" i="0" lang="en" sz="18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Why this matters:</a:t>
            </a:r>
            <a:endParaRPr i="0" sz="1800" u="none" cap="none" strike="noStrike">
              <a:solidFill>
                <a:srgbClr val="475569"/>
              </a:solidFill>
              <a:latin typeface="Outfit"/>
              <a:ea typeface="Outfit"/>
              <a:cs typeface="Outfit"/>
              <a:sym typeface="Outfit"/>
            </a:endParaRPr>
          </a:p>
          <a:p>
            <a:pPr indent="-251459" lvl="0" marL="27432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800"/>
              <a:buFont typeface="Outfit"/>
              <a:buChar char="●"/>
            </a:pPr>
            <a:r>
              <a:rPr i="0" lang="en" sz="18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Models learn richer, more flexible representations before </a:t>
            </a:r>
            <a:r>
              <a:rPr lang="en" sz="1800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“</a:t>
            </a:r>
            <a:r>
              <a:rPr i="0" lang="en" sz="18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specializing</a:t>
            </a:r>
            <a:r>
              <a:rPr lang="en" sz="1800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”</a:t>
            </a:r>
            <a:endParaRPr i="0" sz="1800" u="none" cap="none" strike="noStrike">
              <a:solidFill>
                <a:srgbClr val="475569"/>
              </a:solidFill>
              <a:latin typeface="Outfit"/>
              <a:ea typeface="Outfit"/>
              <a:cs typeface="Outfit"/>
              <a:sym typeface="Outfit"/>
            </a:endParaRPr>
          </a:p>
          <a:p>
            <a:pPr indent="-251459" lvl="0" marL="27432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800"/>
              <a:buFont typeface="Outfit"/>
              <a:buChar char="●"/>
            </a:pPr>
            <a:r>
              <a:rPr i="0" lang="en" sz="18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You invest once in a "foundation," then reuse it everywhere by adapting to s</a:t>
            </a:r>
            <a:r>
              <a:rPr lang="en" sz="1800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pecific tasks (finetuning)</a:t>
            </a:r>
            <a:endParaRPr i="0" sz="1800" u="none" cap="none" strike="noStrike">
              <a:solidFill>
                <a:srgbClr val="475569"/>
              </a:solidFill>
              <a:latin typeface="Outfit"/>
              <a:ea typeface="Outfit"/>
              <a:cs typeface="Outfit"/>
              <a:sym typeface="Outfit"/>
            </a:endParaRPr>
          </a:p>
          <a:p>
            <a:pPr indent="-251459" lvl="0" marL="27432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800"/>
              <a:buFont typeface="Outfit"/>
              <a:buChar char="●"/>
            </a:pPr>
            <a:r>
              <a:rPr lang="en" sz="1800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e</a:t>
            </a:r>
            <a:r>
              <a:rPr lang="en" sz="1800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.g., </a:t>
            </a:r>
            <a:r>
              <a:rPr lang="en" sz="1800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BERT model family: BioBERT (biomedical literature), ClinicalBERT (clinical notes), SciBERT (scientific papers), LegalBERT (legal documents), etc</a:t>
            </a:r>
            <a:endParaRPr sz="1800">
              <a:solidFill>
                <a:srgbClr val="475569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6"/>
          <p:cNvSpPr/>
          <p:nvPr/>
        </p:nvSpPr>
        <p:spPr>
          <a:xfrm>
            <a:off x="548640" y="274320"/>
            <a:ext cx="80466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46E5"/>
              </a:buClr>
              <a:buSzPts val="2400"/>
              <a:buFont typeface="Outfit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6"/>
          <p:cNvSpPr/>
          <p:nvPr/>
        </p:nvSpPr>
        <p:spPr>
          <a:xfrm>
            <a:off x="274325" y="962261"/>
            <a:ext cx="2743200" cy="2861100"/>
          </a:xfrm>
          <a:prstGeom prst="rect">
            <a:avLst/>
          </a:prstGeom>
          <a:solidFill>
            <a:srgbClr val="F8FAFC"/>
          </a:solidFill>
          <a:ln cap="flat" cmpd="sng" w="19050">
            <a:solidFill>
              <a:srgbClr val="4F46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26"/>
          <p:cNvSpPr/>
          <p:nvPr/>
        </p:nvSpPr>
        <p:spPr>
          <a:xfrm>
            <a:off x="274320" y="1007971"/>
            <a:ext cx="27432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F46E5"/>
              </a:buClr>
              <a:buSzPts val="1300"/>
              <a:buFont typeface="Outfit"/>
              <a:buNone/>
            </a:pPr>
            <a:r>
              <a:rPr b="1" i="0" lang="en" sz="1300" u="none" cap="none" strike="noStrike">
                <a:solidFill>
                  <a:srgbClr val="4F46E5"/>
                </a:solidFill>
                <a:latin typeface="Outfit"/>
                <a:ea typeface="Outfit"/>
                <a:cs typeface="Outfit"/>
                <a:sym typeface="Outfit"/>
              </a:rPr>
              <a:t>Autoregressive (GPT family)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26"/>
          <p:cNvSpPr/>
          <p:nvPr/>
        </p:nvSpPr>
        <p:spPr>
          <a:xfrm>
            <a:off x="411480" y="1510891"/>
            <a:ext cx="438900" cy="3657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94A3B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26"/>
          <p:cNvSpPr/>
          <p:nvPr/>
        </p:nvSpPr>
        <p:spPr>
          <a:xfrm>
            <a:off x="411480" y="1510891"/>
            <a:ext cx="4389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900"/>
              <a:buFont typeface="Outfit"/>
              <a:buNone/>
            </a:pPr>
            <a:r>
              <a:rPr b="0" i="0" lang="en" sz="9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The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26"/>
          <p:cNvSpPr/>
          <p:nvPr/>
        </p:nvSpPr>
        <p:spPr>
          <a:xfrm>
            <a:off x="886968" y="1510891"/>
            <a:ext cx="438900" cy="3657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94A3B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/>
          <p:nvPr/>
        </p:nvSpPr>
        <p:spPr>
          <a:xfrm>
            <a:off x="886968" y="1510891"/>
            <a:ext cx="4389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900"/>
              <a:buFont typeface="Outfit"/>
              <a:buNone/>
            </a:pPr>
            <a:r>
              <a:rPr b="0" i="0" lang="en" sz="9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cat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26"/>
          <p:cNvSpPr/>
          <p:nvPr/>
        </p:nvSpPr>
        <p:spPr>
          <a:xfrm>
            <a:off x="1362456" y="1510891"/>
            <a:ext cx="438900" cy="3657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94A3B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" name="Google Shape;161;p26"/>
          <p:cNvSpPr/>
          <p:nvPr/>
        </p:nvSpPr>
        <p:spPr>
          <a:xfrm>
            <a:off x="1362456" y="1510891"/>
            <a:ext cx="4389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900"/>
              <a:buFont typeface="Outfit"/>
              <a:buNone/>
            </a:pPr>
            <a:r>
              <a:rPr b="0" i="0" lang="en" sz="9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sat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6"/>
          <p:cNvSpPr/>
          <p:nvPr/>
        </p:nvSpPr>
        <p:spPr>
          <a:xfrm>
            <a:off x="1837944" y="1510891"/>
            <a:ext cx="438900" cy="3657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94A3B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" name="Google Shape;163;p26"/>
          <p:cNvSpPr/>
          <p:nvPr/>
        </p:nvSpPr>
        <p:spPr>
          <a:xfrm>
            <a:off x="1837944" y="1510891"/>
            <a:ext cx="4389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900"/>
              <a:buFont typeface="Outfit"/>
              <a:buNone/>
            </a:pPr>
            <a:r>
              <a:rPr b="0" i="0" lang="en" sz="9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on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26"/>
          <p:cNvSpPr/>
          <p:nvPr/>
        </p:nvSpPr>
        <p:spPr>
          <a:xfrm>
            <a:off x="2313432" y="1510891"/>
            <a:ext cx="438900" cy="365700"/>
          </a:xfrm>
          <a:prstGeom prst="rect">
            <a:avLst/>
          </a:prstGeom>
          <a:solidFill>
            <a:srgbClr val="EEF2FF"/>
          </a:solidFill>
          <a:ln cap="flat" cmpd="sng" w="19050">
            <a:solidFill>
              <a:srgbClr val="4F46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26"/>
          <p:cNvSpPr/>
          <p:nvPr/>
        </p:nvSpPr>
        <p:spPr>
          <a:xfrm>
            <a:off x="2313432" y="1510891"/>
            <a:ext cx="4389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F46E5"/>
              </a:buClr>
              <a:buSzPts val="900"/>
              <a:buFont typeface="Outfit"/>
              <a:buNone/>
            </a:pPr>
            <a:r>
              <a:rPr b="1" i="0" lang="en" sz="900" u="none" cap="none" strike="noStrike">
                <a:solidFill>
                  <a:srgbClr val="4F46E5"/>
                </a:solidFill>
                <a:latin typeface="Outfit"/>
                <a:ea typeface="Outfit"/>
                <a:cs typeface="Outfit"/>
                <a:sym typeface="Outfit"/>
              </a:rPr>
              <a:t>???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26"/>
          <p:cNvSpPr/>
          <p:nvPr/>
        </p:nvSpPr>
        <p:spPr>
          <a:xfrm>
            <a:off x="411480" y="1957693"/>
            <a:ext cx="24690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F46E5"/>
              </a:buClr>
              <a:buSzPts val="1000"/>
              <a:buFont typeface="Outfit"/>
              <a:buNone/>
            </a:pPr>
            <a:r>
              <a:rPr b="0" i="0" lang="en" sz="1000" u="none" cap="none" strike="noStrike">
                <a:solidFill>
                  <a:srgbClr val="4F46E5"/>
                </a:solidFill>
                <a:latin typeface="Outfit"/>
                <a:ea typeface="Outfit"/>
                <a:cs typeface="Outfit"/>
                <a:sym typeface="Outfit"/>
              </a:rPr>
              <a:t>→ Predict the next token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26"/>
          <p:cNvSpPr/>
          <p:nvPr/>
        </p:nvSpPr>
        <p:spPr>
          <a:xfrm>
            <a:off x="411480" y="2216004"/>
            <a:ext cx="2469000" cy="164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100"/>
              <a:buFont typeface="Outfit"/>
              <a:buNone/>
            </a:pPr>
            <a:r>
              <a:rPr b="0" i="0" lang="en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Models: </a:t>
            </a:r>
            <a:r>
              <a:rPr b="1" i="1" lang="en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GPT-2, GPT-3, GPT-4,</a:t>
            </a:r>
            <a:r>
              <a:rPr b="1" i="1" lang="en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1" lang="en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LLaMA, DeepSeek, Claude</a:t>
            </a:r>
            <a:r>
              <a:rPr b="0" i="0" lang="en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, etc</a:t>
            </a:r>
            <a:endParaRPr b="0" i="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r>
              <a:t/>
            </a:r>
            <a:endParaRPr b="0" i="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100"/>
              <a:buFont typeface="Outfit"/>
              <a:buNone/>
            </a:pPr>
            <a:r>
              <a:rPr b="0" i="0" lang="en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Implicitly learns grammar,</a:t>
            </a:r>
            <a:endParaRPr b="0" i="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100"/>
              <a:buFont typeface="Outfit"/>
              <a:buNone/>
            </a:pPr>
            <a:r>
              <a:rPr b="0" i="0" lang="en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facts, reasoning, code...</a:t>
            </a:r>
            <a:endParaRPr b="0" i="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6"/>
          <p:cNvSpPr/>
          <p:nvPr/>
        </p:nvSpPr>
        <p:spPr>
          <a:xfrm>
            <a:off x="3200401" y="962261"/>
            <a:ext cx="2743200" cy="2861100"/>
          </a:xfrm>
          <a:prstGeom prst="rect">
            <a:avLst/>
          </a:prstGeom>
          <a:solidFill>
            <a:srgbClr val="F8FAFC"/>
          </a:solidFill>
          <a:ln cap="flat" cmpd="sng" w="19050">
            <a:solidFill>
              <a:srgbClr val="0891B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" name="Google Shape;169;p26"/>
          <p:cNvSpPr/>
          <p:nvPr/>
        </p:nvSpPr>
        <p:spPr>
          <a:xfrm>
            <a:off x="3200400" y="1007971"/>
            <a:ext cx="27432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891B2"/>
              </a:buClr>
              <a:buSzPts val="1300"/>
              <a:buFont typeface="Outfit"/>
              <a:buNone/>
            </a:pPr>
            <a:r>
              <a:rPr b="1" i="0" lang="en" sz="1300" u="none" cap="none" strike="noStrike">
                <a:solidFill>
                  <a:srgbClr val="0891B2"/>
                </a:solidFill>
                <a:latin typeface="Outfit"/>
                <a:ea typeface="Outfit"/>
                <a:cs typeface="Outfit"/>
                <a:sym typeface="Outfit"/>
              </a:rPr>
              <a:t>Masked prediction (BERT, MAE)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26"/>
          <p:cNvSpPr/>
          <p:nvPr/>
        </p:nvSpPr>
        <p:spPr>
          <a:xfrm>
            <a:off x="3337560" y="1510891"/>
            <a:ext cx="438900" cy="3657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94A3B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26"/>
          <p:cNvSpPr/>
          <p:nvPr/>
        </p:nvSpPr>
        <p:spPr>
          <a:xfrm>
            <a:off x="3337560" y="1510891"/>
            <a:ext cx="4389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900"/>
              <a:buFont typeface="Outfit"/>
              <a:buNone/>
            </a:pPr>
            <a:r>
              <a:rPr b="0" i="0" lang="en" sz="9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The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26"/>
          <p:cNvSpPr/>
          <p:nvPr/>
        </p:nvSpPr>
        <p:spPr>
          <a:xfrm>
            <a:off x="3813048" y="1510891"/>
            <a:ext cx="438900" cy="365700"/>
          </a:xfrm>
          <a:prstGeom prst="rect">
            <a:avLst/>
          </a:prstGeom>
          <a:solidFill>
            <a:srgbClr val="ECFEFF"/>
          </a:solidFill>
          <a:ln cap="flat" cmpd="sng" w="19050">
            <a:solidFill>
              <a:srgbClr val="0891B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" name="Google Shape;173;p26"/>
          <p:cNvSpPr/>
          <p:nvPr/>
        </p:nvSpPr>
        <p:spPr>
          <a:xfrm>
            <a:off x="3813048" y="1510891"/>
            <a:ext cx="4389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891B2"/>
              </a:buClr>
              <a:buSzPts val="700"/>
              <a:buFont typeface="Outfit"/>
              <a:buNone/>
            </a:pPr>
            <a:r>
              <a:rPr b="1" i="0" lang="en" sz="700" u="none" cap="none" strike="noStrike">
                <a:solidFill>
                  <a:srgbClr val="0891B2"/>
                </a:solidFill>
                <a:latin typeface="Outfit"/>
                <a:ea typeface="Outfit"/>
                <a:cs typeface="Outfit"/>
                <a:sym typeface="Outfit"/>
              </a:rPr>
              <a:t>MAS</a:t>
            </a:r>
            <a:r>
              <a:rPr b="1" lang="en" sz="700">
                <a:solidFill>
                  <a:srgbClr val="0891B2"/>
                </a:solidFill>
                <a:latin typeface="Outfit"/>
                <a:ea typeface="Outfit"/>
                <a:cs typeface="Outfit"/>
                <a:sym typeface="Outfit"/>
              </a:rPr>
              <a:t>K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26"/>
          <p:cNvSpPr/>
          <p:nvPr/>
        </p:nvSpPr>
        <p:spPr>
          <a:xfrm>
            <a:off x="4288536" y="1510891"/>
            <a:ext cx="438900" cy="3657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94A3B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26"/>
          <p:cNvSpPr/>
          <p:nvPr/>
        </p:nvSpPr>
        <p:spPr>
          <a:xfrm>
            <a:off x="4288536" y="1510891"/>
            <a:ext cx="4389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900"/>
              <a:buFont typeface="Outfit"/>
              <a:buNone/>
            </a:pPr>
            <a:r>
              <a:rPr b="0" i="0" lang="en" sz="9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sat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26"/>
          <p:cNvSpPr/>
          <p:nvPr/>
        </p:nvSpPr>
        <p:spPr>
          <a:xfrm>
            <a:off x="4764024" y="1510891"/>
            <a:ext cx="438900" cy="365700"/>
          </a:xfrm>
          <a:prstGeom prst="rect">
            <a:avLst/>
          </a:prstGeom>
          <a:solidFill>
            <a:srgbClr val="ECFEFF"/>
          </a:solidFill>
          <a:ln cap="flat" cmpd="sng" w="19050">
            <a:solidFill>
              <a:srgbClr val="0891B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26"/>
          <p:cNvSpPr/>
          <p:nvPr/>
        </p:nvSpPr>
        <p:spPr>
          <a:xfrm>
            <a:off x="4764024" y="1510891"/>
            <a:ext cx="4389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891B2"/>
              </a:buClr>
              <a:buSzPts val="700"/>
              <a:buFont typeface="Outfit"/>
              <a:buNone/>
            </a:pPr>
            <a:r>
              <a:rPr b="1" i="0" lang="en" sz="700" u="none" cap="none" strike="noStrike">
                <a:solidFill>
                  <a:srgbClr val="0891B2"/>
                </a:solidFill>
                <a:latin typeface="Outfit"/>
                <a:ea typeface="Outfit"/>
                <a:cs typeface="Outfit"/>
                <a:sym typeface="Outfit"/>
              </a:rPr>
              <a:t>MASK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26"/>
          <p:cNvSpPr/>
          <p:nvPr/>
        </p:nvSpPr>
        <p:spPr>
          <a:xfrm>
            <a:off x="5239512" y="1510891"/>
            <a:ext cx="438900" cy="3657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94A3B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" name="Google Shape;179;p26"/>
          <p:cNvSpPr/>
          <p:nvPr/>
        </p:nvSpPr>
        <p:spPr>
          <a:xfrm>
            <a:off x="5239512" y="1510891"/>
            <a:ext cx="4389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900"/>
              <a:buFont typeface="Outfit"/>
              <a:buNone/>
            </a:pPr>
            <a:r>
              <a:rPr b="0" i="0" lang="en" sz="9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the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6"/>
          <p:cNvSpPr/>
          <p:nvPr/>
        </p:nvSpPr>
        <p:spPr>
          <a:xfrm>
            <a:off x="3337560" y="1957693"/>
            <a:ext cx="24690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891B2"/>
              </a:buClr>
              <a:buSzPts val="1000"/>
              <a:buFont typeface="Outfit"/>
              <a:buNone/>
            </a:pPr>
            <a:r>
              <a:rPr b="0" i="0" lang="en" sz="1000" u="none" cap="none" strike="noStrike">
                <a:solidFill>
                  <a:srgbClr val="0891B2"/>
                </a:solidFill>
                <a:latin typeface="Outfit"/>
                <a:ea typeface="Outfit"/>
                <a:cs typeface="Outfit"/>
                <a:sym typeface="Outfit"/>
              </a:rPr>
              <a:t>→ Fill in the blanks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26"/>
          <p:cNvSpPr/>
          <p:nvPr/>
        </p:nvSpPr>
        <p:spPr>
          <a:xfrm>
            <a:off x="3337560" y="2216004"/>
            <a:ext cx="2469000" cy="164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100"/>
              <a:buFont typeface="Outfit"/>
              <a:buNone/>
            </a:pPr>
            <a:r>
              <a:rPr b="0" i="0" lang="en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Models: </a:t>
            </a:r>
            <a:r>
              <a:rPr b="1" i="1" lang="en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BERT, RoBERTa, MAE</a:t>
            </a:r>
            <a:endParaRPr b="1" i="1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r>
              <a:t/>
            </a:r>
            <a:endParaRPr b="0" i="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100"/>
              <a:buFont typeface="Outfit"/>
              <a:buNone/>
            </a:pPr>
            <a:r>
              <a:rPr b="0" i="0" lang="en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Forces bidirectional context.</a:t>
            </a:r>
            <a:endParaRPr b="0" i="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100"/>
              <a:buFont typeface="Outfit"/>
              <a:buNone/>
            </a:pPr>
            <a:r>
              <a:rPr b="0" i="0" lang="en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Excellent for understanding</a:t>
            </a:r>
            <a:endParaRPr b="0" i="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100"/>
              <a:buFont typeface="Outfit"/>
              <a:buNone/>
            </a:pPr>
            <a:r>
              <a:rPr b="0" i="0" lang="en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tasks (classification, NER).</a:t>
            </a:r>
            <a:endParaRPr b="0" i="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26"/>
          <p:cNvSpPr/>
          <p:nvPr/>
        </p:nvSpPr>
        <p:spPr>
          <a:xfrm>
            <a:off x="6126476" y="962261"/>
            <a:ext cx="2743200" cy="2861100"/>
          </a:xfrm>
          <a:prstGeom prst="rect">
            <a:avLst/>
          </a:prstGeom>
          <a:solidFill>
            <a:srgbClr val="F8FAFC"/>
          </a:solidFill>
          <a:ln cap="flat" cmpd="sng" w="19050">
            <a:solidFill>
              <a:srgbClr val="0E749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3" name="Google Shape;183;p26"/>
          <p:cNvSpPr/>
          <p:nvPr/>
        </p:nvSpPr>
        <p:spPr>
          <a:xfrm>
            <a:off x="6126480" y="1007971"/>
            <a:ext cx="27432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E7490"/>
              </a:buClr>
              <a:buSzPts val="1300"/>
              <a:buFont typeface="Outfit"/>
              <a:buNone/>
            </a:pPr>
            <a:r>
              <a:rPr b="1" i="0" lang="en" sz="1300" u="none" cap="none" strike="noStrike">
                <a:solidFill>
                  <a:srgbClr val="0E7490"/>
                </a:solidFill>
                <a:latin typeface="Outfit"/>
                <a:ea typeface="Outfit"/>
                <a:cs typeface="Outfit"/>
                <a:sym typeface="Outfit"/>
              </a:rPr>
              <a:t>Contrastive (CLIP, SimCLR)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26"/>
          <p:cNvSpPr/>
          <p:nvPr/>
        </p:nvSpPr>
        <p:spPr>
          <a:xfrm>
            <a:off x="6400800" y="1465171"/>
            <a:ext cx="822900" cy="502800"/>
          </a:xfrm>
          <a:prstGeom prst="rect">
            <a:avLst/>
          </a:prstGeom>
          <a:solidFill>
            <a:srgbClr val="EEF2FF"/>
          </a:solidFill>
          <a:ln cap="flat" cmpd="sng" w="9525">
            <a:solidFill>
              <a:srgbClr val="4F46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" name="Google Shape;185;p26"/>
          <p:cNvSpPr/>
          <p:nvPr/>
        </p:nvSpPr>
        <p:spPr>
          <a:xfrm>
            <a:off x="6400800" y="1465171"/>
            <a:ext cx="8229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F46E5"/>
              </a:buClr>
              <a:buSzPts val="800"/>
              <a:buFont typeface="Outfit"/>
              <a:buNone/>
            </a:pPr>
            <a:r>
              <a:rPr b="0" i="0" lang="en" sz="800" u="none" cap="none" strike="noStrike">
                <a:solidFill>
                  <a:srgbClr val="4F46E5"/>
                </a:solidFill>
                <a:latin typeface="Outfit"/>
                <a:ea typeface="Outfit"/>
                <a:cs typeface="Outfit"/>
                <a:sym typeface="Outfit"/>
              </a:rPr>
              <a:t>🐱 image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26"/>
          <p:cNvSpPr/>
          <p:nvPr/>
        </p:nvSpPr>
        <p:spPr>
          <a:xfrm>
            <a:off x="7498080" y="1465171"/>
            <a:ext cx="822900" cy="502800"/>
          </a:xfrm>
          <a:prstGeom prst="rect">
            <a:avLst/>
          </a:prstGeom>
          <a:solidFill>
            <a:srgbClr val="ECFEFF"/>
          </a:solidFill>
          <a:ln cap="flat" cmpd="sng" w="9525">
            <a:solidFill>
              <a:srgbClr val="0891B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7" name="Google Shape;187;p26"/>
          <p:cNvSpPr/>
          <p:nvPr/>
        </p:nvSpPr>
        <p:spPr>
          <a:xfrm>
            <a:off x="7498080" y="1465171"/>
            <a:ext cx="8229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891B2"/>
              </a:buClr>
              <a:buSzPts val="800"/>
              <a:buFont typeface="Outfit"/>
              <a:buNone/>
            </a:pPr>
            <a:r>
              <a:rPr b="0" i="0" lang="en" sz="800" u="none" cap="none" strike="noStrike">
                <a:solidFill>
                  <a:srgbClr val="0891B2"/>
                </a:solidFill>
                <a:latin typeface="Outfit"/>
                <a:ea typeface="Outfit"/>
                <a:cs typeface="Outfit"/>
                <a:sym typeface="Outfit"/>
              </a:rPr>
              <a:t>"a cat"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26"/>
          <p:cNvSpPr/>
          <p:nvPr/>
        </p:nvSpPr>
        <p:spPr>
          <a:xfrm>
            <a:off x="6400800" y="1982601"/>
            <a:ext cx="19203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6A34A"/>
              </a:buClr>
              <a:buSzPts val="900"/>
              <a:buFont typeface="Outfit"/>
              <a:buNone/>
            </a:pPr>
            <a:r>
              <a:rPr b="0" i="0" lang="en" sz="900" u="none" cap="none" strike="noStrike">
                <a:solidFill>
                  <a:srgbClr val="16A34A"/>
                </a:solidFill>
                <a:latin typeface="Outfit"/>
                <a:ea typeface="Outfit"/>
                <a:cs typeface="Outfit"/>
                <a:sym typeface="Outfit"/>
              </a:rPr>
              <a:t>✓ pull together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26"/>
          <p:cNvSpPr/>
          <p:nvPr/>
        </p:nvSpPr>
        <p:spPr>
          <a:xfrm>
            <a:off x="6170950" y="2216000"/>
            <a:ext cx="2661300" cy="164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100"/>
              <a:buFont typeface="Outfit"/>
              <a:buNone/>
            </a:pPr>
            <a:r>
              <a:rPr b="0" i="0" lang="en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Models: </a:t>
            </a:r>
            <a:r>
              <a:rPr b="1" i="0" lang="en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CLIP, ALIGN, SigLIP,</a:t>
            </a:r>
            <a:r>
              <a:rPr b="1" lang="en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en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SimCLR, DINO</a:t>
            </a:r>
            <a:endParaRPr b="1" i="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r>
              <a:t/>
            </a:r>
            <a:endParaRPr b="0" i="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100"/>
              <a:buFont typeface="Outfit"/>
              <a:buNone/>
            </a:pPr>
            <a:r>
              <a:rPr b="0" i="0" lang="en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Learn shared embedding space</a:t>
            </a:r>
            <a:r>
              <a:rPr lang="en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; k</a:t>
            </a:r>
            <a:r>
              <a:rPr b="0" i="0" lang="en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ey for </a:t>
            </a:r>
            <a:r>
              <a:rPr lang="en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VLMs</a:t>
            </a:r>
            <a:endParaRPr b="0" i="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100"/>
              <a:buFont typeface="Outfit"/>
              <a:buNone/>
            </a:pPr>
            <a:r>
              <a:rPr b="0" i="0" lang="en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(LLaVA uses CLIP encoder).</a:t>
            </a:r>
            <a:endParaRPr b="0" i="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6"/>
          <p:cNvSpPr txBox="1"/>
          <p:nvPr>
            <p:ph type="title"/>
          </p:nvPr>
        </p:nvSpPr>
        <p:spPr>
          <a:xfrm>
            <a:off x="311700" y="228600"/>
            <a:ext cx="8520600" cy="61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pretraining works</a:t>
            </a:r>
            <a:endParaRPr/>
          </a:p>
        </p:txBody>
      </p:sp>
      <p:sp>
        <p:nvSpPr>
          <p:cNvPr id="191" name="Google Shape;191;p26"/>
          <p:cNvSpPr txBox="1"/>
          <p:nvPr>
            <p:ph idx="1" type="body"/>
          </p:nvPr>
        </p:nvSpPr>
        <p:spPr>
          <a:xfrm>
            <a:off x="311700" y="3921763"/>
            <a:ext cx="8520600" cy="12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"/>
              <a:t>Same objectives as W3 — but at 100–1000× the scale</a:t>
            </a:r>
            <a:endParaRPr/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"/>
              <a:t>GPT-2 vs. GPT-3 had 1.5B vs. 175B</a:t>
            </a:r>
            <a:endParaRPr/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"/>
              <a:t>Same recipe but qualitatively different results!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7"/>
          <p:cNvSpPr txBox="1"/>
          <p:nvPr/>
        </p:nvSpPr>
        <p:spPr>
          <a:xfrm>
            <a:off x="1913608" y="4692660"/>
            <a:ext cx="396600" cy="124200"/>
          </a:xfrm>
          <a:prstGeom prst="rect">
            <a:avLst/>
          </a:prstGeom>
          <a:noFill/>
          <a:ln>
            <a:noFill/>
          </a:ln>
        </p:spPr>
        <p:txBody>
          <a:bodyPr anchorCtr="0" anchor="t" bIns="48200" lIns="48200" spcFirstLastPara="1" rIns="48200" wrap="square" tIns="482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738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27"/>
          <p:cNvSpPr txBox="1"/>
          <p:nvPr>
            <p:ph type="title"/>
          </p:nvPr>
        </p:nvSpPr>
        <p:spPr>
          <a:xfrm>
            <a:off x="311700" y="228600"/>
            <a:ext cx="8520600" cy="89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7125" lIns="57125" spcFirstLastPara="1" rIns="57125" wrap="square" tIns="571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</a:pPr>
            <a:r>
              <a:rPr lang="en"/>
              <a:t>Scaling drives the development </a:t>
            </a:r>
            <a:br>
              <a:rPr lang="en"/>
            </a:br>
            <a:r>
              <a:rPr lang="en"/>
              <a:t>of modern deep nets</a:t>
            </a:r>
            <a:endParaRPr/>
          </a:p>
        </p:txBody>
      </p:sp>
      <p:pic>
        <p:nvPicPr>
          <p:cNvPr id="198" name="Google Shape;198;p27" title="exponential-growth-of-parameters-in-notable-ai-systems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37875" y="1272300"/>
            <a:ext cx="5200799" cy="367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med">
    <p:fade thruBlk="1"/>
  </p:transition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28"/>
          <p:cNvSpPr txBox="1"/>
          <p:nvPr/>
        </p:nvSpPr>
        <p:spPr>
          <a:xfrm>
            <a:off x="2416233" y="4866525"/>
            <a:ext cx="5315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57125" lIns="57125" spcFirstLastPara="1" rIns="57125" wrap="square" tIns="57125">
            <a:noAutofit/>
          </a:bodyPr>
          <a:lstStyle/>
          <a:p>
            <a:pPr indent="0" lvl="0" marL="0" marR="0" rtl="0"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896" u="none" cap="none" strike="noStrike">
              <a:solidFill>
                <a:srgbClr val="FFFFFF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896" u="none" cap="none" strike="noStrike">
              <a:solidFill>
                <a:srgbClr val="FFFFFF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896" u="none" cap="none" strike="noStrike">
              <a:solidFill>
                <a:srgbClr val="FFFFFF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896" u="none" cap="none" strike="noStrike">
              <a:solidFill>
                <a:srgbClr val="FFFFFF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04" name="Google Shape;204;p28"/>
          <p:cNvSpPr txBox="1"/>
          <p:nvPr/>
        </p:nvSpPr>
        <p:spPr>
          <a:xfrm>
            <a:off x="1913608" y="4692660"/>
            <a:ext cx="396600" cy="124200"/>
          </a:xfrm>
          <a:prstGeom prst="rect">
            <a:avLst/>
          </a:prstGeom>
          <a:noFill/>
          <a:ln>
            <a:noFill/>
          </a:ln>
        </p:spPr>
        <p:txBody>
          <a:bodyPr anchorCtr="0" anchor="t" bIns="48200" lIns="48200" spcFirstLastPara="1" rIns="48200" wrap="square" tIns="482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738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" name="Google Shape;205;p28"/>
          <p:cNvSpPr txBox="1"/>
          <p:nvPr>
            <p:ph type="title"/>
          </p:nvPr>
        </p:nvSpPr>
        <p:spPr>
          <a:xfrm>
            <a:off x="311700" y="228600"/>
            <a:ext cx="8520600" cy="89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7125" lIns="57125" spcFirstLastPara="1" rIns="57125" wrap="square" tIns="571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</a:pPr>
            <a:r>
              <a:rPr lang="en"/>
              <a:t>Scaling drives the development </a:t>
            </a:r>
            <a:br>
              <a:rPr lang="en"/>
            </a:br>
            <a:r>
              <a:rPr lang="en"/>
              <a:t>of modern deep nets</a:t>
            </a:r>
            <a:endParaRPr/>
          </a:p>
        </p:txBody>
      </p:sp>
      <p:sp>
        <p:nvSpPr>
          <p:cNvPr id="206" name="Google Shape;206;p28"/>
          <p:cNvSpPr txBox="1"/>
          <p:nvPr>
            <p:ph idx="1" type="subTitle"/>
          </p:nvPr>
        </p:nvSpPr>
        <p:spPr>
          <a:xfrm>
            <a:off x="-3870" y="4726261"/>
            <a:ext cx="4046100" cy="41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Source: https://epoch.ai/publications/trends-in-training-dataset-sizes</a:t>
            </a:r>
            <a:endParaRPr/>
          </a:p>
        </p:txBody>
      </p:sp>
      <p:pic>
        <p:nvPicPr>
          <p:cNvPr id="207" name="Google Shape;207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55350" y="1605360"/>
            <a:ext cx="5433307" cy="2743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med">
    <p:fade thruBlk="1"/>
  </p:transition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29"/>
          <p:cNvSpPr txBox="1"/>
          <p:nvPr/>
        </p:nvSpPr>
        <p:spPr>
          <a:xfrm>
            <a:off x="2416233" y="4866525"/>
            <a:ext cx="5315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57125" lIns="57125" spcFirstLastPara="1" rIns="57125" wrap="square" tIns="57125">
            <a:noAutofit/>
          </a:bodyPr>
          <a:lstStyle/>
          <a:p>
            <a:pPr indent="0" lvl="0" marL="0" marR="0" rtl="0"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896" u="none" cap="none" strike="noStrike">
              <a:solidFill>
                <a:srgbClr val="FFFFFF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896" u="none" cap="none" strike="noStrike">
              <a:solidFill>
                <a:srgbClr val="FFFFFF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896" u="none" cap="none" strike="noStrike">
              <a:solidFill>
                <a:srgbClr val="FFFFFF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896" u="none" cap="none" strike="noStrike">
              <a:solidFill>
                <a:srgbClr val="FFFFFF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13" name="Google Shape;213;p29"/>
          <p:cNvSpPr txBox="1"/>
          <p:nvPr/>
        </p:nvSpPr>
        <p:spPr>
          <a:xfrm>
            <a:off x="1913608" y="4692660"/>
            <a:ext cx="396600" cy="124200"/>
          </a:xfrm>
          <a:prstGeom prst="rect">
            <a:avLst/>
          </a:prstGeom>
          <a:noFill/>
          <a:ln>
            <a:noFill/>
          </a:ln>
        </p:spPr>
        <p:txBody>
          <a:bodyPr anchorCtr="0" anchor="t" bIns="48200" lIns="48200" spcFirstLastPara="1" rIns="48200" wrap="square" tIns="482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738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29"/>
          <p:cNvSpPr txBox="1"/>
          <p:nvPr>
            <p:ph type="title"/>
          </p:nvPr>
        </p:nvSpPr>
        <p:spPr>
          <a:xfrm>
            <a:off x="311700" y="228600"/>
            <a:ext cx="8520600" cy="89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7125" lIns="57125" spcFirstLastPara="1" rIns="57125" wrap="square" tIns="571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</a:pPr>
            <a:r>
              <a:rPr lang="en"/>
              <a:t>Scaling drives the development </a:t>
            </a:r>
            <a:br>
              <a:rPr lang="en"/>
            </a:br>
            <a:r>
              <a:rPr lang="en"/>
              <a:t>of modern deep nets</a:t>
            </a:r>
            <a:endParaRPr/>
          </a:p>
        </p:txBody>
      </p:sp>
      <p:sp>
        <p:nvSpPr>
          <p:cNvPr id="215" name="Google Shape;215;p29"/>
          <p:cNvSpPr txBox="1"/>
          <p:nvPr>
            <p:ph idx="1" type="subTitle"/>
          </p:nvPr>
        </p:nvSpPr>
        <p:spPr>
          <a:xfrm>
            <a:off x="-3870" y="4726261"/>
            <a:ext cx="4046100" cy="41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Source: https://epoch.ai/data-insights/compute-trend-language-vs-vision</a:t>
            </a:r>
            <a:endParaRPr/>
          </a:p>
        </p:txBody>
      </p:sp>
      <p:pic>
        <p:nvPicPr>
          <p:cNvPr id="216" name="Google Shape;216;p29" title="compute-trend-language-vs-vision (1)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61667" y="1251575"/>
            <a:ext cx="5400637" cy="33015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med">
    <p:fade thruBlk="1"/>
  </p:transition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30"/>
          <p:cNvSpPr/>
          <p:nvPr/>
        </p:nvSpPr>
        <p:spPr>
          <a:xfrm>
            <a:off x="548640" y="274320"/>
            <a:ext cx="80466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46E5"/>
              </a:buClr>
              <a:buSzPts val="2400"/>
              <a:buFont typeface="Outfit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30"/>
          <p:cNvSpPr/>
          <p:nvPr/>
        </p:nvSpPr>
        <p:spPr>
          <a:xfrm>
            <a:off x="502875" y="3623720"/>
            <a:ext cx="8229600" cy="366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30"/>
          <p:cNvSpPr/>
          <p:nvPr/>
        </p:nvSpPr>
        <p:spPr>
          <a:xfrm>
            <a:off x="777195" y="3532280"/>
            <a:ext cx="164700" cy="164700"/>
          </a:xfrm>
          <a:prstGeom prst="ellipse">
            <a:avLst/>
          </a:prstGeom>
          <a:solidFill>
            <a:srgbClr val="4F46E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5" name="Google Shape;225;p30"/>
          <p:cNvSpPr/>
          <p:nvPr/>
        </p:nvSpPr>
        <p:spPr>
          <a:xfrm>
            <a:off x="411435" y="2435000"/>
            <a:ext cx="1005900" cy="1005900"/>
          </a:xfrm>
          <a:prstGeom prst="rect">
            <a:avLst/>
          </a:prstGeom>
          <a:solidFill>
            <a:srgbClr val="F8FAFC"/>
          </a:solidFill>
          <a:ln cap="flat" cmpd="sng" w="12700">
            <a:solidFill>
              <a:srgbClr val="4F46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6" name="Google Shape;226;p30"/>
          <p:cNvSpPr/>
          <p:nvPr/>
        </p:nvSpPr>
        <p:spPr>
          <a:xfrm>
            <a:off x="411435" y="2480720"/>
            <a:ext cx="10059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F46E5"/>
              </a:buClr>
              <a:buSzPts val="1000"/>
              <a:buFont typeface="Outfit"/>
              <a:buNone/>
            </a:pPr>
            <a:r>
              <a:rPr b="1" i="0" lang="en" sz="1000" u="none" cap="none" strike="noStrike">
                <a:solidFill>
                  <a:srgbClr val="4F46E5"/>
                </a:solidFill>
                <a:latin typeface="Outfit"/>
                <a:ea typeface="Outfit"/>
                <a:cs typeface="Outfit"/>
                <a:sym typeface="Outfit"/>
              </a:rPr>
              <a:t>GPT-2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30"/>
          <p:cNvSpPr/>
          <p:nvPr/>
        </p:nvSpPr>
        <p:spPr>
          <a:xfrm>
            <a:off x="411435" y="2755040"/>
            <a:ext cx="10059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800"/>
              <a:buFont typeface="Outfit"/>
              <a:buNone/>
            </a:pPr>
            <a:r>
              <a:rPr b="0" i="0" lang="en" sz="800" u="none" cap="none" strike="noStrike">
                <a:solidFill>
                  <a:srgbClr val="94A3B8"/>
                </a:solidFill>
                <a:latin typeface="Outfit"/>
                <a:ea typeface="Outfit"/>
                <a:cs typeface="Outfit"/>
                <a:sym typeface="Outfit"/>
              </a:rPr>
              <a:t>OpenAI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800"/>
              <a:buFont typeface="Outfit"/>
              <a:buNone/>
            </a:pPr>
            <a:r>
              <a:rPr b="0" i="0" lang="en" sz="800" u="none" cap="none" strike="noStrike">
                <a:solidFill>
                  <a:srgbClr val="94A3B8"/>
                </a:solidFill>
                <a:latin typeface="Outfit"/>
                <a:ea typeface="Outfit"/>
                <a:cs typeface="Outfit"/>
                <a:sym typeface="Outfit"/>
              </a:rPr>
              <a:t>1.5B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30"/>
          <p:cNvSpPr/>
          <p:nvPr/>
        </p:nvSpPr>
        <p:spPr>
          <a:xfrm>
            <a:off x="411435" y="3166520"/>
            <a:ext cx="10059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900"/>
              <a:buFont typeface="Outfit"/>
              <a:buNone/>
            </a:pPr>
            <a:r>
              <a:rPr b="0" i="0" lang="en" sz="9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2019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30"/>
          <p:cNvSpPr/>
          <p:nvPr/>
        </p:nvSpPr>
        <p:spPr>
          <a:xfrm>
            <a:off x="841203" y="3440840"/>
            <a:ext cx="18300" cy="915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30"/>
          <p:cNvSpPr/>
          <p:nvPr/>
        </p:nvSpPr>
        <p:spPr>
          <a:xfrm>
            <a:off x="1965915" y="3532280"/>
            <a:ext cx="164700" cy="164700"/>
          </a:xfrm>
          <a:prstGeom prst="ellipse">
            <a:avLst/>
          </a:prstGeom>
          <a:solidFill>
            <a:srgbClr val="4F46E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1" name="Google Shape;231;p30"/>
          <p:cNvSpPr/>
          <p:nvPr/>
        </p:nvSpPr>
        <p:spPr>
          <a:xfrm>
            <a:off x="1600155" y="3943760"/>
            <a:ext cx="1005900" cy="1005900"/>
          </a:xfrm>
          <a:prstGeom prst="rect">
            <a:avLst/>
          </a:prstGeom>
          <a:solidFill>
            <a:srgbClr val="F8FAFC"/>
          </a:solidFill>
          <a:ln cap="flat" cmpd="sng" w="12700">
            <a:solidFill>
              <a:srgbClr val="4F46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30"/>
          <p:cNvSpPr/>
          <p:nvPr/>
        </p:nvSpPr>
        <p:spPr>
          <a:xfrm>
            <a:off x="1600155" y="3989480"/>
            <a:ext cx="10059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F46E5"/>
              </a:buClr>
              <a:buSzPts val="1000"/>
              <a:buFont typeface="Outfit"/>
              <a:buNone/>
            </a:pPr>
            <a:r>
              <a:rPr b="1" i="0" lang="en" sz="1000" u="none" cap="none" strike="noStrike">
                <a:solidFill>
                  <a:srgbClr val="4F46E5"/>
                </a:solidFill>
                <a:latin typeface="Outfit"/>
                <a:ea typeface="Outfit"/>
                <a:cs typeface="Outfit"/>
                <a:sym typeface="Outfit"/>
              </a:rPr>
              <a:t>GPT-3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30"/>
          <p:cNvSpPr/>
          <p:nvPr/>
        </p:nvSpPr>
        <p:spPr>
          <a:xfrm>
            <a:off x="1600155" y="4263800"/>
            <a:ext cx="10059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800"/>
              <a:buFont typeface="Outfit"/>
              <a:buNone/>
            </a:pPr>
            <a:r>
              <a:rPr b="0" i="0" lang="en" sz="800" u="none" cap="none" strike="noStrike">
                <a:solidFill>
                  <a:srgbClr val="94A3B8"/>
                </a:solidFill>
                <a:latin typeface="Outfit"/>
                <a:ea typeface="Outfit"/>
                <a:cs typeface="Outfit"/>
                <a:sym typeface="Outfit"/>
              </a:rPr>
              <a:t>OpenAI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800"/>
              <a:buFont typeface="Outfit"/>
              <a:buNone/>
            </a:pPr>
            <a:r>
              <a:rPr b="0" i="0" lang="en" sz="800" u="none" cap="none" strike="noStrike">
                <a:solidFill>
                  <a:srgbClr val="94A3B8"/>
                </a:solidFill>
                <a:latin typeface="Outfit"/>
                <a:ea typeface="Outfit"/>
                <a:cs typeface="Outfit"/>
                <a:sym typeface="Outfit"/>
              </a:rPr>
              <a:t>175B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30"/>
          <p:cNvSpPr/>
          <p:nvPr/>
        </p:nvSpPr>
        <p:spPr>
          <a:xfrm>
            <a:off x="1600155" y="4675280"/>
            <a:ext cx="10059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900"/>
              <a:buFont typeface="Outfit"/>
              <a:buNone/>
            </a:pPr>
            <a:r>
              <a:rPr b="0" i="0" lang="en" sz="9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2020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30"/>
          <p:cNvSpPr/>
          <p:nvPr/>
        </p:nvSpPr>
        <p:spPr>
          <a:xfrm>
            <a:off x="2029923" y="3696872"/>
            <a:ext cx="18300" cy="2469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6" name="Google Shape;236;p30"/>
          <p:cNvSpPr/>
          <p:nvPr/>
        </p:nvSpPr>
        <p:spPr>
          <a:xfrm>
            <a:off x="3154635" y="3532280"/>
            <a:ext cx="164700" cy="164700"/>
          </a:xfrm>
          <a:prstGeom prst="ellipse">
            <a:avLst/>
          </a:prstGeom>
          <a:solidFill>
            <a:srgbClr val="0891B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7" name="Google Shape;237;p30"/>
          <p:cNvSpPr/>
          <p:nvPr/>
        </p:nvSpPr>
        <p:spPr>
          <a:xfrm>
            <a:off x="2788875" y="2435000"/>
            <a:ext cx="1005900" cy="1005900"/>
          </a:xfrm>
          <a:prstGeom prst="rect">
            <a:avLst/>
          </a:prstGeom>
          <a:solidFill>
            <a:srgbClr val="F8FAFC"/>
          </a:solidFill>
          <a:ln cap="flat" cmpd="sng" w="12700">
            <a:solidFill>
              <a:srgbClr val="0891B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30"/>
          <p:cNvSpPr/>
          <p:nvPr/>
        </p:nvSpPr>
        <p:spPr>
          <a:xfrm>
            <a:off x="2788875" y="2480720"/>
            <a:ext cx="10059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891B2"/>
              </a:buClr>
              <a:buSzPts val="1000"/>
              <a:buFont typeface="Outfit"/>
              <a:buNone/>
            </a:pPr>
            <a:r>
              <a:rPr b="1" i="0" lang="en" sz="1000" u="none" cap="none" strike="noStrike">
                <a:solidFill>
                  <a:srgbClr val="0891B2"/>
                </a:solidFill>
                <a:latin typeface="Outfit"/>
                <a:ea typeface="Outfit"/>
                <a:cs typeface="Outfit"/>
                <a:sym typeface="Outfit"/>
              </a:rPr>
              <a:t>Chinchilla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30"/>
          <p:cNvSpPr/>
          <p:nvPr/>
        </p:nvSpPr>
        <p:spPr>
          <a:xfrm>
            <a:off x="2788875" y="2755040"/>
            <a:ext cx="10059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800"/>
              <a:buFont typeface="Outfit"/>
              <a:buNone/>
            </a:pPr>
            <a:r>
              <a:rPr b="0" i="0" lang="en" sz="800" u="none" cap="none" strike="noStrike">
                <a:solidFill>
                  <a:srgbClr val="94A3B8"/>
                </a:solidFill>
                <a:latin typeface="Outfit"/>
                <a:ea typeface="Outfit"/>
                <a:cs typeface="Outfit"/>
                <a:sym typeface="Outfit"/>
              </a:rPr>
              <a:t>DeepMind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800"/>
              <a:buFont typeface="Outfit"/>
              <a:buNone/>
            </a:pPr>
            <a:r>
              <a:rPr b="0" i="0" lang="en" sz="800" u="none" cap="none" strike="noStrike">
                <a:solidFill>
                  <a:srgbClr val="94A3B8"/>
                </a:solidFill>
                <a:latin typeface="Outfit"/>
                <a:ea typeface="Outfit"/>
                <a:cs typeface="Outfit"/>
                <a:sym typeface="Outfit"/>
              </a:rPr>
              <a:t>70B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30"/>
          <p:cNvSpPr/>
          <p:nvPr/>
        </p:nvSpPr>
        <p:spPr>
          <a:xfrm>
            <a:off x="2788875" y="3166520"/>
            <a:ext cx="10059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900"/>
              <a:buFont typeface="Outfit"/>
              <a:buNone/>
            </a:pPr>
            <a:r>
              <a:rPr b="0" i="0" lang="en" sz="9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2022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30"/>
          <p:cNvSpPr/>
          <p:nvPr/>
        </p:nvSpPr>
        <p:spPr>
          <a:xfrm>
            <a:off x="3218643" y="3440840"/>
            <a:ext cx="18300" cy="9150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2" name="Google Shape;242;p30"/>
          <p:cNvSpPr/>
          <p:nvPr/>
        </p:nvSpPr>
        <p:spPr>
          <a:xfrm>
            <a:off x="4343355" y="3532280"/>
            <a:ext cx="164700" cy="16470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" name="Google Shape;243;p30"/>
          <p:cNvSpPr/>
          <p:nvPr/>
        </p:nvSpPr>
        <p:spPr>
          <a:xfrm>
            <a:off x="3977595" y="3943760"/>
            <a:ext cx="1005900" cy="1005900"/>
          </a:xfrm>
          <a:prstGeom prst="rect">
            <a:avLst/>
          </a:prstGeom>
          <a:solidFill>
            <a:srgbClr val="F8FAFC"/>
          </a:solidFill>
          <a:ln cap="flat" cmpd="sng" w="12700">
            <a:solidFill>
              <a:srgbClr val="D977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4" name="Google Shape;244;p30"/>
          <p:cNvSpPr/>
          <p:nvPr/>
        </p:nvSpPr>
        <p:spPr>
          <a:xfrm>
            <a:off x="3977595" y="3989480"/>
            <a:ext cx="10059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97706"/>
              </a:buClr>
              <a:buSzPts val="1000"/>
              <a:buFont typeface="Outfit"/>
              <a:buNone/>
            </a:pPr>
            <a:r>
              <a:rPr b="1" i="0" lang="en" sz="1000" u="none" cap="none" strike="noStrike">
                <a:solidFill>
                  <a:srgbClr val="D97706"/>
                </a:solidFill>
                <a:latin typeface="Outfit"/>
                <a:ea typeface="Outfit"/>
                <a:cs typeface="Outfit"/>
                <a:sym typeface="Outfit"/>
              </a:rPr>
              <a:t>ChatGPT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30"/>
          <p:cNvSpPr/>
          <p:nvPr/>
        </p:nvSpPr>
        <p:spPr>
          <a:xfrm>
            <a:off x="3977595" y="4263800"/>
            <a:ext cx="10059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800"/>
              <a:buFont typeface="Outfit"/>
              <a:buNone/>
            </a:pPr>
            <a:r>
              <a:rPr b="0" i="0" lang="en" sz="800" u="none" cap="none" strike="noStrike">
                <a:solidFill>
                  <a:srgbClr val="94A3B8"/>
                </a:solidFill>
                <a:latin typeface="Outfit"/>
                <a:ea typeface="Outfit"/>
                <a:cs typeface="Outfit"/>
                <a:sym typeface="Outfit"/>
              </a:rPr>
              <a:t>OpenAI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800"/>
              <a:buFont typeface="Outfit"/>
              <a:buNone/>
            </a:pPr>
            <a:r>
              <a:rPr b="0" i="0" lang="en" sz="800" u="none" cap="none" strike="noStrike">
                <a:solidFill>
                  <a:srgbClr val="94A3B8"/>
                </a:solidFill>
                <a:latin typeface="Outfit"/>
                <a:ea typeface="Outfit"/>
                <a:cs typeface="Outfit"/>
                <a:sym typeface="Outfit"/>
              </a:rPr>
              <a:t>RLHF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30"/>
          <p:cNvSpPr/>
          <p:nvPr/>
        </p:nvSpPr>
        <p:spPr>
          <a:xfrm>
            <a:off x="3977595" y="4675280"/>
            <a:ext cx="10059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900"/>
              <a:buFont typeface="Outfit"/>
              <a:buNone/>
            </a:pPr>
            <a:r>
              <a:rPr b="0" i="0" lang="en" sz="9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2022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30"/>
          <p:cNvSpPr/>
          <p:nvPr/>
        </p:nvSpPr>
        <p:spPr>
          <a:xfrm>
            <a:off x="4407363" y="3696872"/>
            <a:ext cx="18300" cy="2469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8" name="Google Shape;248;p30"/>
          <p:cNvSpPr/>
          <p:nvPr/>
        </p:nvSpPr>
        <p:spPr>
          <a:xfrm>
            <a:off x="5532075" y="3532280"/>
            <a:ext cx="164700" cy="1647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9" name="Google Shape;249;p30"/>
          <p:cNvSpPr/>
          <p:nvPr/>
        </p:nvSpPr>
        <p:spPr>
          <a:xfrm>
            <a:off x="5166315" y="2435000"/>
            <a:ext cx="1005900" cy="1005900"/>
          </a:xfrm>
          <a:prstGeom prst="rect">
            <a:avLst/>
          </a:prstGeom>
          <a:solidFill>
            <a:srgbClr val="F8FAFC"/>
          </a:solidFill>
          <a:ln cap="flat" cmpd="sng" w="12700">
            <a:solidFill>
              <a:srgbClr val="7C3AE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0" name="Google Shape;250;p30"/>
          <p:cNvSpPr/>
          <p:nvPr/>
        </p:nvSpPr>
        <p:spPr>
          <a:xfrm>
            <a:off x="5166315" y="2480720"/>
            <a:ext cx="10059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C3AED"/>
              </a:buClr>
              <a:buSzPts val="1000"/>
              <a:buFont typeface="Outfit"/>
              <a:buNone/>
            </a:pPr>
            <a:r>
              <a:rPr b="1" i="0" lang="en" sz="1000" u="none" cap="none" strike="noStrike">
                <a:solidFill>
                  <a:srgbClr val="7C3AED"/>
                </a:solidFill>
                <a:latin typeface="Outfit"/>
                <a:ea typeface="Outfit"/>
                <a:cs typeface="Outfit"/>
                <a:sym typeface="Outfit"/>
              </a:rPr>
              <a:t>LLaMA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30"/>
          <p:cNvSpPr/>
          <p:nvPr/>
        </p:nvSpPr>
        <p:spPr>
          <a:xfrm>
            <a:off x="5166315" y="2755040"/>
            <a:ext cx="10059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800"/>
              <a:buFont typeface="Outfit"/>
              <a:buNone/>
            </a:pPr>
            <a:r>
              <a:rPr b="0" i="0" lang="en" sz="800" u="none" cap="none" strike="noStrike">
                <a:solidFill>
                  <a:srgbClr val="94A3B8"/>
                </a:solidFill>
                <a:latin typeface="Outfit"/>
                <a:ea typeface="Outfit"/>
                <a:cs typeface="Outfit"/>
                <a:sym typeface="Outfit"/>
              </a:rPr>
              <a:t>Meta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800"/>
              <a:buFont typeface="Outfit"/>
              <a:buNone/>
            </a:pPr>
            <a:r>
              <a:rPr b="0" i="0" lang="en" sz="800" u="none" cap="none" strike="noStrike">
                <a:solidFill>
                  <a:srgbClr val="94A3B8"/>
                </a:solidFill>
                <a:latin typeface="Outfit"/>
                <a:ea typeface="Outfit"/>
                <a:cs typeface="Outfit"/>
                <a:sym typeface="Outfit"/>
              </a:rPr>
              <a:t>7–65B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30"/>
          <p:cNvSpPr/>
          <p:nvPr/>
        </p:nvSpPr>
        <p:spPr>
          <a:xfrm>
            <a:off x="5166315" y="3166520"/>
            <a:ext cx="10059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900"/>
              <a:buFont typeface="Outfit"/>
              <a:buNone/>
            </a:pPr>
            <a:r>
              <a:rPr b="0" i="0" lang="en" sz="9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2023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30"/>
          <p:cNvSpPr/>
          <p:nvPr/>
        </p:nvSpPr>
        <p:spPr>
          <a:xfrm>
            <a:off x="5596083" y="3440840"/>
            <a:ext cx="18300" cy="915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4" name="Google Shape;254;p30"/>
          <p:cNvSpPr/>
          <p:nvPr/>
        </p:nvSpPr>
        <p:spPr>
          <a:xfrm>
            <a:off x="6629355" y="3532280"/>
            <a:ext cx="164700" cy="164700"/>
          </a:xfrm>
          <a:prstGeom prst="ellipse">
            <a:avLst/>
          </a:prstGeom>
          <a:solidFill>
            <a:srgbClr val="4F46E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5" name="Google Shape;255;p30"/>
          <p:cNvSpPr/>
          <p:nvPr/>
        </p:nvSpPr>
        <p:spPr>
          <a:xfrm>
            <a:off x="6263595" y="3943760"/>
            <a:ext cx="1005900" cy="1005900"/>
          </a:xfrm>
          <a:prstGeom prst="rect">
            <a:avLst/>
          </a:prstGeom>
          <a:solidFill>
            <a:srgbClr val="F8FAFC"/>
          </a:solidFill>
          <a:ln cap="flat" cmpd="sng" w="12700">
            <a:solidFill>
              <a:srgbClr val="4F46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6" name="Google Shape;256;p30"/>
          <p:cNvSpPr/>
          <p:nvPr/>
        </p:nvSpPr>
        <p:spPr>
          <a:xfrm>
            <a:off x="6263595" y="3989480"/>
            <a:ext cx="10059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F46E5"/>
              </a:buClr>
              <a:buSzPts val="1000"/>
              <a:buFont typeface="Outfit"/>
              <a:buNone/>
            </a:pPr>
            <a:r>
              <a:rPr b="1" i="0" lang="en" sz="1000" u="none" cap="none" strike="noStrike">
                <a:solidFill>
                  <a:srgbClr val="4F46E5"/>
                </a:solidFill>
                <a:latin typeface="Outfit"/>
                <a:ea typeface="Outfit"/>
                <a:cs typeface="Outfit"/>
                <a:sym typeface="Outfit"/>
              </a:rPr>
              <a:t>GPT-4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30"/>
          <p:cNvSpPr/>
          <p:nvPr/>
        </p:nvSpPr>
        <p:spPr>
          <a:xfrm>
            <a:off x="6263595" y="4263800"/>
            <a:ext cx="10059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800"/>
              <a:buFont typeface="Outfit"/>
              <a:buNone/>
            </a:pPr>
            <a:r>
              <a:rPr b="0" i="0" lang="en" sz="800" u="none" cap="none" strike="noStrike">
                <a:solidFill>
                  <a:srgbClr val="94A3B8"/>
                </a:solidFill>
                <a:latin typeface="Outfit"/>
                <a:ea typeface="Outfit"/>
                <a:cs typeface="Outfit"/>
                <a:sym typeface="Outfit"/>
              </a:rPr>
              <a:t>OpenAI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800"/>
              <a:buFont typeface="Outfit"/>
              <a:buNone/>
            </a:pPr>
            <a:r>
              <a:rPr b="0" i="0" lang="en" sz="800" u="none" cap="none" strike="noStrike">
                <a:solidFill>
                  <a:srgbClr val="94A3B8"/>
                </a:solidFill>
                <a:latin typeface="Outfit"/>
                <a:ea typeface="Outfit"/>
                <a:cs typeface="Outfit"/>
                <a:sym typeface="Outfit"/>
              </a:rPr>
              <a:t>MoE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30"/>
          <p:cNvSpPr/>
          <p:nvPr/>
        </p:nvSpPr>
        <p:spPr>
          <a:xfrm>
            <a:off x="6263595" y="4675280"/>
            <a:ext cx="10059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900"/>
              <a:buFont typeface="Outfit"/>
              <a:buNone/>
            </a:pPr>
            <a:r>
              <a:rPr b="0" i="0" lang="en" sz="9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2023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30"/>
          <p:cNvSpPr/>
          <p:nvPr/>
        </p:nvSpPr>
        <p:spPr>
          <a:xfrm>
            <a:off x="6693363" y="3696872"/>
            <a:ext cx="18300" cy="2469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0" name="Google Shape;260;p30"/>
          <p:cNvSpPr/>
          <p:nvPr/>
        </p:nvSpPr>
        <p:spPr>
          <a:xfrm>
            <a:off x="8000955" y="3532280"/>
            <a:ext cx="164700" cy="164700"/>
          </a:xfrm>
          <a:prstGeom prst="ellipse">
            <a:avLst/>
          </a:prstGeom>
          <a:solidFill>
            <a:srgbClr val="DC262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1" name="Google Shape;261;p30"/>
          <p:cNvSpPr/>
          <p:nvPr/>
        </p:nvSpPr>
        <p:spPr>
          <a:xfrm>
            <a:off x="7635195" y="2435000"/>
            <a:ext cx="1005900" cy="1005900"/>
          </a:xfrm>
          <a:prstGeom prst="rect">
            <a:avLst/>
          </a:prstGeom>
          <a:solidFill>
            <a:srgbClr val="F8FAFC"/>
          </a:solidFill>
          <a:ln cap="flat" cmpd="sng" w="12700">
            <a:solidFill>
              <a:srgbClr val="DC262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2" name="Google Shape;262;p30"/>
          <p:cNvSpPr/>
          <p:nvPr/>
        </p:nvSpPr>
        <p:spPr>
          <a:xfrm>
            <a:off x="7635195" y="2480720"/>
            <a:ext cx="10059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C2626"/>
              </a:buClr>
              <a:buSzPts val="1000"/>
              <a:buFont typeface="Outfit"/>
              <a:buNone/>
            </a:pPr>
            <a:r>
              <a:rPr b="1" i="0" lang="en" sz="1000" u="none" cap="none" strike="noStrike">
                <a:solidFill>
                  <a:srgbClr val="DC2626"/>
                </a:solidFill>
                <a:latin typeface="Outfit"/>
                <a:ea typeface="Outfit"/>
                <a:cs typeface="Outfit"/>
                <a:sym typeface="Outfit"/>
              </a:rPr>
              <a:t>DeepSeek-R1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30"/>
          <p:cNvSpPr/>
          <p:nvPr/>
        </p:nvSpPr>
        <p:spPr>
          <a:xfrm>
            <a:off x="7635195" y="2755040"/>
            <a:ext cx="10059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800"/>
              <a:buFont typeface="Outfit"/>
              <a:buNone/>
            </a:pPr>
            <a:r>
              <a:rPr b="0" i="0" lang="en" sz="800" u="none" cap="none" strike="noStrike">
                <a:solidFill>
                  <a:srgbClr val="94A3B8"/>
                </a:solidFill>
                <a:latin typeface="Outfit"/>
                <a:ea typeface="Outfit"/>
                <a:cs typeface="Outfit"/>
                <a:sym typeface="Outfit"/>
              </a:rPr>
              <a:t>DeepSeek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800"/>
              <a:buFont typeface="Outfit"/>
              <a:buNone/>
            </a:pPr>
            <a:r>
              <a:rPr b="0" i="0" lang="en" sz="800" u="none" cap="none" strike="noStrike">
                <a:solidFill>
                  <a:srgbClr val="94A3B8"/>
                </a:solidFill>
                <a:latin typeface="Outfit"/>
                <a:ea typeface="Outfit"/>
                <a:cs typeface="Outfit"/>
                <a:sym typeface="Outfit"/>
              </a:rPr>
              <a:t>671B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30"/>
          <p:cNvSpPr/>
          <p:nvPr/>
        </p:nvSpPr>
        <p:spPr>
          <a:xfrm>
            <a:off x="7635195" y="3166520"/>
            <a:ext cx="10059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900"/>
              <a:buFont typeface="Outfit"/>
              <a:buNone/>
            </a:pPr>
            <a:r>
              <a:rPr b="0" i="0" lang="en" sz="9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2025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30"/>
          <p:cNvSpPr/>
          <p:nvPr/>
        </p:nvSpPr>
        <p:spPr>
          <a:xfrm>
            <a:off x="8064963" y="3440840"/>
            <a:ext cx="18300" cy="915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6" name="Google Shape;266;p30"/>
          <p:cNvSpPr txBox="1"/>
          <p:nvPr>
            <p:ph idx="1" type="body"/>
          </p:nvPr>
        </p:nvSpPr>
        <p:spPr>
          <a:xfrm>
            <a:off x="311700" y="1129580"/>
            <a:ext cx="8520600" cy="12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"/>
              <a:t>Every 1–2 years, a new approach dominates</a:t>
            </a:r>
            <a:endParaRPr/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"/>
              <a:t>Bigger models, better data, smarter training</a:t>
            </a:r>
            <a:endParaRPr/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"/>
              <a:t>Thursday's papers span this entire timeline</a:t>
            </a:r>
            <a:endParaRPr/>
          </a:p>
        </p:txBody>
      </p:sp>
      <p:sp>
        <p:nvSpPr>
          <p:cNvPr id="267" name="Google Shape;267;p30"/>
          <p:cNvSpPr txBox="1"/>
          <p:nvPr>
            <p:ph type="title"/>
          </p:nvPr>
        </p:nvSpPr>
        <p:spPr>
          <a:xfrm>
            <a:off x="311700" y="228600"/>
            <a:ext cx="8520600" cy="61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model landscape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31"/>
          <p:cNvSpPr txBox="1"/>
          <p:nvPr>
            <p:ph type="title"/>
          </p:nvPr>
        </p:nvSpPr>
        <p:spPr>
          <a:xfrm>
            <a:off x="914400" y="1737360"/>
            <a:ext cx="76809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Georgia"/>
              <a:buNone/>
            </a:pPr>
            <a:r>
              <a:rPr b="1" lang="en" sz="3200">
                <a:solidFill>
                  <a:srgbClr val="FFFFFF"/>
                </a:solidFill>
              </a:rPr>
              <a:t>Fine-tuning &amp; alignment</a:t>
            </a:r>
            <a:endParaRPr b="1" sz="3200">
              <a:solidFill>
                <a:srgbClr val="FFFFFF"/>
              </a:solidFill>
            </a:endParaRPr>
          </a:p>
        </p:txBody>
      </p:sp>
      <p:sp>
        <p:nvSpPr>
          <p:cNvPr id="274" name="Google Shape;274;p31"/>
          <p:cNvSpPr txBox="1"/>
          <p:nvPr>
            <p:ph idx="1" type="body"/>
          </p:nvPr>
        </p:nvSpPr>
        <p:spPr>
          <a:xfrm>
            <a:off x="914400" y="2743200"/>
            <a:ext cx="7680900" cy="1097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rgbClr val="94A3B8"/>
              </a:buClr>
              <a:buSzPts val="1600"/>
              <a:buNone/>
            </a:pPr>
            <a:r>
              <a:rPr lang="en" sz="1600">
                <a:solidFill>
                  <a:srgbClr val="4F46E5"/>
                </a:solidFill>
              </a:rPr>
              <a:t>How raw language models become useful assistant</a:t>
            </a:r>
            <a:endParaRPr sz="1600">
              <a:solidFill>
                <a:srgbClr val="4F46E5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32"/>
          <p:cNvSpPr/>
          <p:nvPr/>
        </p:nvSpPr>
        <p:spPr>
          <a:xfrm>
            <a:off x="548640" y="274320"/>
            <a:ext cx="80466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46E5"/>
              </a:buClr>
              <a:buSzPts val="2400"/>
              <a:buFont typeface="Outfit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32"/>
          <p:cNvSpPr/>
          <p:nvPr/>
        </p:nvSpPr>
        <p:spPr>
          <a:xfrm>
            <a:off x="274320" y="1650546"/>
            <a:ext cx="2560200" cy="2560200"/>
          </a:xfrm>
          <a:prstGeom prst="rect">
            <a:avLst/>
          </a:prstGeom>
          <a:solidFill>
            <a:srgbClr val="F8FAFC"/>
          </a:solidFill>
          <a:ln cap="flat" cmpd="sng" w="19050">
            <a:solidFill>
              <a:srgbClr val="4F46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2" name="Google Shape;282;p32"/>
          <p:cNvSpPr/>
          <p:nvPr/>
        </p:nvSpPr>
        <p:spPr>
          <a:xfrm>
            <a:off x="1325880" y="1741986"/>
            <a:ext cx="457200" cy="457200"/>
          </a:xfrm>
          <a:prstGeom prst="ellipse">
            <a:avLst/>
          </a:prstGeom>
          <a:solidFill>
            <a:srgbClr val="4F46E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32"/>
          <p:cNvSpPr/>
          <p:nvPr/>
        </p:nvSpPr>
        <p:spPr>
          <a:xfrm>
            <a:off x="1325880" y="1741986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Outfit"/>
              <a:buNone/>
            </a:pPr>
            <a:r>
              <a:rPr b="1" i="0" lang="en" sz="1800" u="none" cap="none" strike="noStrike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1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32"/>
          <p:cNvSpPr/>
          <p:nvPr/>
        </p:nvSpPr>
        <p:spPr>
          <a:xfrm>
            <a:off x="274320" y="2290626"/>
            <a:ext cx="25602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F46E5"/>
              </a:buClr>
              <a:buSzPts val="1500"/>
              <a:buFont typeface="Outfit"/>
              <a:buNone/>
            </a:pPr>
            <a:r>
              <a:rPr b="1" i="0" lang="en" sz="1500" u="none" cap="none" strike="noStrike">
                <a:solidFill>
                  <a:srgbClr val="4F46E5"/>
                </a:solidFill>
                <a:latin typeface="Outfit"/>
                <a:ea typeface="Outfit"/>
                <a:cs typeface="Outfit"/>
                <a:sym typeface="Outfit"/>
              </a:rPr>
              <a:t>PRETRAIN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32"/>
          <p:cNvSpPr/>
          <p:nvPr/>
        </p:nvSpPr>
        <p:spPr>
          <a:xfrm>
            <a:off x="365760" y="2656386"/>
            <a:ext cx="23775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200"/>
              <a:buFont typeface="Outfit"/>
              <a:buNone/>
            </a:pPr>
            <a:r>
              <a:rPr b="0" i="0" lang="en" sz="12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Learn general representations from massive unlabeled data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32"/>
          <p:cNvSpPr/>
          <p:nvPr/>
        </p:nvSpPr>
        <p:spPr>
          <a:xfrm>
            <a:off x="457200" y="3342186"/>
            <a:ext cx="2194500" cy="7314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4F46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7" name="Google Shape;287;p32"/>
          <p:cNvSpPr/>
          <p:nvPr/>
        </p:nvSpPr>
        <p:spPr>
          <a:xfrm>
            <a:off x="457150" y="3342175"/>
            <a:ext cx="21945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Outfit"/>
              <a:buNone/>
            </a:pPr>
            <a:r>
              <a:rPr b="1" i="1" lang="en" sz="1200" u="none" cap="none" strike="noStrike">
                <a:solidFill>
                  <a:srgbClr val="94A3B8"/>
                </a:solidFill>
                <a:latin typeface="Outfit"/>
                <a:ea typeface="Outfit"/>
                <a:cs typeface="Outfit"/>
                <a:sym typeface="Outfit"/>
              </a:rPr>
              <a:t>GPT-3</a:t>
            </a:r>
            <a:r>
              <a:rPr b="0" i="0" lang="en" sz="1200" u="none" cap="none" strike="noStrike">
                <a:solidFill>
                  <a:srgbClr val="94A3B8"/>
                </a:solidFill>
                <a:latin typeface="Outfit"/>
                <a:ea typeface="Outfit"/>
                <a:cs typeface="Outfit"/>
                <a:sym typeface="Outfit"/>
              </a:rPr>
              <a:t> trained on 300B</a:t>
            </a:r>
            <a:r>
              <a:rPr lang="en" sz="1200">
                <a:solidFill>
                  <a:srgbClr val="94A3B8"/>
                </a:solidFill>
                <a:latin typeface="Outfit"/>
                <a:ea typeface="Outfit"/>
                <a:cs typeface="Outfit"/>
                <a:sym typeface="Outfit"/>
              </a:rPr>
              <a:t> </a:t>
            </a:r>
            <a:r>
              <a:rPr b="0" i="0" lang="en" sz="1200" u="none" cap="none" strike="noStrike">
                <a:solidFill>
                  <a:srgbClr val="94A3B8"/>
                </a:solidFill>
                <a:latin typeface="Outfit"/>
                <a:ea typeface="Outfit"/>
                <a:cs typeface="Outfit"/>
                <a:sym typeface="Outfit"/>
              </a:rPr>
              <a:t>tokens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" sz="1200" u="none" cap="none" strike="noStrike">
                <a:solidFill>
                  <a:srgbClr val="94A3B8"/>
                </a:solidFill>
                <a:latin typeface="Outfit"/>
                <a:ea typeface="Outfit"/>
                <a:cs typeface="Outfit"/>
                <a:sym typeface="Outfit"/>
              </a:rPr>
              <a:t>from books, web, Wikipedia, etc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32"/>
          <p:cNvSpPr/>
          <p:nvPr/>
        </p:nvSpPr>
        <p:spPr>
          <a:xfrm>
            <a:off x="2754902" y="2564946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2200"/>
              <a:buFont typeface="Outfit"/>
              <a:buNone/>
            </a:pPr>
            <a:r>
              <a:rPr b="0" i="0" lang="en" sz="2200" u="none" cap="none" strike="noStrike">
                <a:solidFill>
                  <a:srgbClr val="94A3B8"/>
                </a:solidFill>
                <a:latin typeface="Outfit"/>
                <a:ea typeface="Outfit"/>
                <a:cs typeface="Outfit"/>
                <a:sym typeface="Outfit"/>
              </a:rPr>
              <a:t>→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32"/>
          <p:cNvSpPr/>
          <p:nvPr/>
        </p:nvSpPr>
        <p:spPr>
          <a:xfrm>
            <a:off x="3108960" y="1650546"/>
            <a:ext cx="2560200" cy="2560200"/>
          </a:xfrm>
          <a:prstGeom prst="rect">
            <a:avLst/>
          </a:prstGeom>
          <a:solidFill>
            <a:srgbClr val="F8FAFC"/>
          </a:solidFill>
          <a:ln cap="flat" cmpd="sng" w="19050">
            <a:solidFill>
              <a:srgbClr val="0891B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0" name="Google Shape;290;p32"/>
          <p:cNvSpPr/>
          <p:nvPr/>
        </p:nvSpPr>
        <p:spPr>
          <a:xfrm>
            <a:off x="4160520" y="1741986"/>
            <a:ext cx="457200" cy="457200"/>
          </a:xfrm>
          <a:prstGeom prst="ellipse">
            <a:avLst/>
          </a:prstGeom>
          <a:solidFill>
            <a:srgbClr val="0891B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1" name="Google Shape;291;p32"/>
          <p:cNvSpPr/>
          <p:nvPr/>
        </p:nvSpPr>
        <p:spPr>
          <a:xfrm>
            <a:off x="4160520" y="1741986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Outfit"/>
              <a:buNone/>
            </a:pPr>
            <a:r>
              <a:rPr b="1" i="0" lang="en" sz="1800" u="none" cap="none" strike="noStrike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2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32"/>
          <p:cNvSpPr/>
          <p:nvPr/>
        </p:nvSpPr>
        <p:spPr>
          <a:xfrm>
            <a:off x="3108960" y="2290626"/>
            <a:ext cx="25602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891B2"/>
              </a:buClr>
              <a:buSzPts val="1500"/>
              <a:buFont typeface="Outfit"/>
              <a:buNone/>
            </a:pPr>
            <a:r>
              <a:rPr b="1" lang="en" sz="1500">
                <a:solidFill>
                  <a:srgbClr val="0891B2"/>
                </a:solidFill>
                <a:latin typeface="Outfit"/>
                <a:ea typeface="Outfit"/>
                <a:cs typeface="Outfit"/>
                <a:sym typeface="Outfit"/>
              </a:rPr>
              <a:t>FINETUNE/TRANSFER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32"/>
          <p:cNvSpPr/>
          <p:nvPr/>
        </p:nvSpPr>
        <p:spPr>
          <a:xfrm>
            <a:off x="3200400" y="2656386"/>
            <a:ext cx="23775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200"/>
              <a:buFont typeface="Outfit"/>
              <a:buNone/>
            </a:pPr>
            <a:r>
              <a:rPr b="0" i="0" lang="en" sz="12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Fine-tune for safety, helpfulness, or specific tasks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32"/>
          <p:cNvSpPr/>
          <p:nvPr/>
        </p:nvSpPr>
        <p:spPr>
          <a:xfrm>
            <a:off x="3291840" y="3342186"/>
            <a:ext cx="2194500" cy="7314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0891B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2"/>
          <p:cNvSpPr/>
          <p:nvPr/>
        </p:nvSpPr>
        <p:spPr>
          <a:xfrm>
            <a:off x="3300900" y="3342175"/>
            <a:ext cx="21945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Outfit"/>
              <a:buNone/>
            </a:pPr>
            <a:r>
              <a:rPr b="1" i="1" lang="en" sz="1200" u="none" cap="none" strike="noStrike">
                <a:solidFill>
                  <a:srgbClr val="94A3B8"/>
                </a:solidFill>
                <a:latin typeface="Outfit"/>
                <a:ea typeface="Outfit"/>
                <a:cs typeface="Outfit"/>
                <a:sym typeface="Outfit"/>
              </a:rPr>
              <a:t>InstructGPT</a:t>
            </a:r>
            <a:r>
              <a:rPr b="0" i="0" lang="en" sz="1200" u="none" cap="none" strike="noStrike">
                <a:solidFill>
                  <a:srgbClr val="94A3B8"/>
                </a:solidFill>
                <a:latin typeface="Outfit"/>
                <a:ea typeface="Outfit"/>
                <a:cs typeface="Outfit"/>
                <a:sym typeface="Outfit"/>
              </a:rPr>
              <a:t> used RLHF,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Outfit"/>
              <a:buNone/>
            </a:pPr>
            <a:r>
              <a:rPr b="0" i="0" lang="en" sz="1200" u="none" cap="none" strike="noStrike">
                <a:solidFill>
                  <a:srgbClr val="94A3B8"/>
                </a:solidFill>
                <a:latin typeface="Outfit"/>
                <a:ea typeface="Outfit"/>
                <a:cs typeface="Outfit"/>
                <a:sym typeface="Outfit"/>
              </a:rPr>
              <a:t>LoRA adapts with 0.1% of params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32"/>
          <p:cNvSpPr/>
          <p:nvPr/>
        </p:nvSpPr>
        <p:spPr>
          <a:xfrm>
            <a:off x="5589542" y="2564946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2200"/>
              <a:buFont typeface="Outfit"/>
              <a:buNone/>
            </a:pPr>
            <a:r>
              <a:rPr b="0" i="0" lang="en" sz="2200" u="none" cap="none" strike="noStrike">
                <a:solidFill>
                  <a:srgbClr val="94A3B8"/>
                </a:solidFill>
                <a:latin typeface="Outfit"/>
                <a:ea typeface="Outfit"/>
                <a:cs typeface="Outfit"/>
                <a:sym typeface="Outfit"/>
              </a:rPr>
              <a:t>→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32"/>
          <p:cNvSpPr/>
          <p:nvPr/>
        </p:nvSpPr>
        <p:spPr>
          <a:xfrm>
            <a:off x="5943600" y="1650546"/>
            <a:ext cx="2560200" cy="2560200"/>
          </a:xfrm>
          <a:prstGeom prst="rect">
            <a:avLst/>
          </a:prstGeom>
          <a:solidFill>
            <a:srgbClr val="F8FAFC"/>
          </a:solidFill>
          <a:ln cap="flat" cmpd="sng" w="19050">
            <a:solidFill>
              <a:srgbClr val="0E749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8" name="Google Shape;298;p32"/>
          <p:cNvSpPr/>
          <p:nvPr/>
        </p:nvSpPr>
        <p:spPr>
          <a:xfrm>
            <a:off x="6995160" y="1741986"/>
            <a:ext cx="457200" cy="457200"/>
          </a:xfrm>
          <a:prstGeom prst="ellipse">
            <a:avLst/>
          </a:prstGeom>
          <a:solidFill>
            <a:srgbClr val="0E749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9" name="Google Shape;299;p32"/>
          <p:cNvSpPr/>
          <p:nvPr/>
        </p:nvSpPr>
        <p:spPr>
          <a:xfrm>
            <a:off x="6995160" y="1741986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Outfit"/>
              <a:buNone/>
            </a:pPr>
            <a:r>
              <a:rPr b="1" i="0" lang="en" sz="1800" u="none" cap="none" strike="noStrike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3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32"/>
          <p:cNvSpPr/>
          <p:nvPr/>
        </p:nvSpPr>
        <p:spPr>
          <a:xfrm>
            <a:off x="5943600" y="2290626"/>
            <a:ext cx="25602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E7490"/>
              </a:buClr>
              <a:buSzPts val="1500"/>
              <a:buFont typeface="Outfit"/>
              <a:buNone/>
            </a:pPr>
            <a:r>
              <a:rPr b="1" lang="en" sz="1500">
                <a:solidFill>
                  <a:srgbClr val="0E7490"/>
                </a:solidFill>
                <a:latin typeface="Outfit"/>
                <a:ea typeface="Outfit"/>
                <a:cs typeface="Outfit"/>
                <a:sym typeface="Outfit"/>
              </a:rPr>
              <a:t>DEPLOY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32"/>
          <p:cNvSpPr/>
          <p:nvPr/>
        </p:nvSpPr>
        <p:spPr>
          <a:xfrm>
            <a:off x="6035040" y="2656386"/>
            <a:ext cx="23775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200"/>
              <a:buFont typeface="Outfit"/>
              <a:buNone/>
            </a:pPr>
            <a:r>
              <a:rPr b="0" i="0" lang="en" sz="12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Use via prompting</a:t>
            </a:r>
            <a:r>
              <a:rPr lang="en" sz="1200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 and/or</a:t>
            </a:r>
            <a:r>
              <a:rPr b="0" i="0" lang="en" sz="12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 few-shot examples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32"/>
          <p:cNvSpPr/>
          <p:nvPr/>
        </p:nvSpPr>
        <p:spPr>
          <a:xfrm>
            <a:off x="6126480" y="3342186"/>
            <a:ext cx="2194500" cy="7314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0E749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32"/>
          <p:cNvSpPr/>
          <p:nvPr/>
        </p:nvSpPr>
        <p:spPr>
          <a:xfrm>
            <a:off x="6126475" y="3342175"/>
            <a:ext cx="21945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Outfit"/>
              <a:buNone/>
            </a:pPr>
            <a:r>
              <a:rPr b="1" i="1" lang="en" sz="1200" u="none" cap="none" strike="noStrike">
                <a:solidFill>
                  <a:srgbClr val="94A3B8"/>
                </a:solidFill>
                <a:latin typeface="Outfit"/>
                <a:ea typeface="Outfit"/>
                <a:cs typeface="Outfit"/>
                <a:sym typeface="Outfit"/>
              </a:rPr>
              <a:t>ChatGPT, Claude, Gemini</a:t>
            </a:r>
            <a:endParaRPr b="1" i="1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Outfit"/>
              <a:buNone/>
            </a:pPr>
            <a:r>
              <a:rPr b="0" i="0" lang="en" sz="1200" u="none" cap="none" strike="noStrike">
                <a:solidFill>
                  <a:srgbClr val="94A3B8"/>
                </a:solidFill>
                <a:latin typeface="Outfit"/>
                <a:ea typeface="Outfit"/>
                <a:cs typeface="Outfit"/>
                <a:sym typeface="Outfit"/>
              </a:rPr>
              <a:t>all follow this pipeline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32"/>
          <p:cNvSpPr txBox="1"/>
          <p:nvPr>
            <p:ph type="title"/>
          </p:nvPr>
        </p:nvSpPr>
        <p:spPr>
          <a:xfrm>
            <a:off x="311700" y="228600"/>
            <a:ext cx="8520600" cy="61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foundation model pipeline</a:t>
            </a:r>
            <a:endParaRPr/>
          </a:p>
        </p:txBody>
      </p:sp>
      <p:sp>
        <p:nvSpPr>
          <p:cNvPr id="305" name="Google Shape;305;p32"/>
          <p:cNvSpPr txBox="1"/>
          <p:nvPr>
            <p:ph idx="1" type="body"/>
          </p:nvPr>
        </p:nvSpPr>
        <p:spPr>
          <a:xfrm>
            <a:off x="311700" y="1042171"/>
            <a:ext cx="8520600" cy="52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Every modern AI system follows the same three-stage recipe:</a:t>
            </a:r>
            <a:endParaRPr/>
          </a:p>
        </p:txBody>
      </p:sp>
      <p:sp>
        <p:nvSpPr>
          <p:cNvPr id="306" name="Google Shape;306;p32"/>
          <p:cNvSpPr txBox="1"/>
          <p:nvPr>
            <p:ph idx="2" type="subTitle"/>
          </p:nvPr>
        </p:nvSpPr>
        <p:spPr>
          <a:xfrm>
            <a:off x="-3870" y="4726261"/>
            <a:ext cx="4046100" cy="411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see Bommasani et al </a:t>
            </a:r>
            <a:r>
              <a:rPr b="1" lang="en">
                <a:latin typeface="Zilla Slab"/>
                <a:ea typeface="Zilla Slab"/>
                <a:cs typeface="Zilla Slab"/>
                <a:sym typeface="Zilla Slab"/>
              </a:rPr>
              <a:t>arXiv 2021</a:t>
            </a:r>
            <a:endParaRPr b="1">
              <a:latin typeface="Zilla Slab"/>
              <a:ea typeface="Zilla Slab"/>
              <a:cs typeface="Zilla Slab"/>
              <a:sym typeface="Zilla Slab"/>
            </a:endParaRPr>
          </a:p>
        </p:txBody>
      </p:sp>
      <p:sp>
        <p:nvSpPr>
          <p:cNvPr id="307" name="Google Shape;307;p32"/>
          <p:cNvSpPr txBox="1"/>
          <p:nvPr/>
        </p:nvSpPr>
        <p:spPr>
          <a:xfrm>
            <a:off x="274325" y="4325625"/>
            <a:ext cx="82296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0E7490"/>
                </a:solidFill>
                <a:latin typeface="Outfit"/>
                <a:ea typeface="Outfit"/>
                <a:cs typeface="Outfit"/>
                <a:sym typeface="Outfit"/>
              </a:rPr>
              <a:t>Foundation models: pretrain on huge datasets (expensive) then adapt to tasks (cheap).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"/>
          <p:cNvSpPr/>
          <p:nvPr/>
        </p:nvSpPr>
        <p:spPr>
          <a:xfrm>
            <a:off x="640080" y="949631"/>
            <a:ext cx="78639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500"/>
              <a:buFont typeface="Outfit"/>
              <a:buNone/>
            </a:pPr>
            <a:r>
              <a:rPr i="0" lang="en" sz="15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A model trained to "predict the next word" is powerful but uncontrolled:</a:t>
            </a:r>
            <a:endParaRPr i="0" sz="1500" u="none" cap="none" strike="noStrike">
              <a:solidFill>
                <a:schemeClr val="dk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314" name="Google Shape;314;p33"/>
          <p:cNvSpPr/>
          <p:nvPr/>
        </p:nvSpPr>
        <p:spPr>
          <a:xfrm>
            <a:off x="365750" y="1371600"/>
            <a:ext cx="3840600" cy="1964400"/>
          </a:xfrm>
          <a:prstGeom prst="rect">
            <a:avLst/>
          </a:prstGeom>
          <a:solidFill>
            <a:srgbClr val="FEF2F2"/>
          </a:solidFill>
          <a:ln cap="flat" cmpd="sng" w="12700">
            <a:solidFill>
              <a:srgbClr val="DC262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5" name="Google Shape;315;p33"/>
          <p:cNvSpPr/>
          <p:nvPr/>
        </p:nvSpPr>
        <p:spPr>
          <a:xfrm>
            <a:off x="365760" y="1417320"/>
            <a:ext cx="38406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C2626"/>
              </a:buClr>
              <a:buSzPts val="1300"/>
              <a:buFont typeface="Outfit"/>
              <a:buNone/>
            </a:pPr>
            <a:r>
              <a:rPr b="1" i="0" lang="en" sz="1600" u="none" cap="none" strike="noStrike">
                <a:solidFill>
                  <a:srgbClr val="DC2626"/>
                </a:solidFill>
                <a:latin typeface="Outfit"/>
                <a:ea typeface="Outfit"/>
                <a:cs typeface="Outfit"/>
                <a:sym typeface="Outfit"/>
              </a:rPr>
              <a:t>❌  Raw GPT-3 (before alignment)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33"/>
          <p:cNvSpPr/>
          <p:nvPr/>
        </p:nvSpPr>
        <p:spPr>
          <a:xfrm>
            <a:off x="548650" y="1801934"/>
            <a:ext cx="3474600" cy="123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300"/>
              <a:buFont typeface="Outfit"/>
              <a:buNone/>
            </a:pPr>
            <a:r>
              <a:rPr b="1" i="0" lang="en" sz="1200" u="none" cap="none" strike="noStrike">
                <a:solidFill>
                  <a:srgbClr val="334155"/>
                </a:solidFill>
                <a:latin typeface="Outfit"/>
                <a:ea typeface="Outfit"/>
                <a:cs typeface="Outfit"/>
                <a:sym typeface="Outfit"/>
              </a:rPr>
              <a:t>User: </a:t>
            </a:r>
            <a:r>
              <a:rPr b="0" i="0" lang="en" sz="12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Write a poem about spring.</a:t>
            </a:r>
            <a:br>
              <a:rPr b="0" i="0" lang="en" sz="12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</a:br>
            <a:br>
              <a:rPr b="0" i="0" lang="en" sz="12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</a:br>
            <a:r>
              <a:rPr b="1" i="0" lang="en" sz="1200" u="none" cap="none" strike="noStrike">
                <a:solidFill>
                  <a:srgbClr val="DC2626"/>
                </a:solidFill>
                <a:latin typeface="Outfit"/>
                <a:ea typeface="Outfit"/>
                <a:cs typeface="Outfit"/>
                <a:sym typeface="Outfit"/>
              </a:rPr>
              <a:t>GPT-3: </a:t>
            </a:r>
            <a:r>
              <a:rPr b="0" i="1" lang="en" sz="12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Write a poem about spring.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300"/>
              <a:buFont typeface="Outfit"/>
              <a:buNone/>
            </a:pPr>
            <a:r>
              <a:rPr b="0" i="1" lang="en" sz="12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Write a poem about summer.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300"/>
              <a:buFont typeface="Outfit"/>
              <a:buNone/>
            </a:pPr>
            <a:r>
              <a:rPr b="0" i="1" lang="en" sz="12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Write a poem about fall.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300"/>
              <a:buFont typeface="Outfit"/>
              <a:buNone/>
            </a:pPr>
            <a:r>
              <a:rPr b="0" i="1" lang="en" sz="12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Write a poem about...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33"/>
          <p:cNvSpPr/>
          <p:nvPr/>
        </p:nvSpPr>
        <p:spPr>
          <a:xfrm>
            <a:off x="365750" y="2970338"/>
            <a:ext cx="38406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C2626"/>
              </a:buClr>
              <a:buSzPts val="1100"/>
              <a:buFont typeface="Outfit"/>
              <a:buNone/>
            </a:pPr>
            <a:r>
              <a:rPr b="0" i="0" lang="en" sz="1300" u="none" cap="none" strike="noStrike">
                <a:solidFill>
                  <a:srgbClr val="DC2626"/>
                </a:solidFill>
                <a:latin typeface="Outfit"/>
                <a:ea typeface="Outfit"/>
                <a:cs typeface="Outfit"/>
                <a:sym typeface="Outfit"/>
              </a:rPr>
              <a:t>Completes text, doesn't follow instructions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33"/>
          <p:cNvSpPr/>
          <p:nvPr/>
        </p:nvSpPr>
        <p:spPr>
          <a:xfrm>
            <a:off x="4937750" y="1371600"/>
            <a:ext cx="3840600" cy="1964400"/>
          </a:xfrm>
          <a:prstGeom prst="rect">
            <a:avLst/>
          </a:prstGeom>
          <a:solidFill>
            <a:srgbClr val="F0FDF4"/>
          </a:solidFill>
          <a:ln cap="flat" cmpd="sng" w="12700">
            <a:solidFill>
              <a:srgbClr val="16A3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9" name="Google Shape;319;p33"/>
          <p:cNvSpPr/>
          <p:nvPr/>
        </p:nvSpPr>
        <p:spPr>
          <a:xfrm>
            <a:off x="4937760" y="1417320"/>
            <a:ext cx="38406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6A34A"/>
              </a:buClr>
              <a:buSzPts val="1300"/>
              <a:buFont typeface="Outfit"/>
              <a:buNone/>
            </a:pPr>
            <a:r>
              <a:rPr b="1" i="0" lang="en" sz="1600" u="none" cap="none" strike="noStrike">
                <a:solidFill>
                  <a:srgbClr val="16A34A"/>
                </a:solidFill>
                <a:latin typeface="Outfit"/>
                <a:ea typeface="Outfit"/>
                <a:cs typeface="Outfit"/>
                <a:sym typeface="Outfit"/>
              </a:rPr>
              <a:t>✓  After RLHF (InstructGPT/ChatGPT)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33"/>
          <p:cNvSpPr/>
          <p:nvPr/>
        </p:nvSpPr>
        <p:spPr>
          <a:xfrm>
            <a:off x="5120655" y="1801941"/>
            <a:ext cx="3619500" cy="123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300"/>
              <a:buFont typeface="Outfit"/>
              <a:buNone/>
            </a:pPr>
            <a:r>
              <a:rPr b="1" i="0" lang="en" sz="1200" u="none" cap="none" strike="noStrike">
                <a:solidFill>
                  <a:srgbClr val="334155"/>
                </a:solidFill>
                <a:latin typeface="Outfit"/>
                <a:ea typeface="Outfit"/>
                <a:cs typeface="Outfit"/>
                <a:sym typeface="Outfit"/>
              </a:rPr>
              <a:t>User: </a:t>
            </a:r>
            <a:r>
              <a:rPr b="0" i="0" lang="en" sz="12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Write a poem about spring.</a:t>
            </a:r>
            <a:br>
              <a:rPr b="0" i="0" lang="en" sz="12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</a:br>
            <a:br>
              <a:rPr b="0" i="0" lang="en" sz="12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</a:br>
            <a:r>
              <a:rPr b="1" lang="en" sz="1200">
                <a:solidFill>
                  <a:srgbClr val="16A34A"/>
                </a:solidFill>
                <a:latin typeface="Outfit"/>
                <a:ea typeface="Outfit"/>
                <a:cs typeface="Outfit"/>
                <a:sym typeface="Outfit"/>
              </a:rPr>
              <a:t>InstructGPT</a:t>
            </a:r>
            <a:r>
              <a:rPr b="1" i="0" lang="en" sz="1200" u="none" cap="none" strike="noStrike">
                <a:solidFill>
                  <a:srgbClr val="16A34A"/>
                </a:solidFill>
                <a:latin typeface="Outfit"/>
                <a:ea typeface="Outfit"/>
                <a:cs typeface="Outfit"/>
                <a:sym typeface="Outfit"/>
              </a:rPr>
              <a:t>: </a:t>
            </a:r>
            <a:r>
              <a:rPr b="0" i="1" lang="en" sz="12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Beneath the thawing earth,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300"/>
              <a:buFont typeface="Outfit"/>
              <a:buNone/>
            </a:pPr>
            <a:r>
              <a:rPr b="0" i="1" lang="en" sz="12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new tendrils push toward light—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300"/>
              <a:buFont typeface="Outfit"/>
              <a:buNone/>
            </a:pPr>
            <a:r>
              <a:rPr b="0" i="1" lang="en" sz="12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spring hums quietly.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33"/>
          <p:cNvSpPr/>
          <p:nvPr/>
        </p:nvSpPr>
        <p:spPr>
          <a:xfrm>
            <a:off x="4966175" y="2970338"/>
            <a:ext cx="37740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6A34A"/>
              </a:buClr>
              <a:buSzPts val="1100"/>
              <a:buFont typeface="Outfit"/>
              <a:buNone/>
            </a:pPr>
            <a:r>
              <a:rPr b="0" i="0" lang="en" sz="1300" u="none" cap="none" strike="noStrike">
                <a:solidFill>
                  <a:srgbClr val="16A34A"/>
                </a:solidFill>
                <a:latin typeface="Outfit"/>
                <a:ea typeface="Outfit"/>
                <a:cs typeface="Outfit"/>
                <a:sym typeface="Outfit"/>
              </a:rPr>
              <a:t>Understands intent, generates helpful response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33"/>
          <p:cNvSpPr txBox="1"/>
          <p:nvPr>
            <p:ph type="title"/>
          </p:nvPr>
        </p:nvSpPr>
        <p:spPr>
          <a:xfrm>
            <a:off x="311700" y="228600"/>
            <a:ext cx="8520600" cy="61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problem with raw pretrained models</a:t>
            </a:r>
            <a:endParaRPr/>
          </a:p>
        </p:txBody>
      </p:sp>
      <p:sp>
        <p:nvSpPr>
          <p:cNvPr id="323" name="Google Shape;323;p33"/>
          <p:cNvSpPr txBox="1"/>
          <p:nvPr>
            <p:ph idx="1" type="body"/>
          </p:nvPr>
        </p:nvSpPr>
        <p:spPr>
          <a:xfrm>
            <a:off x="311700" y="3599202"/>
            <a:ext cx="8520600" cy="153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"/>
              <a:t>G</a:t>
            </a:r>
            <a:r>
              <a:rPr lang="en"/>
              <a:t>ap between "predicts text" and "follows instructions" is called the alignment problem</a:t>
            </a:r>
            <a:endParaRPr/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"/>
              <a:t>InstructGPT/ChatGPT solved this with Reinforcement Learning from Human Feedback (</a:t>
            </a:r>
            <a:r>
              <a:rPr lang="en"/>
              <a:t>RLHF)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34"/>
          <p:cNvSpPr/>
          <p:nvPr/>
        </p:nvSpPr>
        <p:spPr>
          <a:xfrm>
            <a:off x="548640" y="274320"/>
            <a:ext cx="80466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46E5"/>
              </a:buClr>
              <a:buSzPts val="2400"/>
              <a:buFont typeface="Outfit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34"/>
          <p:cNvSpPr/>
          <p:nvPr/>
        </p:nvSpPr>
        <p:spPr>
          <a:xfrm>
            <a:off x="640080" y="868680"/>
            <a:ext cx="78639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500"/>
              <a:buFont typeface="Outfit"/>
              <a:buNone/>
            </a:pPr>
            <a:r>
              <a:rPr b="0" i="0" lang="en" sz="15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Three steps transform a text predictor into an assistant: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34"/>
          <p:cNvSpPr/>
          <p:nvPr/>
        </p:nvSpPr>
        <p:spPr>
          <a:xfrm>
            <a:off x="548640" y="1463040"/>
            <a:ext cx="457200" cy="457200"/>
          </a:xfrm>
          <a:prstGeom prst="ellipse">
            <a:avLst/>
          </a:prstGeom>
          <a:solidFill>
            <a:srgbClr val="4F46E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4"/>
          <p:cNvSpPr/>
          <p:nvPr/>
        </p:nvSpPr>
        <p:spPr>
          <a:xfrm>
            <a:off x="548640" y="146304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Outfit"/>
              <a:buNone/>
            </a:pPr>
            <a:r>
              <a:rPr b="1" i="0" lang="en" sz="1800" u="none" cap="none" strike="noStrike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1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34"/>
          <p:cNvSpPr/>
          <p:nvPr/>
        </p:nvSpPr>
        <p:spPr>
          <a:xfrm>
            <a:off x="1188720" y="1371600"/>
            <a:ext cx="7498200" cy="822900"/>
          </a:xfrm>
          <a:prstGeom prst="rect">
            <a:avLst/>
          </a:prstGeom>
          <a:solidFill>
            <a:srgbClr val="F8FAFC"/>
          </a:solidFill>
          <a:ln cap="flat" cmpd="sng" w="12700">
            <a:solidFill>
              <a:srgbClr val="4F46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4" name="Google Shape;334;p34"/>
          <p:cNvSpPr/>
          <p:nvPr/>
        </p:nvSpPr>
        <p:spPr>
          <a:xfrm>
            <a:off x="1262091" y="1417320"/>
            <a:ext cx="27432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46E5"/>
              </a:buClr>
              <a:buSzPts val="1500"/>
              <a:buFont typeface="Outfit"/>
              <a:buNone/>
            </a:pPr>
            <a:r>
              <a:rPr b="1" i="0" lang="en" sz="1500" u="none" cap="none" strike="noStrike">
                <a:solidFill>
                  <a:srgbClr val="4F46E5"/>
                </a:solidFill>
                <a:latin typeface="Outfit"/>
                <a:ea typeface="Outfit"/>
                <a:cs typeface="Outfit"/>
                <a:sym typeface="Outfit"/>
              </a:rPr>
              <a:t>Supervised fine-tuning (SFT)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p34"/>
          <p:cNvSpPr/>
          <p:nvPr/>
        </p:nvSpPr>
        <p:spPr>
          <a:xfrm>
            <a:off x="4005300" y="1417325"/>
            <a:ext cx="46815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13359" lvl="0" marL="27432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200"/>
              <a:buFont typeface="Outfit"/>
              <a:buChar char="●"/>
            </a:pPr>
            <a:r>
              <a:rPr b="0" i="0" lang="en" sz="12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Show model examples of ideal responses written by hum </a:t>
            </a:r>
            <a:endParaRPr sz="1200">
              <a:solidFill>
                <a:srgbClr val="475569"/>
              </a:solidFill>
              <a:latin typeface="Outfit"/>
              <a:ea typeface="Outfit"/>
              <a:cs typeface="Outfit"/>
              <a:sym typeface="Outfit"/>
            </a:endParaRPr>
          </a:p>
          <a:p>
            <a:pPr indent="-213359" lvl="0" marL="27432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200"/>
              <a:buFont typeface="Outfit"/>
              <a:buChar char="●"/>
            </a:pPr>
            <a:r>
              <a:rPr b="0" i="0" lang="en" sz="12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It learns the format of helpful conversation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34"/>
          <p:cNvSpPr/>
          <p:nvPr/>
        </p:nvSpPr>
        <p:spPr>
          <a:xfrm>
            <a:off x="537908" y="2041247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2200"/>
              <a:buFont typeface="Outfit"/>
              <a:buNone/>
            </a:pPr>
            <a:r>
              <a:rPr b="0" i="0" lang="en" sz="2200" u="none" cap="none" strike="noStrike">
                <a:solidFill>
                  <a:srgbClr val="94A3B8"/>
                </a:solidFill>
                <a:latin typeface="Outfit"/>
                <a:ea typeface="Outfit"/>
                <a:cs typeface="Outfit"/>
                <a:sym typeface="Outfit"/>
              </a:rPr>
              <a:t>↓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34"/>
          <p:cNvSpPr/>
          <p:nvPr/>
        </p:nvSpPr>
        <p:spPr>
          <a:xfrm>
            <a:off x="548640" y="2560320"/>
            <a:ext cx="457200" cy="457200"/>
          </a:xfrm>
          <a:prstGeom prst="ellipse">
            <a:avLst/>
          </a:prstGeom>
          <a:solidFill>
            <a:srgbClr val="0891B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8" name="Google Shape;338;p34"/>
          <p:cNvSpPr/>
          <p:nvPr/>
        </p:nvSpPr>
        <p:spPr>
          <a:xfrm>
            <a:off x="548640" y="256032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Outfit"/>
              <a:buNone/>
            </a:pPr>
            <a:r>
              <a:rPr b="1" i="0" lang="en" sz="1800" u="none" cap="none" strike="noStrike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2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34"/>
          <p:cNvSpPr/>
          <p:nvPr/>
        </p:nvSpPr>
        <p:spPr>
          <a:xfrm>
            <a:off x="1188720" y="2468880"/>
            <a:ext cx="7498200" cy="822900"/>
          </a:xfrm>
          <a:prstGeom prst="rect">
            <a:avLst/>
          </a:prstGeom>
          <a:solidFill>
            <a:srgbClr val="F8FAFC"/>
          </a:solidFill>
          <a:ln cap="flat" cmpd="sng" w="12700">
            <a:solidFill>
              <a:srgbClr val="0891B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0" name="Google Shape;340;p34"/>
          <p:cNvSpPr/>
          <p:nvPr/>
        </p:nvSpPr>
        <p:spPr>
          <a:xfrm>
            <a:off x="1262091" y="2514600"/>
            <a:ext cx="27432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891B2"/>
              </a:buClr>
              <a:buSzPts val="1500"/>
              <a:buFont typeface="Outfit"/>
              <a:buNone/>
            </a:pPr>
            <a:r>
              <a:rPr b="1" i="0" lang="en" sz="1500" u="none" cap="none" strike="noStrike">
                <a:solidFill>
                  <a:srgbClr val="0891B2"/>
                </a:solidFill>
                <a:latin typeface="Outfit"/>
                <a:ea typeface="Outfit"/>
                <a:cs typeface="Outfit"/>
                <a:sym typeface="Outfit"/>
              </a:rPr>
              <a:t>Train a reward model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34"/>
          <p:cNvSpPr/>
          <p:nvPr/>
        </p:nvSpPr>
        <p:spPr>
          <a:xfrm>
            <a:off x="4005300" y="2468875"/>
            <a:ext cx="4572000" cy="7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13359" lvl="0" marL="27432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200"/>
              <a:buFont typeface="Outfit"/>
              <a:buChar char="●"/>
            </a:pPr>
            <a:r>
              <a:rPr lang="en" sz="1200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Generate multiple responses from the SFT model</a:t>
            </a:r>
            <a:endParaRPr sz="1200">
              <a:solidFill>
                <a:srgbClr val="475569"/>
              </a:solidFill>
              <a:latin typeface="Outfit"/>
              <a:ea typeface="Outfit"/>
              <a:cs typeface="Outfit"/>
              <a:sym typeface="Outfit"/>
            </a:endParaRPr>
          </a:p>
          <a:p>
            <a:pPr indent="-213359" lvl="0" marL="27432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200"/>
              <a:buFont typeface="Outfit"/>
              <a:buChar char="●"/>
            </a:pPr>
            <a:r>
              <a:rPr b="0" i="0" lang="en" sz="12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Hum compare pairs of model outputs and pick the better one (much easier than producing outputs)</a:t>
            </a:r>
            <a:endParaRPr sz="1200">
              <a:solidFill>
                <a:srgbClr val="475569"/>
              </a:solidFill>
              <a:latin typeface="Outfit"/>
              <a:ea typeface="Outfit"/>
              <a:cs typeface="Outfit"/>
              <a:sym typeface="Outfit"/>
            </a:endParaRPr>
          </a:p>
          <a:p>
            <a:pPr indent="-213359" lvl="0" marL="27432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200"/>
              <a:buFont typeface="Outfit"/>
              <a:buChar char="●"/>
            </a:pPr>
            <a:r>
              <a:rPr b="0" i="0" lang="en" sz="12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A separate (reward</a:t>
            </a:r>
            <a:r>
              <a:rPr lang="en" sz="1200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) </a:t>
            </a:r>
            <a:r>
              <a:rPr b="0" i="0" lang="en" sz="12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model learns to predict these prefs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34"/>
          <p:cNvSpPr/>
          <p:nvPr/>
        </p:nvSpPr>
        <p:spPr>
          <a:xfrm>
            <a:off x="537908" y="3138527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2200"/>
              <a:buFont typeface="Outfit"/>
              <a:buNone/>
            </a:pPr>
            <a:r>
              <a:rPr b="0" i="0" lang="en" sz="2200" u="none" cap="none" strike="noStrike">
                <a:solidFill>
                  <a:srgbClr val="94A3B8"/>
                </a:solidFill>
                <a:latin typeface="Outfit"/>
                <a:ea typeface="Outfit"/>
                <a:cs typeface="Outfit"/>
                <a:sym typeface="Outfit"/>
              </a:rPr>
              <a:t>↓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34"/>
          <p:cNvSpPr/>
          <p:nvPr/>
        </p:nvSpPr>
        <p:spPr>
          <a:xfrm>
            <a:off x="548640" y="3657600"/>
            <a:ext cx="457200" cy="457200"/>
          </a:xfrm>
          <a:prstGeom prst="ellipse">
            <a:avLst/>
          </a:prstGeom>
          <a:solidFill>
            <a:srgbClr val="0E749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4" name="Google Shape;344;p34"/>
          <p:cNvSpPr/>
          <p:nvPr/>
        </p:nvSpPr>
        <p:spPr>
          <a:xfrm>
            <a:off x="548640" y="365760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Outfit"/>
              <a:buNone/>
            </a:pPr>
            <a:r>
              <a:rPr b="1" i="0" lang="en" sz="1800" u="none" cap="none" strike="noStrike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3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34"/>
          <p:cNvSpPr/>
          <p:nvPr/>
        </p:nvSpPr>
        <p:spPr>
          <a:xfrm>
            <a:off x="1188720" y="3566160"/>
            <a:ext cx="7498200" cy="822900"/>
          </a:xfrm>
          <a:prstGeom prst="rect">
            <a:avLst/>
          </a:prstGeom>
          <a:solidFill>
            <a:srgbClr val="F8FAFC"/>
          </a:solidFill>
          <a:ln cap="flat" cmpd="sng" w="12700">
            <a:solidFill>
              <a:srgbClr val="0E749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4"/>
          <p:cNvSpPr/>
          <p:nvPr/>
        </p:nvSpPr>
        <p:spPr>
          <a:xfrm>
            <a:off x="1262091" y="3611880"/>
            <a:ext cx="27432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E7490"/>
              </a:buClr>
              <a:buSzPts val="1500"/>
              <a:buFont typeface="Outfit"/>
              <a:buNone/>
            </a:pPr>
            <a:r>
              <a:rPr b="1" i="0" lang="en" sz="1500" u="none" cap="none" strike="noStrike">
                <a:solidFill>
                  <a:srgbClr val="0E7490"/>
                </a:solidFill>
                <a:latin typeface="Outfit"/>
                <a:ea typeface="Outfit"/>
                <a:cs typeface="Outfit"/>
                <a:sym typeface="Outfit"/>
              </a:rPr>
              <a:t>RL optimization (PPO)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34"/>
          <p:cNvSpPr/>
          <p:nvPr/>
        </p:nvSpPr>
        <p:spPr>
          <a:xfrm>
            <a:off x="4005291" y="3611875"/>
            <a:ext cx="45720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13359" lvl="0" marL="27432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200"/>
              <a:buFont typeface="Outfit"/>
              <a:buChar char="●"/>
            </a:pPr>
            <a:r>
              <a:rPr lang="en" sz="1200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L</a:t>
            </a:r>
            <a:r>
              <a:rPr b="0" i="0" lang="en" sz="12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anguage model generates responses</a:t>
            </a:r>
            <a:endParaRPr sz="1200">
              <a:solidFill>
                <a:srgbClr val="475569"/>
              </a:solidFill>
              <a:latin typeface="Outfit"/>
              <a:ea typeface="Outfit"/>
              <a:cs typeface="Outfit"/>
              <a:sym typeface="Outfit"/>
            </a:endParaRPr>
          </a:p>
          <a:p>
            <a:pPr indent="-213359" lvl="0" marL="27432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200"/>
              <a:buFont typeface="Outfit"/>
              <a:buChar char="●"/>
            </a:pPr>
            <a:r>
              <a:rPr lang="en" sz="1200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A r</a:t>
            </a:r>
            <a:r>
              <a:rPr b="0" i="0" lang="en" sz="12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eward model scores them</a:t>
            </a:r>
            <a:endParaRPr sz="1200">
              <a:solidFill>
                <a:srgbClr val="475569"/>
              </a:solidFill>
              <a:latin typeface="Outfit"/>
              <a:ea typeface="Outfit"/>
              <a:cs typeface="Outfit"/>
              <a:sym typeface="Outfit"/>
            </a:endParaRPr>
          </a:p>
          <a:p>
            <a:pPr indent="-213359" lvl="0" marL="27432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200"/>
              <a:buFont typeface="Outfit"/>
              <a:buChar char="●"/>
            </a:pPr>
            <a:r>
              <a:rPr b="0" i="0" lang="en" sz="12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the LM is updated to get higher scores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p34"/>
          <p:cNvSpPr txBox="1"/>
          <p:nvPr>
            <p:ph type="title"/>
          </p:nvPr>
        </p:nvSpPr>
        <p:spPr>
          <a:xfrm>
            <a:off x="311700" y="228600"/>
            <a:ext cx="8520600" cy="61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RLHF: teaching a model to be helpful</a:t>
            </a:r>
            <a:endParaRPr/>
          </a:p>
        </p:txBody>
      </p:sp>
      <p:sp>
        <p:nvSpPr>
          <p:cNvPr id="349" name="Google Shape;349;p34"/>
          <p:cNvSpPr txBox="1"/>
          <p:nvPr>
            <p:ph idx="2" type="subTitle"/>
          </p:nvPr>
        </p:nvSpPr>
        <p:spPr>
          <a:xfrm>
            <a:off x="-3870" y="4726261"/>
            <a:ext cx="4046100" cy="411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Ouyang et al </a:t>
            </a:r>
            <a:r>
              <a:rPr b="1" lang="en">
                <a:latin typeface="Zilla Slab"/>
                <a:ea typeface="Zilla Slab"/>
                <a:cs typeface="Zilla Slab"/>
                <a:sym typeface="Zilla Slab"/>
              </a:rPr>
              <a:t>NeurIPS 2022</a:t>
            </a:r>
            <a:endParaRPr b="1">
              <a:latin typeface="Zilla Slab"/>
              <a:ea typeface="Zilla Slab"/>
              <a:cs typeface="Zilla Slab"/>
              <a:sym typeface="Zilla Slab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p35"/>
          <p:cNvSpPr/>
          <p:nvPr/>
        </p:nvSpPr>
        <p:spPr>
          <a:xfrm>
            <a:off x="731520" y="1617549"/>
            <a:ext cx="2377500" cy="237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C2626"/>
              </a:buClr>
              <a:buSzPts val="4000"/>
              <a:buFont typeface="Outfit"/>
              <a:buNone/>
            </a:pPr>
            <a:r>
              <a:rPr b="1" i="0" lang="en" sz="4000" u="none" cap="none" strike="noStrike">
                <a:solidFill>
                  <a:srgbClr val="DC2626"/>
                </a:solidFill>
                <a:latin typeface="Outfit"/>
                <a:ea typeface="Outfit"/>
                <a:cs typeface="Outfit"/>
                <a:sym typeface="Outfit"/>
              </a:rPr>
              <a:t>W</a:t>
            </a:r>
            <a:endParaRPr b="0" i="0" sz="4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35"/>
          <p:cNvSpPr/>
          <p:nvPr/>
        </p:nvSpPr>
        <p:spPr>
          <a:xfrm>
            <a:off x="548640" y="274320"/>
            <a:ext cx="80466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46E5"/>
              </a:buClr>
              <a:buSzPts val="2400"/>
              <a:buFont typeface="Outfit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35"/>
          <p:cNvSpPr/>
          <p:nvPr/>
        </p:nvSpPr>
        <p:spPr>
          <a:xfrm>
            <a:off x="457200" y="1839257"/>
            <a:ext cx="32004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C2626"/>
              </a:buClr>
              <a:buSzPts val="1400"/>
              <a:buFont typeface="Outfit"/>
              <a:buNone/>
            </a:pPr>
            <a:r>
              <a:rPr b="1" i="0" lang="en" sz="1400" u="none" cap="none" strike="noStrike">
                <a:solidFill>
                  <a:srgbClr val="DC2626"/>
                </a:solidFill>
                <a:latin typeface="Outfit"/>
                <a:ea typeface="Outfit"/>
                <a:cs typeface="Outfit"/>
                <a:sym typeface="Outfit"/>
              </a:rPr>
              <a:t>Full fine-tuning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" name="Google Shape;358;p35"/>
          <p:cNvSpPr/>
          <p:nvPr/>
        </p:nvSpPr>
        <p:spPr>
          <a:xfrm>
            <a:off x="731525" y="2290392"/>
            <a:ext cx="2377500" cy="1704600"/>
          </a:xfrm>
          <a:prstGeom prst="rect">
            <a:avLst/>
          </a:prstGeom>
          <a:solidFill>
            <a:srgbClr val="FEF2F2"/>
          </a:solidFill>
          <a:ln cap="flat" cmpd="sng" w="12700">
            <a:solidFill>
              <a:srgbClr val="DC262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9" name="Google Shape;359;p35"/>
          <p:cNvSpPr/>
          <p:nvPr/>
        </p:nvSpPr>
        <p:spPr>
          <a:xfrm>
            <a:off x="731520" y="3172029"/>
            <a:ext cx="2377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C2626"/>
              </a:buClr>
              <a:buSzPts val="1100"/>
              <a:buFont typeface="Outfit"/>
              <a:buNone/>
            </a:pPr>
            <a:r>
              <a:rPr b="0" i="0" lang="en" sz="1100" u="none" cap="none" strike="noStrike">
                <a:solidFill>
                  <a:srgbClr val="DC2626"/>
                </a:solidFill>
                <a:latin typeface="Outfit"/>
                <a:ea typeface="Outfit"/>
                <a:cs typeface="Outfit"/>
                <a:sym typeface="Outfit"/>
              </a:rPr>
              <a:t>Update all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C2626"/>
              </a:buClr>
              <a:buSzPts val="1100"/>
              <a:buFont typeface="Outfit"/>
              <a:buNone/>
            </a:pPr>
            <a:r>
              <a:rPr b="0" i="0" lang="en" sz="1100" u="none" cap="none" strike="noStrike">
                <a:solidFill>
                  <a:srgbClr val="DC2626"/>
                </a:solidFill>
                <a:latin typeface="Outfit"/>
                <a:ea typeface="Outfit"/>
                <a:cs typeface="Outfit"/>
                <a:sym typeface="Outfit"/>
              </a:rPr>
              <a:t>175B parameters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35"/>
          <p:cNvSpPr/>
          <p:nvPr/>
        </p:nvSpPr>
        <p:spPr>
          <a:xfrm>
            <a:off x="731520" y="3537789"/>
            <a:ext cx="23775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C2626"/>
              </a:buClr>
              <a:buSzPts val="1200"/>
              <a:buFont typeface="Outfit"/>
              <a:buNone/>
            </a:pPr>
            <a:r>
              <a:rPr b="1" i="0" lang="en" sz="1200" u="none" cap="none" strike="noStrike">
                <a:solidFill>
                  <a:srgbClr val="DC2626"/>
                </a:solidFill>
                <a:latin typeface="Outfit"/>
                <a:ea typeface="Outfit"/>
                <a:cs typeface="Outfit"/>
                <a:sym typeface="Outfit"/>
              </a:rPr>
              <a:t>100% of weights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35"/>
          <p:cNvSpPr/>
          <p:nvPr/>
        </p:nvSpPr>
        <p:spPr>
          <a:xfrm>
            <a:off x="3405891" y="2627319"/>
            <a:ext cx="731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800"/>
              <a:buFont typeface="Outfit"/>
              <a:buNone/>
            </a:pPr>
            <a:r>
              <a:rPr b="0" i="0" lang="en" sz="1800" u="none" cap="none" strike="noStrike">
                <a:solidFill>
                  <a:srgbClr val="94A3B8"/>
                </a:solidFill>
                <a:latin typeface="Outfit"/>
                <a:ea typeface="Outfit"/>
                <a:cs typeface="Outfit"/>
                <a:sym typeface="Outfit"/>
              </a:rPr>
              <a:t>vs.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35"/>
          <p:cNvSpPr/>
          <p:nvPr/>
        </p:nvSpPr>
        <p:spPr>
          <a:xfrm>
            <a:off x="4389125" y="1839268"/>
            <a:ext cx="44433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6A34A"/>
              </a:buClr>
              <a:buSzPts val="1400"/>
              <a:buFont typeface="Outfit"/>
              <a:buNone/>
            </a:pPr>
            <a:r>
              <a:rPr b="1" i="0" lang="en" sz="1400" u="none" cap="none" strike="noStrike">
                <a:solidFill>
                  <a:srgbClr val="16A34A"/>
                </a:solidFill>
                <a:latin typeface="Outfit"/>
                <a:ea typeface="Outfit"/>
                <a:cs typeface="Outfit"/>
                <a:sym typeface="Outfit"/>
              </a:rPr>
              <a:t>LoRA (low-rank adaptation)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35"/>
          <p:cNvSpPr/>
          <p:nvPr/>
        </p:nvSpPr>
        <p:spPr>
          <a:xfrm>
            <a:off x="4389125" y="2290441"/>
            <a:ext cx="1645800" cy="1704600"/>
          </a:xfrm>
          <a:prstGeom prst="rect">
            <a:avLst/>
          </a:prstGeom>
          <a:solidFill>
            <a:srgbClr val="F8FAFC"/>
          </a:solidFill>
          <a:ln cap="flat" cmpd="sng" w="12700">
            <a:solidFill>
              <a:srgbClr val="94A3B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4" name="Google Shape;364;p35"/>
          <p:cNvSpPr/>
          <p:nvPr/>
        </p:nvSpPr>
        <p:spPr>
          <a:xfrm>
            <a:off x="5989320" y="2440509"/>
            <a:ext cx="3657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6A34A"/>
              </a:buClr>
              <a:buSzPts val="2400"/>
              <a:buFont typeface="Outfit"/>
              <a:buNone/>
            </a:pPr>
            <a:r>
              <a:rPr b="1" i="0" lang="en" sz="2400" u="none" cap="none" strike="noStrike">
                <a:solidFill>
                  <a:srgbClr val="16A34A"/>
                </a:solidFill>
                <a:latin typeface="Outfit"/>
                <a:ea typeface="Outfit"/>
                <a:cs typeface="Outfit"/>
                <a:sym typeface="Outfit"/>
              </a:rPr>
              <a:t>+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35"/>
          <p:cNvSpPr/>
          <p:nvPr/>
        </p:nvSpPr>
        <p:spPr>
          <a:xfrm>
            <a:off x="6400800" y="2290442"/>
            <a:ext cx="548700" cy="1704600"/>
          </a:xfrm>
          <a:prstGeom prst="rect">
            <a:avLst/>
          </a:prstGeom>
          <a:solidFill>
            <a:srgbClr val="F0FDF4"/>
          </a:solidFill>
          <a:ln cap="flat" cmpd="sng" w="19050">
            <a:solidFill>
              <a:srgbClr val="16A3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6" name="Google Shape;366;p35"/>
          <p:cNvSpPr/>
          <p:nvPr/>
        </p:nvSpPr>
        <p:spPr>
          <a:xfrm>
            <a:off x="6998298" y="2326234"/>
            <a:ext cx="274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6A34A"/>
              </a:buClr>
              <a:buSzPts val="1800"/>
              <a:buFont typeface="Outfit"/>
              <a:buNone/>
            </a:pPr>
            <a:r>
              <a:rPr b="0" i="0" lang="en" sz="2100" u="none" cap="none" strike="noStrike">
                <a:solidFill>
                  <a:srgbClr val="16A34A"/>
                </a:solidFill>
                <a:latin typeface="Outfit"/>
                <a:ea typeface="Outfit"/>
                <a:cs typeface="Outfit"/>
                <a:sym typeface="Outfit"/>
              </a:rPr>
              <a:t>×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35"/>
          <p:cNvSpPr/>
          <p:nvPr/>
        </p:nvSpPr>
        <p:spPr>
          <a:xfrm>
            <a:off x="7369210" y="2251594"/>
            <a:ext cx="1463100" cy="548700"/>
          </a:xfrm>
          <a:prstGeom prst="rect">
            <a:avLst/>
          </a:prstGeom>
          <a:solidFill>
            <a:srgbClr val="F0FDF4"/>
          </a:solidFill>
          <a:ln cap="flat" cmpd="sng" w="19050">
            <a:solidFill>
              <a:srgbClr val="16A3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8" name="Google Shape;368;p35"/>
          <p:cNvSpPr/>
          <p:nvPr/>
        </p:nvSpPr>
        <p:spPr>
          <a:xfrm>
            <a:off x="7369210" y="2257584"/>
            <a:ext cx="14631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6A34A"/>
              </a:buClr>
              <a:buSzPts val="1800"/>
              <a:buFont typeface="Outfit"/>
              <a:buNone/>
            </a:pPr>
            <a:r>
              <a:rPr b="1" i="0" lang="en" sz="1800" u="none" cap="none" strike="noStrike">
                <a:solidFill>
                  <a:srgbClr val="16A34A"/>
                </a:solidFill>
                <a:latin typeface="Outfit"/>
                <a:ea typeface="Outfit"/>
                <a:cs typeface="Outfit"/>
                <a:sym typeface="Outfit"/>
              </a:rPr>
              <a:t>B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9" name="Google Shape;369;p35"/>
          <p:cNvSpPr/>
          <p:nvPr/>
        </p:nvSpPr>
        <p:spPr>
          <a:xfrm>
            <a:off x="7369200" y="3034789"/>
            <a:ext cx="1491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6A34A"/>
              </a:buClr>
              <a:buSzPts val="1100"/>
              <a:buFont typeface="Outfit"/>
              <a:buNone/>
            </a:pPr>
            <a:r>
              <a:rPr b="0" i="0" lang="en" sz="1100" u="none" cap="none" strike="noStrike">
                <a:solidFill>
                  <a:srgbClr val="16A34A"/>
                </a:solidFill>
                <a:latin typeface="Outfit"/>
                <a:ea typeface="Outfit"/>
                <a:cs typeface="Outfit"/>
                <a:sym typeface="Outfit"/>
              </a:rPr>
              <a:t>Only train A and B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6A34A"/>
              </a:buClr>
              <a:buSzPts val="1100"/>
              <a:buFont typeface="Outfit"/>
              <a:buNone/>
            </a:pPr>
            <a:r>
              <a:rPr b="0" i="0" lang="en" sz="1100" u="none" cap="none" strike="noStrike">
                <a:solidFill>
                  <a:srgbClr val="16A34A"/>
                </a:solidFill>
                <a:latin typeface="Outfit"/>
                <a:ea typeface="Outfit"/>
                <a:cs typeface="Outfit"/>
                <a:sym typeface="Outfit"/>
              </a:rPr>
              <a:t>(small matrices)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" name="Google Shape;370;p35"/>
          <p:cNvSpPr/>
          <p:nvPr/>
        </p:nvSpPr>
        <p:spPr>
          <a:xfrm>
            <a:off x="7272500" y="3492000"/>
            <a:ext cx="1645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6A34A"/>
              </a:buClr>
              <a:buSzPts val="1200"/>
              <a:buFont typeface="Outfit"/>
              <a:buNone/>
            </a:pPr>
            <a:r>
              <a:rPr b="1" lang="en" sz="1200">
                <a:solidFill>
                  <a:srgbClr val="16A34A"/>
                </a:solidFill>
                <a:latin typeface="Outfit"/>
                <a:ea typeface="Outfit"/>
                <a:cs typeface="Outfit"/>
                <a:sym typeface="Outfit"/>
              </a:rPr>
              <a:t>~90% of full fine-tuning quality at ~0.1% </a:t>
            </a:r>
            <a:r>
              <a:rPr b="1" i="0" lang="en" sz="1200" u="none" cap="none" strike="noStrike">
                <a:solidFill>
                  <a:srgbClr val="16A34A"/>
                </a:solidFill>
                <a:latin typeface="Outfit"/>
                <a:ea typeface="Outfit"/>
                <a:cs typeface="Outfit"/>
                <a:sym typeface="Outfit"/>
              </a:rPr>
              <a:t>of weights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35"/>
          <p:cNvSpPr/>
          <p:nvPr/>
        </p:nvSpPr>
        <p:spPr>
          <a:xfrm>
            <a:off x="594360" y="4114800"/>
            <a:ext cx="79554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E7490"/>
              </a:buClr>
              <a:buSzPts val="1200"/>
              <a:buFont typeface="Outfit"/>
              <a:buNone/>
            </a:pPr>
            <a:r>
              <a:rPr lang="en" sz="1700">
                <a:solidFill>
                  <a:srgbClr val="0E7490"/>
                </a:solidFill>
                <a:latin typeface="Outfit"/>
                <a:ea typeface="Outfit"/>
                <a:cs typeface="Outfit"/>
                <a:sym typeface="Outfit"/>
              </a:rPr>
              <a:t>The rank of A×B is small (typically 4–16) hence 'low-rank.'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35"/>
          <p:cNvSpPr txBox="1"/>
          <p:nvPr>
            <p:ph type="title"/>
          </p:nvPr>
        </p:nvSpPr>
        <p:spPr>
          <a:xfrm>
            <a:off x="311700" y="228600"/>
            <a:ext cx="8520600" cy="61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LoRA: efficient adaptation</a:t>
            </a:r>
            <a:endParaRPr/>
          </a:p>
        </p:txBody>
      </p:sp>
      <p:sp>
        <p:nvSpPr>
          <p:cNvPr id="373" name="Google Shape;373;p35"/>
          <p:cNvSpPr txBox="1"/>
          <p:nvPr>
            <p:ph idx="2" type="subTitle"/>
          </p:nvPr>
        </p:nvSpPr>
        <p:spPr>
          <a:xfrm>
            <a:off x="-3870" y="4726261"/>
            <a:ext cx="4046100" cy="411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Hu et al </a:t>
            </a:r>
            <a:r>
              <a:rPr b="1" lang="en">
                <a:latin typeface="Zilla Slab"/>
                <a:ea typeface="Zilla Slab"/>
                <a:cs typeface="Zilla Slab"/>
                <a:sym typeface="Zilla Slab"/>
              </a:rPr>
              <a:t>ICLR 20</a:t>
            </a:r>
            <a:r>
              <a:rPr b="1" lang="en">
                <a:latin typeface="Zilla Slab"/>
                <a:ea typeface="Zilla Slab"/>
                <a:cs typeface="Zilla Slab"/>
                <a:sym typeface="Zilla Slab"/>
              </a:rPr>
              <a:t>22</a:t>
            </a:r>
            <a:endParaRPr b="1">
              <a:latin typeface="Zilla Slab"/>
              <a:ea typeface="Zilla Slab"/>
              <a:cs typeface="Zilla Slab"/>
              <a:sym typeface="Zilla Slab"/>
            </a:endParaRPr>
          </a:p>
        </p:txBody>
      </p:sp>
      <p:sp>
        <p:nvSpPr>
          <p:cNvPr id="374" name="Google Shape;374;p35"/>
          <p:cNvSpPr/>
          <p:nvPr/>
        </p:nvSpPr>
        <p:spPr>
          <a:xfrm>
            <a:off x="4389120" y="1617549"/>
            <a:ext cx="1645800" cy="237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2400"/>
              <a:buFont typeface="Outfit"/>
              <a:buNone/>
            </a:pPr>
            <a:r>
              <a:rPr b="0" i="0" lang="en" sz="2400" u="none" cap="none" strike="noStrike">
                <a:solidFill>
                  <a:srgbClr val="94A3B8"/>
                </a:solidFill>
                <a:latin typeface="Outfit"/>
                <a:ea typeface="Outfit"/>
                <a:cs typeface="Outfit"/>
                <a:sym typeface="Outfit"/>
              </a:rPr>
              <a:t>W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2400"/>
              <a:buFont typeface="Outfit"/>
              <a:buNone/>
            </a:pPr>
            <a:r>
              <a:rPr b="0" i="0" lang="en" sz="2400" u="none" cap="none" strike="noStrike">
                <a:solidFill>
                  <a:srgbClr val="94A3B8"/>
                </a:solidFill>
                <a:latin typeface="Outfit"/>
                <a:ea typeface="Outfit"/>
                <a:cs typeface="Outfit"/>
                <a:sym typeface="Outfit"/>
              </a:rPr>
              <a:t>(frozen)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35"/>
          <p:cNvSpPr/>
          <p:nvPr/>
        </p:nvSpPr>
        <p:spPr>
          <a:xfrm>
            <a:off x="6400800" y="1617549"/>
            <a:ext cx="548700" cy="237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6A34A"/>
              </a:buClr>
              <a:buSzPts val="1800"/>
              <a:buFont typeface="Outfit"/>
              <a:buNone/>
            </a:pPr>
            <a:r>
              <a:rPr b="1" i="0" lang="en" sz="1800" u="none" cap="none" strike="noStrike">
                <a:solidFill>
                  <a:srgbClr val="16A34A"/>
                </a:solidFill>
                <a:latin typeface="Outfit"/>
                <a:ea typeface="Outfit"/>
                <a:cs typeface="Outfit"/>
                <a:sym typeface="Outfit"/>
              </a:rPr>
              <a:t>A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" name="Google Shape;376;p35"/>
          <p:cNvSpPr txBox="1"/>
          <p:nvPr>
            <p:ph idx="1" type="body"/>
          </p:nvPr>
        </p:nvSpPr>
        <p:spPr>
          <a:xfrm>
            <a:off x="311700" y="930325"/>
            <a:ext cx="8832300" cy="86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"/>
              <a:t>F</a:t>
            </a:r>
            <a:r>
              <a:rPr lang="en"/>
              <a:t>ine-tuning all 175 billion parameters of GPT-3 is expensive!</a:t>
            </a:r>
            <a:endParaRPr/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"/>
              <a:t>Can we adapt a model by changing just a tiny fraction?</a:t>
            </a:r>
            <a:endParaRPr/>
          </a:p>
        </p:txBody>
      </p:sp>
      <p:sp>
        <p:nvSpPr>
          <p:cNvPr id="377" name="Google Shape;377;p35"/>
          <p:cNvSpPr/>
          <p:nvPr/>
        </p:nvSpPr>
        <p:spPr>
          <a:xfrm>
            <a:off x="1097370" y="1617547"/>
            <a:ext cx="1645800" cy="237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2400"/>
              <a:buFont typeface="Outfit"/>
              <a:buNone/>
            </a:pPr>
            <a:r>
              <a:rPr b="0" i="0" lang="en" sz="2400" u="none" cap="none" strike="noStrike">
                <a:solidFill>
                  <a:srgbClr val="DC2626"/>
                </a:solidFill>
                <a:latin typeface="Outfit"/>
                <a:ea typeface="Outfit"/>
                <a:cs typeface="Outfit"/>
                <a:sym typeface="Outfit"/>
              </a:rPr>
              <a:t>W</a:t>
            </a:r>
            <a:endParaRPr b="0" i="0" sz="2400" u="none" cap="none" strike="noStrike">
              <a:solidFill>
                <a:srgbClr val="DC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2400"/>
              <a:buFont typeface="Outfit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p36"/>
          <p:cNvSpPr txBox="1"/>
          <p:nvPr>
            <p:ph type="title"/>
          </p:nvPr>
        </p:nvSpPr>
        <p:spPr>
          <a:xfrm>
            <a:off x="311700" y="228600"/>
            <a:ext cx="8520600" cy="61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does low-rank adaptation work?</a:t>
            </a:r>
            <a:endParaRPr/>
          </a:p>
        </p:txBody>
      </p:sp>
      <p:sp>
        <p:nvSpPr>
          <p:cNvPr id="384" name="Google Shape;384;p36"/>
          <p:cNvSpPr txBox="1"/>
          <p:nvPr>
            <p:ph idx="2" type="subTitle"/>
          </p:nvPr>
        </p:nvSpPr>
        <p:spPr>
          <a:xfrm>
            <a:off x="-3870" y="4726261"/>
            <a:ext cx="4046100" cy="411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385" name="Google Shape;385;p36"/>
          <p:cNvSpPr txBox="1"/>
          <p:nvPr>
            <p:ph idx="1" type="body"/>
          </p:nvPr>
        </p:nvSpPr>
        <p:spPr>
          <a:xfrm>
            <a:off x="311700" y="932688"/>
            <a:ext cx="8172600" cy="390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"/>
              <a:t>K</a:t>
            </a:r>
            <a:r>
              <a:rPr lang="en"/>
              <a:t>ey insight: the changes needed for a new task live in a low-dimensional subspace</a:t>
            </a:r>
            <a:endParaRPr/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"/>
              <a:t>Master photographer switching from weddings to nature doesn't relearn composition, lighting, exposure… the adjustment is low-dim even though the underlying skill is vast</a:t>
            </a:r>
            <a:endParaRPr/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"/>
              <a:t>Counterintuitively, the bigger the model, the smaller the subspace needed to adapt</a:t>
            </a:r>
            <a:endParaRPr/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"/>
              <a:t>Deep question: what does pretraining actually learn? A general-purpose representation space where tasks correspond to specific directions — and adapting means finding those directions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37"/>
          <p:cNvSpPr txBox="1"/>
          <p:nvPr>
            <p:ph type="title"/>
          </p:nvPr>
        </p:nvSpPr>
        <p:spPr>
          <a:xfrm>
            <a:off x="914400" y="1492722"/>
            <a:ext cx="7680900" cy="1158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Georgia"/>
              <a:buNone/>
            </a:pPr>
            <a:r>
              <a:rPr b="1" lang="en" sz="3200">
                <a:solidFill>
                  <a:srgbClr val="FFFFFF"/>
                </a:solidFill>
              </a:rPr>
              <a:t>What scale unlocks </a:t>
            </a:r>
            <a:br>
              <a:rPr b="1" lang="en" sz="3200">
                <a:solidFill>
                  <a:srgbClr val="FFFFFF"/>
                </a:solidFill>
              </a:rPr>
            </a:br>
            <a:r>
              <a:rPr b="1" lang="en" sz="3200">
                <a:solidFill>
                  <a:srgbClr val="FFFFFF"/>
                </a:solidFill>
              </a:rPr>
              <a:t>(in autoregressive language models)</a:t>
            </a:r>
            <a:endParaRPr b="1" sz="3200">
              <a:solidFill>
                <a:srgbClr val="FFFFFF"/>
              </a:solidFill>
            </a:endParaRPr>
          </a:p>
        </p:txBody>
      </p:sp>
      <p:sp>
        <p:nvSpPr>
          <p:cNvPr id="392" name="Google Shape;392;p37"/>
          <p:cNvSpPr txBox="1"/>
          <p:nvPr>
            <p:ph idx="1" type="body"/>
          </p:nvPr>
        </p:nvSpPr>
        <p:spPr>
          <a:xfrm>
            <a:off x="914400" y="2743200"/>
            <a:ext cx="7680900" cy="1097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rgbClr val="94A3B8"/>
              </a:buClr>
              <a:buSzPts val="1600"/>
              <a:buNone/>
            </a:pPr>
            <a:r>
              <a:rPr lang="en" sz="1600">
                <a:solidFill>
                  <a:srgbClr val="4F46E5"/>
                </a:solidFill>
              </a:rPr>
              <a:t>In-context learning, reasoning, and surprising new capabilities</a:t>
            </a:r>
            <a:endParaRPr sz="1600">
              <a:solidFill>
                <a:srgbClr val="4F46E5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38"/>
          <p:cNvSpPr/>
          <p:nvPr/>
        </p:nvSpPr>
        <p:spPr>
          <a:xfrm>
            <a:off x="442450" y="1793376"/>
            <a:ext cx="2560200" cy="1917000"/>
          </a:xfrm>
          <a:prstGeom prst="rect">
            <a:avLst/>
          </a:prstGeom>
          <a:solidFill>
            <a:srgbClr val="F8FAFC"/>
          </a:solidFill>
          <a:ln cap="flat" cmpd="sng" w="19050">
            <a:solidFill>
              <a:srgbClr val="4F46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9" name="Google Shape;399;p38"/>
          <p:cNvSpPr/>
          <p:nvPr/>
        </p:nvSpPr>
        <p:spPr>
          <a:xfrm>
            <a:off x="442449" y="1822075"/>
            <a:ext cx="25602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F46E5"/>
              </a:buClr>
              <a:buSzPts val="1400"/>
              <a:buFont typeface="Outfit"/>
              <a:buNone/>
            </a:pPr>
            <a:r>
              <a:rPr b="1" i="0" lang="en" sz="1400" u="none" cap="none" strike="noStrike">
                <a:solidFill>
                  <a:srgbClr val="4F46E5"/>
                </a:solidFill>
                <a:latin typeface="Outfit"/>
                <a:ea typeface="Outfit"/>
                <a:cs typeface="Outfit"/>
                <a:sym typeface="Outfit"/>
              </a:rPr>
              <a:t>Zero-shot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" name="Google Shape;400;p38"/>
          <p:cNvSpPr/>
          <p:nvPr/>
        </p:nvSpPr>
        <p:spPr>
          <a:xfrm>
            <a:off x="442449" y="2086072"/>
            <a:ext cx="25602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Outfit"/>
              <a:buNone/>
            </a:pPr>
            <a:r>
              <a:rPr b="0" i="0" lang="en" sz="1000" u="none" cap="none" strike="noStrike">
                <a:solidFill>
                  <a:srgbClr val="94A3B8"/>
                </a:solidFill>
                <a:latin typeface="Outfit"/>
                <a:ea typeface="Outfit"/>
                <a:cs typeface="Outfit"/>
                <a:sym typeface="Outfit"/>
              </a:rPr>
              <a:t>Just instructions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8"/>
          <p:cNvSpPr/>
          <p:nvPr/>
        </p:nvSpPr>
        <p:spPr>
          <a:xfrm>
            <a:off x="671054" y="2451836"/>
            <a:ext cx="2103000" cy="708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Outfit"/>
              <a:buNone/>
            </a:pPr>
            <a:r>
              <a:rPr b="0" i="1" lang="en" sz="10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Translate to French: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Outfit"/>
              <a:buNone/>
            </a:pPr>
            <a:r>
              <a:rPr b="0" i="1" lang="en" sz="10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The cat sat on the mat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" name="Google Shape;402;p38"/>
          <p:cNvSpPr/>
          <p:nvPr/>
        </p:nvSpPr>
        <p:spPr>
          <a:xfrm>
            <a:off x="652919" y="3090447"/>
            <a:ext cx="365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F46E5"/>
              </a:buClr>
              <a:buSzPts val="1400"/>
              <a:buFont typeface="Outfit"/>
              <a:buNone/>
            </a:pPr>
            <a:r>
              <a:rPr b="0" i="0" lang="en" sz="1400" u="none" cap="none" strike="noStrike">
                <a:solidFill>
                  <a:srgbClr val="4F46E5"/>
                </a:solidFill>
                <a:latin typeface="Outfit"/>
                <a:ea typeface="Outfit"/>
                <a:cs typeface="Outfit"/>
                <a:sym typeface="Outfit"/>
              </a:rPr>
              <a:t>↓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Google Shape;403;p38"/>
          <p:cNvSpPr/>
          <p:nvPr/>
        </p:nvSpPr>
        <p:spPr>
          <a:xfrm>
            <a:off x="3277088" y="1793376"/>
            <a:ext cx="2560200" cy="1917000"/>
          </a:xfrm>
          <a:prstGeom prst="rect">
            <a:avLst/>
          </a:prstGeom>
          <a:solidFill>
            <a:srgbClr val="F8FAFC"/>
          </a:solidFill>
          <a:ln cap="flat" cmpd="sng" w="19050">
            <a:solidFill>
              <a:srgbClr val="0891B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4" name="Google Shape;404;p38"/>
          <p:cNvSpPr/>
          <p:nvPr/>
        </p:nvSpPr>
        <p:spPr>
          <a:xfrm>
            <a:off x="3277089" y="1822075"/>
            <a:ext cx="25602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891B2"/>
              </a:buClr>
              <a:buSzPts val="1400"/>
              <a:buFont typeface="Outfit"/>
              <a:buNone/>
            </a:pPr>
            <a:r>
              <a:rPr b="1" i="0" lang="en" sz="1400" u="none" cap="none" strike="noStrike">
                <a:solidFill>
                  <a:srgbClr val="0891B2"/>
                </a:solidFill>
                <a:latin typeface="Outfit"/>
                <a:ea typeface="Outfit"/>
                <a:cs typeface="Outfit"/>
                <a:sym typeface="Outfit"/>
              </a:rPr>
              <a:t>One-shot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5" name="Google Shape;405;p38"/>
          <p:cNvSpPr/>
          <p:nvPr/>
        </p:nvSpPr>
        <p:spPr>
          <a:xfrm>
            <a:off x="3277089" y="2086072"/>
            <a:ext cx="25602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Outfit"/>
              <a:buNone/>
            </a:pPr>
            <a:r>
              <a:rPr b="0" i="0" lang="en" sz="1000" u="none" cap="none" strike="noStrike">
                <a:solidFill>
                  <a:srgbClr val="94A3B8"/>
                </a:solidFill>
                <a:latin typeface="Outfit"/>
                <a:ea typeface="Outfit"/>
                <a:cs typeface="Outfit"/>
                <a:sym typeface="Outfit"/>
              </a:rPr>
              <a:t>One example + query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6" name="Google Shape;406;p38"/>
          <p:cNvSpPr/>
          <p:nvPr/>
        </p:nvSpPr>
        <p:spPr>
          <a:xfrm>
            <a:off x="3505692" y="2451836"/>
            <a:ext cx="2103000" cy="708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Outfit"/>
              <a:buNone/>
            </a:pPr>
            <a:r>
              <a:rPr b="0" i="1" lang="en" sz="10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sea otter → loutre de mer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Outfit"/>
              <a:buNone/>
            </a:pPr>
            <a:r>
              <a:rPr b="0" i="1" lang="en" sz="10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cheese → ???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8"/>
          <p:cNvSpPr/>
          <p:nvPr/>
        </p:nvSpPr>
        <p:spPr>
          <a:xfrm>
            <a:off x="3487559" y="3090447"/>
            <a:ext cx="365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891B2"/>
              </a:buClr>
              <a:buSzPts val="1400"/>
              <a:buFont typeface="Outfit"/>
              <a:buNone/>
            </a:pPr>
            <a:r>
              <a:rPr b="0" i="0" lang="en" sz="1400" u="none" cap="none" strike="noStrike">
                <a:solidFill>
                  <a:srgbClr val="0891B2"/>
                </a:solidFill>
                <a:latin typeface="Outfit"/>
                <a:ea typeface="Outfit"/>
                <a:cs typeface="Outfit"/>
                <a:sym typeface="Outfit"/>
              </a:rPr>
              <a:t>↓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38"/>
          <p:cNvSpPr/>
          <p:nvPr/>
        </p:nvSpPr>
        <p:spPr>
          <a:xfrm>
            <a:off x="3505689" y="3298815"/>
            <a:ext cx="21030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891B2"/>
              </a:buClr>
              <a:buSzPts val="1100"/>
              <a:buFont typeface="Outfit"/>
              <a:buNone/>
            </a:pPr>
            <a:r>
              <a:rPr b="1" i="0" lang="en" sz="1100" u="none" cap="none" strike="noStrike">
                <a:solidFill>
                  <a:srgbClr val="0891B2"/>
                </a:solidFill>
                <a:latin typeface="Outfit"/>
                <a:ea typeface="Outfit"/>
                <a:cs typeface="Outfit"/>
                <a:sym typeface="Outfit"/>
              </a:rPr>
              <a:t>fromage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" name="Google Shape;409;p38"/>
          <p:cNvSpPr/>
          <p:nvPr/>
        </p:nvSpPr>
        <p:spPr>
          <a:xfrm>
            <a:off x="6111725" y="1793376"/>
            <a:ext cx="2560200" cy="1917000"/>
          </a:xfrm>
          <a:prstGeom prst="rect">
            <a:avLst/>
          </a:prstGeom>
          <a:solidFill>
            <a:srgbClr val="F8FAFC"/>
          </a:solidFill>
          <a:ln cap="flat" cmpd="sng" w="19050">
            <a:solidFill>
              <a:srgbClr val="0E749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0" name="Google Shape;410;p38"/>
          <p:cNvSpPr/>
          <p:nvPr/>
        </p:nvSpPr>
        <p:spPr>
          <a:xfrm>
            <a:off x="6111729" y="1822075"/>
            <a:ext cx="25602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E7490"/>
              </a:buClr>
              <a:buSzPts val="1400"/>
              <a:buFont typeface="Outfit"/>
              <a:buNone/>
            </a:pPr>
            <a:r>
              <a:rPr b="1" i="0" lang="en" sz="1400" u="none" cap="none" strike="noStrike">
                <a:solidFill>
                  <a:srgbClr val="0E7490"/>
                </a:solidFill>
                <a:latin typeface="Outfit"/>
                <a:ea typeface="Outfit"/>
                <a:cs typeface="Outfit"/>
                <a:sym typeface="Outfit"/>
              </a:rPr>
              <a:t>Few-shot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1" name="Google Shape;411;p38"/>
          <p:cNvSpPr/>
          <p:nvPr/>
        </p:nvSpPr>
        <p:spPr>
          <a:xfrm>
            <a:off x="6111729" y="2086072"/>
            <a:ext cx="25602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Outfit"/>
              <a:buNone/>
            </a:pPr>
            <a:r>
              <a:rPr b="0" i="0" lang="en" sz="1000" u="none" cap="none" strike="noStrike">
                <a:solidFill>
                  <a:srgbClr val="94A3B8"/>
                </a:solidFill>
                <a:latin typeface="Outfit"/>
                <a:ea typeface="Outfit"/>
                <a:cs typeface="Outfit"/>
                <a:sym typeface="Outfit"/>
              </a:rPr>
              <a:t>Several examples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2" name="Google Shape;412;p38"/>
          <p:cNvSpPr/>
          <p:nvPr/>
        </p:nvSpPr>
        <p:spPr>
          <a:xfrm>
            <a:off x="6340330" y="2451836"/>
            <a:ext cx="2103000" cy="708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Outfit"/>
              <a:buNone/>
            </a:pPr>
            <a:r>
              <a:rPr b="0" i="1" lang="en" sz="10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positive: I love this movie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Outfit"/>
              <a:buNone/>
            </a:pPr>
            <a:r>
              <a:rPr b="0" i="1" lang="en" sz="10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negative: Terrible acting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Outfit"/>
              <a:buNone/>
            </a:pPr>
            <a:r>
              <a:rPr b="0" i="1" lang="en" sz="10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positive: Best film ever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Outfit"/>
              <a:buNone/>
            </a:pPr>
            <a:r>
              <a:rPr b="0" i="1" lang="en" sz="10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??? : Waste of time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Google Shape;413;p38"/>
          <p:cNvSpPr/>
          <p:nvPr/>
        </p:nvSpPr>
        <p:spPr>
          <a:xfrm>
            <a:off x="6322199" y="3090447"/>
            <a:ext cx="365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E7490"/>
              </a:buClr>
              <a:buSzPts val="1400"/>
              <a:buFont typeface="Outfit"/>
              <a:buNone/>
            </a:pPr>
            <a:r>
              <a:rPr b="0" i="0" lang="en" sz="1400" u="none" cap="none" strike="noStrike">
                <a:solidFill>
                  <a:srgbClr val="0E7490"/>
                </a:solidFill>
                <a:latin typeface="Outfit"/>
                <a:ea typeface="Outfit"/>
                <a:cs typeface="Outfit"/>
                <a:sym typeface="Outfit"/>
              </a:rPr>
              <a:t>↓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4" name="Google Shape;414;p38"/>
          <p:cNvSpPr/>
          <p:nvPr/>
        </p:nvSpPr>
        <p:spPr>
          <a:xfrm>
            <a:off x="6340329" y="3298815"/>
            <a:ext cx="21030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E7490"/>
              </a:buClr>
              <a:buSzPts val="1100"/>
              <a:buFont typeface="Outfit"/>
              <a:buNone/>
            </a:pPr>
            <a:r>
              <a:rPr b="1" i="0" lang="en" sz="1100" u="none" cap="none" strike="noStrike">
                <a:solidFill>
                  <a:srgbClr val="0E7490"/>
                </a:solidFill>
                <a:latin typeface="Outfit"/>
                <a:ea typeface="Outfit"/>
                <a:cs typeface="Outfit"/>
                <a:sym typeface="Outfit"/>
              </a:rPr>
              <a:t>negative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" name="Google Shape;415;p38"/>
          <p:cNvSpPr/>
          <p:nvPr/>
        </p:nvSpPr>
        <p:spPr>
          <a:xfrm>
            <a:off x="434250" y="3969778"/>
            <a:ext cx="8275500" cy="75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238759" lvl="0" marL="274320" marR="0" rtl="0" algn="l">
              <a:spcBef>
                <a:spcPts val="0"/>
              </a:spcBef>
              <a:spcAft>
                <a:spcPts val="0"/>
              </a:spcAft>
              <a:buClr>
                <a:srgbClr val="0E7490"/>
              </a:buClr>
              <a:buSzPts val="1600"/>
              <a:buFont typeface="Outfit"/>
              <a:buChar char="●"/>
            </a:pPr>
            <a:r>
              <a:rPr b="0" i="0" lang="en" sz="1600" u="none" cap="none" strike="noStrike">
                <a:solidFill>
                  <a:srgbClr val="0E7490"/>
                </a:solidFill>
                <a:latin typeface="Outfit"/>
                <a:ea typeface="Outfit"/>
                <a:cs typeface="Outfit"/>
                <a:sym typeface="Outfit"/>
              </a:rPr>
              <a:t>This only works above a certain scale</a:t>
            </a:r>
            <a:endParaRPr sz="1600">
              <a:solidFill>
                <a:srgbClr val="0E7490"/>
              </a:solidFill>
              <a:latin typeface="Outfit"/>
              <a:ea typeface="Outfit"/>
              <a:cs typeface="Outfit"/>
              <a:sym typeface="Outfit"/>
            </a:endParaRPr>
          </a:p>
          <a:p>
            <a:pPr indent="-238759" lvl="0" marL="274320" marR="0" rtl="0" algn="l">
              <a:spcBef>
                <a:spcPts val="0"/>
              </a:spcBef>
              <a:spcAft>
                <a:spcPts val="0"/>
              </a:spcAft>
              <a:buClr>
                <a:srgbClr val="0E7490"/>
              </a:buClr>
              <a:buSzPts val="1600"/>
              <a:buFont typeface="Outfit"/>
              <a:buChar char="●"/>
            </a:pPr>
            <a:r>
              <a:rPr b="0" i="0" lang="en" sz="1600" u="none" cap="none" strike="noStrike">
                <a:solidFill>
                  <a:srgbClr val="0E7490"/>
                </a:solidFill>
                <a:latin typeface="Outfit"/>
                <a:ea typeface="Outfit"/>
                <a:cs typeface="Outfit"/>
                <a:sym typeface="Outfit"/>
              </a:rPr>
              <a:t>GPT-2 (1.5B) can barely do it. GPT-3 (175B) does it well. Why? </a:t>
            </a:r>
            <a:endParaRPr b="0" i="0" sz="1600" u="none" cap="none" strike="noStrike">
              <a:solidFill>
                <a:srgbClr val="0E7490"/>
              </a:solidFill>
              <a:latin typeface="Outfit"/>
              <a:ea typeface="Outfit"/>
              <a:cs typeface="Outfit"/>
              <a:sym typeface="Outfit"/>
            </a:endParaRPr>
          </a:p>
          <a:p>
            <a:pPr indent="-238759" lvl="0" marL="274320" marR="0" rtl="0" algn="l">
              <a:spcBef>
                <a:spcPts val="0"/>
              </a:spcBef>
              <a:spcAft>
                <a:spcPts val="0"/>
              </a:spcAft>
              <a:buClr>
                <a:srgbClr val="0E7490"/>
              </a:buClr>
              <a:buSzPts val="1600"/>
              <a:buFont typeface="Outfit"/>
              <a:buChar char="●"/>
            </a:pPr>
            <a:r>
              <a:rPr b="0" i="0" lang="en" sz="1600" u="none" cap="none" strike="noStrike">
                <a:solidFill>
                  <a:srgbClr val="0E7490"/>
                </a:solidFill>
                <a:latin typeface="Outfit"/>
                <a:ea typeface="Outfit"/>
                <a:cs typeface="Outfit"/>
                <a:sym typeface="Outfit"/>
              </a:rPr>
              <a:t>Thursday papers by Min et al. and Russin et al. explore this directly.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6" name="Google Shape;416;p38"/>
          <p:cNvSpPr txBox="1"/>
          <p:nvPr>
            <p:ph type="title"/>
          </p:nvPr>
        </p:nvSpPr>
        <p:spPr>
          <a:xfrm>
            <a:off x="311700" y="228600"/>
            <a:ext cx="8520600" cy="61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GPT-3: </a:t>
            </a:r>
            <a:r>
              <a:rPr lang="en"/>
              <a:t>In-context learning</a:t>
            </a:r>
            <a:endParaRPr/>
          </a:p>
        </p:txBody>
      </p:sp>
      <p:sp>
        <p:nvSpPr>
          <p:cNvPr id="417" name="Google Shape;417;p38"/>
          <p:cNvSpPr txBox="1"/>
          <p:nvPr>
            <p:ph idx="1" type="body"/>
          </p:nvPr>
        </p:nvSpPr>
        <p:spPr>
          <a:xfrm>
            <a:off x="311700" y="780872"/>
            <a:ext cx="8520600" cy="86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With enough scale, models can learn new tasks from examples in the prompt — no training required!</a:t>
            </a:r>
            <a:endParaRPr/>
          </a:p>
        </p:txBody>
      </p:sp>
      <p:sp>
        <p:nvSpPr>
          <p:cNvPr id="418" name="Google Shape;418;p38"/>
          <p:cNvSpPr txBox="1"/>
          <p:nvPr>
            <p:ph idx="2" type="subTitle"/>
          </p:nvPr>
        </p:nvSpPr>
        <p:spPr>
          <a:xfrm>
            <a:off x="-3870" y="4726261"/>
            <a:ext cx="4046100" cy="411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Brown et al </a:t>
            </a:r>
            <a:r>
              <a:rPr b="1" lang="en">
                <a:latin typeface="Zilla Slab"/>
                <a:ea typeface="Zilla Slab"/>
                <a:cs typeface="Zilla Slab"/>
                <a:sym typeface="Zilla Slab"/>
              </a:rPr>
              <a:t>NeurIPS </a:t>
            </a:r>
            <a:r>
              <a:rPr b="1" lang="en">
                <a:latin typeface="Zilla Slab"/>
                <a:ea typeface="Zilla Slab"/>
                <a:cs typeface="Zilla Slab"/>
                <a:sym typeface="Zilla Slab"/>
              </a:rPr>
              <a:t>2020</a:t>
            </a:r>
            <a:endParaRPr b="1">
              <a:latin typeface="Zilla Slab"/>
              <a:ea typeface="Zilla Slab"/>
              <a:cs typeface="Zilla Slab"/>
              <a:sym typeface="Zilla Slab"/>
            </a:endParaRPr>
          </a:p>
        </p:txBody>
      </p:sp>
      <p:sp>
        <p:nvSpPr>
          <p:cNvPr id="419" name="Google Shape;419;p38"/>
          <p:cNvSpPr/>
          <p:nvPr/>
        </p:nvSpPr>
        <p:spPr>
          <a:xfrm>
            <a:off x="671050" y="3298819"/>
            <a:ext cx="22860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46E5"/>
              </a:buClr>
              <a:buSzPts val="1100"/>
              <a:buFont typeface="Outfit"/>
              <a:buNone/>
            </a:pPr>
            <a:r>
              <a:rPr b="1" i="0" lang="en" sz="1100" u="none" cap="none" strike="noStrike">
                <a:solidFill>
                  <a:srgbClr val="4F46E5"/>
                </a:solidFill>
                <a:latin typeface="Outfit"/>
                <a:ea typeface="Outfit"/>
                <a:cs typeface="Outfit"/>
                <a:sym typeface="Outfit"/>
              </a:rPr>
              <a:t>Le chat était assis</a:t>
            </a: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en" sz="1100" u="none" cap="none" strike="noStrike">
                <a:solidFill>
                  <a:srgbClr val="4F46E5"/>
                </a:solidFill>
                <a:latin typeface="Outfit"/>
                <a:ea typeface="Outfit"/>
                <a:cs typeface="Outfit"/>
                <a:sym typeface="Outfit"/>
              </a:rPr>
              <a:t>sur le tapis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Google Shape;425;p39"/>
          <p:cNvSpPr/>
          <p:nvPr/>
        </p:nvSpPr>
        <p:spPr>
          <a:xfrm>
            <a:off x="274350" y="978299"/>
            <a:ext cx="4023300" cy="2325900"/>
          </a:xfrm>
          <a:prstGeom prst="rect">
            <a:avLst/>
          </a:prstGeom>
          <a:solidFill>
            <a:srgbClr val="FEF2F2"/>
          </a:solidFill>
          <a:ln cap="flat" cmpd="sng" w="12700">
            <a:solidFill>
              <a:srgbClr val="DC262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6" name="Google Shape;426;p39"/>
          <p:cNvSpPr/>
          <p:nvPr/>
        </p:nvSpPr>
        <p:spPr>
          <a:xfrm>
            <a:off x="274345" y="1024023"/>
            <a:ext cx="40233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C2626"/>
              </a:buClr>
              <a:buSzPts val="1300"/>
              <a:buFont typeface="Outfit"/>
              <a:buNone/>
            </a:pPr>
            <a:r>
              <a:rPr b="1" i="0" lang="en" sz="1300" u="none" cap="none" strike="noStrike">
                <a:solidFill>
                  <a:srgbClr val="DC2626"/>
                </a:solidFill>
                <a:latin typeface="Outfit"/>
                <a:ea typeface="Outfit"/>
                <a:cs typeface="Outfit"/>
                <a:sym typeface="Outfit"/>
              </a:rPr>
              <a:t>❌ Without chain-of-thought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" name="Google Shape;427;p39"/>
          <p:cNvSpPr/>
          <p:nvPr/>
        </p:nvSpPr>
        <p:spPr>
          <a:xfrm>
            <a:off x="457225" y="1334574"/>
            <a:ext cx="3657600" cy="586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200"/>
              <a:buFont typeface="Outfit"/>
              <a:buNone/>
            </a:pPr>
            <a:r>
              <a:rPr b="1" i="0" lang="en" sz="1200" u="none" cap="none" strike="noStrike">
                <a:solidFill>
                  <a:srgbClr val="334155"/>
                </a:solidFill>
                <a:latin typeface="Outfit"/>
                <a:ea typeface="Outfit"/>
                <a:cs typeface="Outfit"/>
                <a:sym typeface="Outfit"/>
              </a:rPr>
              <a:t>Q: </a:t>
            </a:r>
            <a:r>
              <a:rPr b="0" i="0" lang="en" sz="12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A juggler can juggle 16 balls. Half are golf balls, and half of the golf balls are blue. How many blue golf balls?</a:t>
            </a:r>
            <a:br>
              <a:rPr b="0" i="0" lang="en" sz="12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</a:br>
            <a:br>
              <a:rPr b="0" i="0" lang="en" sz="12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</a:br>
            <a:r>
              <a:rPr b="1" i="0" lang="en" sz="1200" u="none" cap="none" strike="noStrike">
                <a:solidFill>
                  <a:srgbClr val="DC2626"/>
                </a:solidFill>
                <a:latin typeface="Outfit"/>
                <a:ea typeface="Outfit"/>
                <a:cs typeface="Outfit"/>
                <a:sym typeface="Outfit"/>
              </a:rPr>
              <a:t>A: </a:t>
            </a:r>
            <a:r>
              <a:rPr b="0" i="0" lang="en" sz="1200" u="none" cap="none" strike="noStrike">
                <a:solidFill>
                  <a:srgbClr val="DC2626"/>
                </a:solidFill>
                <a:latin typeface="Outfit"/>
                <a:ea typeface="Outfit"/>
                <a:cs typeface="Outfit"/>
                <a:sym typeface="Outfit"/>
              </a:rPr>
              <a:t>8</a:t>
            </a:r>
            <a:r>
              <a:rPr b="1" i="0" lang="en" sz="1200" u="none" cap="none" strike="noStrike">
                <a:solidFill>
                  <a:srgbClr val="DC2626"/>
                </a:solidFill>
                <a:latin typeface="Outfit"/>
                <a:ea typeface="Outfit"/>
                <a:cs typeface="Outfit"/>
                <a:sym typeface="Outfit"/>
              </a:rPr>
              <a:t>  ✗ (wrong)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" name="Google Shape;428;p39"/>
          <p:cNvSpPr/>
          <p:nvPr/>
        </p:nvSpPr>
        <p:spPr>
          <a:xfrm>
            <a:off x="4846350" y="978299"/>
            <a:ext cx="4023300" cy="2325900"/>
          </a:xfrm>
          <a:prstGeom prst="rect">
            <a:avLst/>
          </a:prstGeom>
          <a:solidFill>
            <a:srgbClr val="F0FDF4"/>
          </a:solidFill>
          <a:ln cap="flat" cmpd="sng" w="12700">
            <a:solidFill>
              <a:srgbClr val="16A3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9" name="Google Shape;429;p39"/>
          <p:cNvSpPr/>
          <p:nvPr/>
        </p:nvSpPr>
        <p:spPr>
          <a:xfrm>
            <a:off x="4846345" y="1024023"/>
            <a:ext cx="40233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6A34A"/>
              </a:buClr>
              <a:buSzPts val="1300"/>
              <a:buFont typeface="Outfit"/>
              <a:buNone/>
            </a:pPr>
            <a:r>
              <a:rPr b="1" i="0" lang="en" sz="1300" u="none" cap="none" strike="noStrike">
                <a:solidFill>
                  <a:srgbClr val="16A34A"/>
                </a:solidFill>
                <a:latin typeface="Outfit"/>
                <a:ea typeface="Outfit"/>
                <a:cs typeface="Outfit"/>
                <a:sym typeface="Outfit"/>
              </a:rPr>
              <a:t>✓ With chain-of-thought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9"/>
          <p:cNvSpPr/>
          <p:nvPr/>
        </p:nvSpPr>
        <p:spPr>
          <a:xfrm>
            <a:off x="5029225" y="1334575"/>
            <a:ext cx="3803100" cy="19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200"/>
              <a:buFont typeface="Outfit"/>
              <a:buNone/>
            </a:pPr>
            <a:r>
              <a:rPr b="1" lang="en" sz="1200">
                <a:solidFill>
                  <a:srgbClr val="334155"/>
                </a:solidFill>
                <a:latin typeface="Outfit"/>
                <a:ea typeface="Outfit"/>
                <a:cs typeface="Outfit"/>
                <a:sym typeface="Outfit"/>
              </a:rPr>
              <a:t>Q: </a:t>
            </a:r>
            <a:r>
              <a:rPr lang="en" sz="1200">
                <a:solidFill>
                  <a:srgbClr val="334155"/>
                </a:solidFill>
                <a:latin typeface="Outfit"/>
                <a:ea typeface="Outfit"/>
                <a:cs typeface="Outfit"/>
                <a:sym typeface="Outfit"/>
              </a:rPr>
              <a:t>Roger has 5 tennis balls. He buys 2 cans of 3. How many now?He started with 5. He bought 2×3=6. So 5+6=11. The answer is 11.</a:t>
            </a:r>
            <a:endParaRPr sz="1200">
              <a:solidFill>
                <a:srgbClr val="334155"/>
              </a:solidFill>
              <a:latin typeface="Outfit"/>
              <a:ea typeface="Outfit"/>
              <a:cs typeface="Outfit"/>
              <a:sym typeface="Outfit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200"/>
              <a:buFont typeface="Outfit"/>
              <a:buNone/>
            </a:pPr>
            <a:r>
              <a:rPr b="1" i="0" lang="en" sz="1200" u="none" cap="none" strike="noStrike">
                <a:solidFill>
                  <a:srgbClr val="334155"/>
                </a:solidFill>
                <a:latin typeface="Outfit"/>
                <a:ea typeface="Outfit"/>
                <a:cs typeface="Outfit"/>
                <a:sym typeface="Outfit"/>
              </a:rPr>
              <a:t>Q: </a:t>
            </a:r>
            <a:r>
              <a:rPr b="0" i="0" lang="en" sz="12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(same question)</a:t>
            </a:r>
            <a:br>
              <a:rPr b="0" i="0" lang="en" sz="12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</a:br>
            <a:r>
              <a:rPr b="1" i="0" lang="en" sz="1200" u="none" cap="none" strike="noStrike">
                <a:solidFill>
                  <a:srgbClr val="16A34A"/>
                </a:solidFill>
                <a:latin typeface="Outfit"/>
                <a:ea typeface="Outfit"/>
                <a:cs typeface="Outfit"/>
                <a:sym typeface="Outfit"/>
              </a:rPr>
              <a:t>A: </a:t>
            </a:r>
            <a:r>
              <a:rPr b="0" i="0" lang="en" sz="12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Let me think step by step.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200"/>
              <a:buFont typeface="Outfit"/>
              <a:buNone/>
            </a:pPr>
            <a:r>
              <a:rPr b="0" i="0" lang="en" sz="12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16 balls total.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200"/>
              <a:buFont typeface="Outfit"/>
              <a:buNone/>
            </a:pPr>
            <a:r>
              <a:rPr b="0" i="0" lang="en" sz="12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Half are golf balls → 8 golf balls.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200"/>
              <a:buFont typeface="Outfit"/>
              <a:buNone/>
            </a:pPr>
            <a:r>
              <a:rPr b="0" i="0" lang="en" sz="12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Half of those are blue → 4.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200"/>
              <a:buFont typeface="Outfit"/>
              <a:buNone/>
            </a:pPr>
            <a:r>
              <a:rPr b="0" i="0" lang="en" sz="12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The answer is 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A34A"/>
              </a:buClr>
              <a:buSzPts val="1200"/>
              <a:buFont typeface="Outfit"/>
              <a:buNone/>
            </a:pPr>
            <a:r>
              <a:rPr b="1" i="0" lang="en" sz="1200" u="none" cap="none" strike="noStrike">
                <a:solidFill>
                  <a:srgbClr val="16A34A"/>
                </a:solidFill>
                <a:latin typeface="Outfit"/>
                <a:ea typeface="Outfit"/>
                <a:cs typeface="Outfit"/>
                <a:sym typeface="Outfit"/>
              </a:rPr>
              <a:t>4  ✓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" name="Google Shape;431;p39"/>
          <p:cNvSpPr txBox="1"/>
          <p:nvPr>
            <p:ph idx="2" type="subTitle"/>
          </p:nvPr>
        </p:nvSpPr>
        <p:spPr>
          <a:xfrm>
            <a:off x="-3870" y="4726261"/>
            <a:ext cx="4046100" cy="411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Wei et al </a:t>
            </a:r>
            <a:r>
              <a:rPr b="1" lang="en">
                <a:latin typeface="Zilla Slab"/>
                <a:ea typeface="Zilla Slab"/>
                <a:cs typeface="Zilla Slab"/>
                <a:sym typeface="Zilla Slab"/>
              </a:rPr>
              <a:t>NeurIPS 2022</a:t>
            </a:r>
            <a:endParaRPr b="1">
              <a:latin typeface="Zilla Slab"/>
              <a:ea typeface="Zilla Slab"/>
              <a:cs typeface="Zilla Slab"/>
              <a:sym typeface="Zilla Slab"/>
            </a:endParaRPr>
          </a:p>
        </p:txBody>
      </p:sp>
      <p:sp>
        <p:nvSpPr>
          <p:cNvPr id="432" name="Google Shape;432;p39"/>
          <p:cNvSpPr txBox="1"/>
          <p:nvPr>
            <p:ph type="title"/>
          </p:nvPr>
        </p:nvSpPr>
        <p:spPr>
          <a:xfrm>
            <a:off x="311700" y="228600"/>
            <a:ext cx="8520600" cy="61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Chain-of-thought (CoT)</a:t>
            </a:r>
            <a:endParaRPr/>
          </a:p>
        </p:txBody>
      </p:sp>
      <p:sp>
        <p:nvSpPr>
          <p:cNvPr id="433" name="Google Shape;433;p39"/>
          <p:cNvSpPr/>
          <p:nvPr/>
        </p:nvSpPr>
        <p:spPr>
          <a:xfrm>
            <a:off x="434250" y="3557748"/>
            <a:ext cx="8275500" cy="1163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238759" lvl="0" marL="274320" marR="0" rtl="0" algn="l">
              <a:spcBef>
                <a:spcPts val="0"/>
              </a:spcBef>
              <a:spcAft>
                <a:spcPts val="0"/>
              </a:spcAft>
              <a:buClr>
                <a:srgbClr val="0E7490"/>
              </a:buClr>
              <a:buSzPts val="1600"/>
              <a:buFont typeface="Outfit"/>
              <a:buChar char="●"/>
            </a:pPr>
            <a:r>
              <a:rPr lang="en" sz="1600">
                <a:solidFill>
                  <a:srgbClr val="0E7490"/>
                </a:solidFill>
                <a:latin typeface="Outfit"/>
                <a:ea typeface="Outfit"/>
                <a:cs typeface="Outfit"/>
                <a:sym typeface="Outfit"/>
              </a:rPr>
              <a:t>CoT only helps at scale! Small models generate nonsensical reasoning</a:t>
            </a:r>
            <a:endParaRPr sz="1600">
              <a:solidFill>
                <a:srgbClr val="0E7490"/>
              </a:solidFill>
              <a:latin typeface="Outfit"/>
              <a:ea typeface="Outfit"/>
              <a:cs typeface="Outfit"/>
              <a:sym typeface="Outfit"/>
            </a:endParaRPr>
          </a:p>
          <a:p>
            <a:pPr indent="-238759" lvl="0" marL="274320" marR="0" rtl="0" algn="l">
              <a:spcBef>
                <a:spcPts val="0"/>
              </a:spcBef>
              <a:spcAft>
                <a:spcPts val="0"/>
              </a:spcAft>
              <a:buClr>
                <a:srgbClr val="0E7490"/>
              </a:buClr>
              <a:buSzPts val="1600"/>
              <a:buFont typeface="Outfit"/>
              <a:buChar char="●"/>
            </a:pPr>
            <a:r>
              <a:rPr lang="en" sz="1600">
                <a:solidFill>
                  <a:srgbClr val="0E7490"/>
                </a:solidFill>
                <a:latin typeface="Outfit"/>
                <a:ea typeface="Outfit"/>
                <a:cs typeface="Outfit"/>
                <a:sym typeface="Outfit"/>
              </a:rPr>
              <a:t>Above ~100B parameters, the reasoning actually becomes reliable</a:t>
            </a:r>
            <a:endParaRPr sz="1600">
              <a:solidFill>
                <a:srgbClr val="0E7490"/>
              </a:solidFill>
              <a:latin typeface="Outfit"/>
              <a:ea typeface="Outfit"/>
              <a:cs typeface="Outfit"/>
              <a:sym typeface="Outfit"/>
            </a:endParaRPr>
          </a:p>
          <a:p>
            <a:pPr indent="-238759" lvl="0" marL="274320" marR="0" rtl="0" algn="l">
              <a:spcBef>
                <a:spcPts val="0"/>
              </a:spcBef>
              <a:spcAft>
                <a:spcPts val="0"/>
              </a:spcAft>
              <a:buClr>
                <a:srgbClr val="0E7490"/>
              </a:buClr>
              <a:buSzPts val="1600"/>
              <a:buFont typeface="Outfit"/>
              <a:buChar char="●"/>
            </a:pPr>
            <a:r>
              <a:rPr lang="en" sz="1600">
                <a:solidFill>
                  <a:srgbClr val="0E7490"/>
                </a:solidFill>
                <a:latin typeface="Outfit"/>
                <a:ea typeface="Outfit"/>
                <a:cs typeface="Outfit"/>
                <a:sym typeface="Outfit"/>
              </a:rPr>
              <a:t>One of the clearest examples of a capability that appears to scale</a:t>
            </a:r>
            <a:endParaRPr sz="1600">
              <a:solidFill>
                <a:srgbClr val="0E749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40"/>
          <p:cNvSpPr/>
          <p:nvPr/>
        </p:nvSpPr>
        <p:spPr>
          <a:xfrm>
            <a:off x="274350" y="978299"/>
            <a:ext cx="4023300" cy="2325900"/>
          </a:xfrm>
          <a:prstGeom prst="rect">
            <a:avLst/>
          </a:prstGeom>
          <a:solidFill>
            <a:srgbClr val="FEF2F2"/>
          </a:solidFill>
          <a:ln cap="flat" cmpd="sng" w="12700">
            <a:solidFill>
              <a:srgbClr val="DC262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0" name="Google Shape;440;p40"/>
          <p:cNvSpPr/>
          <p:nvPr/>
        </p:nvSpPr>
        <p:spPr>
          <a:xfrm>
            <a:off x="274345" y="1024023"/>
            <a:ext cx="40233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C2626"/>
              </a:buClr>
              <a:buSzPts val="1300"/>
              <a:buFont typeface="Outfit"/>
              <a:buNone/>
            </a:pPr>
            <a:r>
              <a:rPr b="1" i="0" lang="en" sz="1300" u="none" cap="none" strike="noStrike">
                <a:solidFill>
                  <a:srgbClr val="DC2626"/>
                </a:solidFill>
                <a:latin typeface="Outfit"/>
                <a:ea typeface="Outfit"/>
                <a:cs typeface="Outfit"/>
                <a:sym typeface="Outfit"/>
              </a:rPr>
              <a:t>❌ Without chain-of-thought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" name="Google Shape;441;p40"/>
          <p:cNvSpPr/>
          <p:nvPr/>
        </p:nvSpPr>
        <p:spPr>
          <a:xfrm>
            <a:off x="457225" y="1334574"/>
            <a:ext cx="3657600" cy="586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200"/>
              <a:buFont typeface="Outfit"/>
              <a:buNone/>
            </a:pPr>
            <a:r>
              <a:rPr b="1" i="0" lang="en" sz="1200" u="none" cap="none" strike="noStrike">
                <a:solidFill>
                  <a:srgbClr val="334155"/>
                </a:solidFill>
                <a:latin typeface="Outfit"/>
                <a:ea typeface="Outfit"/>
                <a:cs typeface="Outfit"/>
                <a:sym typeface="Outfit"/>
              </a:rPr>
              <a:t>Q: </a:t>
            </a:r>
            <a:r>
              <a:rPr b="0" i="0" lang="en" sz="12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A juggler can juggle 16 balls. Half are golf balls, and half of the golf balls are blue. How many blue golf balls?</a:t>
            </a:r>
            <a:br>
              <a:rPr b="0" i="0" lang="en" sz="12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</a:br>
            <a:br>
              <a:rPr b="0" i="0" lang="en" sz="12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</a:br>
            <a:r>
              <a:rPr b="1" i="0" lang="en" sz="1200" u="none" cap="none" strike="noStrike">
                <a:solidFill>
                  <a:srgbClr val="DC2626"/>
                </a:solidFill>
                <a:latin typeface="Outfit"/>
                <a:ea typeface="Outfit"/>
                <a:cs typeface="Outfit"/>
                <a:sym typeface="Outfit"/>
              </a:rPr>
              <a:t>A: </a:t>
            </a:r>
            <a:r>
              <a:rPr b="0" i="0" lang="en" sz="1200" u="none" cap="none" strike="noStrike">
                <a:solidFill>
                  <a:srgbClr val="DC2626"/>
                </a:solidFill>
                <a:latin typeface="Outfit"/>
                <a:ea typeface="Outfit"/>
                <a:cs typeface="Outfit"/>
                <a:sym typeface="Outfit"/>
              </a:rPr>
              <a:t>8</a:t>
            </a:r>
            <a:r>
              <a:rPr b="1" i="0" lang="en" sz="1200" u="none" cap="none" strike="noStrike">
                <a:solidFill>
                  <a:srgbClr val="DC2626"/>
                </a:solidFill>
                <a:latin typeface="Outfit"/>
                <a:ea typeface="Outfit"/>
                <a:cs typeface="Outfit"/>
                <a:sym typeface="Outfit"/>
              </a:rPr>
              <a:t>  ✗ (wrong)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2" name="Google Shape;442;p40"/>
          <p:cNvSpPr/>
          <p:nvPr/>
        </p:nvSpPr>
        <p:spPr>
          <a:xfrm>
            <a:off x="4846350" y="978299"/>
            <a:ext cx="4023300" cy="2325900"/>
          </a:xfrm>
          <a:prstGeom prst="rect">
            <a:avLst/>
          </a:prstGeom>
          <a:solidFill>
            <a:srgbClr val="F0FDF4"/>
          </a:solidFill>
          <a:ln cap="flat" cmpd="sng" w="12700">
            <a:solidFill>
              <a:srgbClr val="16A3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3" name="Google Shape;443;p40"/>
          <p:cNvSpPr/>
          <p:nvPr/>
        </p:nvSpPr>
        <p:spPr>
          <a:xfrm>
            <a:off x="4846345" y="1024023"/>
            <a:ext cx="40233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6A34A"/>
              </a:buClr>
              <a:buSzPts val="1300"/>
              <a:buFont typeface="Outfit"/>
              <a:buNone/>
            </a:pPr>
            <a:r>
              <a:rPr b="1" i="0" lang="en" sz="1300" u="none" cap="none" strike="noStrike">
                <a:solidFill>
                  <a:srgbClr val="16A34A"/>
                </a:solidFill>
                <a:latin typeface="Outfit"/>
                <a:ea typeface="Outfit"/>
                <a:cs typeface="Outfit"/>
                <a:sym typeface="Outfit"/>
              </a:rPr>
              <a:t>✓ With chain-of-thought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4" name="Google Shape;444;p40"/>
          <p:cNvSpPr/>
          <p:nvPr/>
        </p:nvSpPr>
        <p:spPr>
          <a:xfrm>
            <a:off x="5029225" y="1334575"/>
            <a:ext cx="3803100" cy="19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200"/>
              <a:buFont typeface="Outfit"/>
              <a:buNone/>
            </a:pPr>
            <a:r>
              <a:rPr b="1" lang="en" sz="1200">
                <a:solidFill>
                  <a:srgbClr val="334155"/>
                </a:solidFill>
                <a:latin typeface="Outfit"/>
                <a:ea typeface="Outfit"/>
                <a:cs typeface="Outfit"/>
                <a:sym typeface="Outfit"/>
              </a:rPr>
              <a:t>Q: </a:t>
            </a:r>
            <a:r>
              <a:rPr lang="en" sz="1200">
                <a:solidFill>
                  <a:srgbClr val="334155"/>
                </a:solidFill>
                <a:latin typeface="Outfit"/>
                <a:ea typeface="Outfit"/>
                <a:cs typeface="Outfit"/>
                <a:sym typeface="Outfit"/>
              </a:rPr>
              <a:t>Roger has 5 tennis balls. He buys 2 cans of 3. How many now?He started with 5. He bought 2×3=6. So 5+6=11. The answer is 11.</a:t>
            </a:r>
            <a:endParaRPr sz="1200">
              <a:solidFill>
                <a:srgbClr val="334155"/>
              </a:solidFill>
              <a:latin typeface="Outfit"/>
              <a:ea typeface="Outfit"/>
              <a:cs typeface="Outfit"/>
              <a:sym typeface="Outfit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200"/>
              <a:buFont typeface="Outfit"/>
              <a:buNone/>
            </a:pPr>
            <a:r>
              <a:rPr b="1" i="0" lang="en" sz="1200" u="none" cap="none" strike="noStrike">
                <a:solidFill>
                  <a:srgbClr val="334155"/>
                </a:solidFill>
                <a:latin typeface="Outfit"/>
                <a:ea typeface="Outfit"/>
                <a:cs typeface="Outfit"/>
                <a:sym typeface="Outfit"/>
              </a:rPr>
              <a:t>Q: </a:t>
            </a:r>
            <a:r>
              <a:rPr b="0" i="0" lang="en" sz="12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(same question)</a:t>
            </a:r>
            <a:br>
              <a:rPr b="0" i="0" lang="en" sz="12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</a:br>
            <a:r>
              <a:rPr b="1" i="0" lang="en" sz="1200" u="none" cap="none" strike="noStrike">
                <a:solidFill>
                  <a:srgbClr val="16A34A"/>
                </a:solidFill>
                <a:latin typeface="Outfit"/>
                <a:ea typeface="Outfit"/>
                <a:cs typeface="Outfit"/>
                <a:sym typeface="Outfit"/>
              </a:rPr>
              <a:t>A: </a:t>
            </a:r>
            <a:r>
              <a:rPr b="0" i="0" lang="en" sz="12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Let me think step by step.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200"/>
              <a:buFont typeface="Outfit"/>
              <a:buNone/>
            </a:pPr>
            <a:r>
              <a:rPr b="0" i="0" lang="en" sz="12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16 balls total.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200"/>
              <a:buFont typeface="Outfit"/>
              <a:buNone/>
            </a:pPr>
            <a:r>
              <a:rPr b="0" i="0" lang="en" sz="12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Half are golf balls → 8 golf balls.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200"/>
              <a:buFont typeface="Outfit"/>
              <a:buNone/>
            </a:pPr>
            <a:r>
              <a:rPr b="0" i="0" lang="en" sz="12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Half of those are blue → 4.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200"/>
              <a:buFont typeface="Outfit"/>
              <a:buNone/>
            </a:pPr>
            <a:r>
              <a:rPr b="0" i="0" lang="en" sz="12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The answer is 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A34A"/>
              </a:buClr>
              <a:buSzPts val="1200"/>
              <a:buFont typeface="Outfit"/>
              <a:buNone/>
            </a:pPr>
            <a:r>
              <a:rPr b="1" i="0" lang="en" sz="1200" u="none" cap="none" strike="noStrike">
                <a:solidFill>
                  <a:srgbClr val="16A34A"/>
                </a:solidFill>
                <a:latin typeface="Outfit"/>
                <a:ea typeface="Outfit"/>
                <a:cs typeface="Outfit"/>
                <a:sym typeface="Outfit"/>
              </a:rPr>
              <a:t>4  ✓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5" name="Google Shape;445;p40"/>
          <p:cNvSpPr txBox="1"/>
          <p:nvPr>
            <p:ph idx="2" type="subTitle"/>
          </p:nvPr>
        </p:nvSpPr>
        <p:spPr>
          <a:xfrm>
            <a:off x="-3870" y="4726261"/>
            <a:ext cx="4046100" cy="411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Wei et al </a:t>
            </a:r>
            <a:r>
              <a:rPr b="1" lang="en">
                <a:latin typeface="Zilla Slab"/>
                <a:ea typeface="Zilla Slab"/>
                <a:cs typeface="Zilla Slab"/>
                <a:sym typeface="Zilla Slab"/>
              </a:rPr>
              <a:t>NeurIPS 2022</a:t>
            </a:r>
            <a:endParaRPr b="1">
              <a:latin typeface="Zilla Slab"/>
              <a:ea typeface="Zilla Slab"/>
              <a:cs typeface="Zilla Slab"/>
              <a:sym typeface="Zilla Slab"/>
            </a:endParaRPr>
          </a:p>
        </p:txBody>
      </p:sp>
      <p:sp>
        <p:nvSpPr>
          <p:cNvPr id="446" name="Google Shape;446;p40"/>
          <p:cNvSpPr txBox="1"/>
          <p:nvPr>
            <p:ph type="title"/>
          </p:nvPr>
        </p:nvSpPr>
        <p:spPr>
          <a:xfrm>
            <a:off x="311700" y="228600"/>
            <a:ext cx="8520600" cy="61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Chain-of-thought (CoT)</a:t>
            </a:r>
            <a:endParaRPr/>
          </a:p>
        </p:txBody>
      </p:sp>
      <p:sp>
        <p:nvSpPr>
          <p:cNvPr id="447" name="Google Shape;447;p40"/>
          <p:cNvSpPr/>
          <p:nvPr/>
        </p:nvSpPr>
        <p:spPr>
          <a:xfrm>
            <a:off x="434250" y="3557748"/>
            <a:ext cx="8275500" cy="1163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238759" lvl="0" marL="274320" marR="0" rtl="0" algn="l">
              <a:spcBef>
                <a:spcPts val="0"/>
              </a:spcBef>
              <a:spcAft>
                <a:spcPts val="0"/>
              </a:spcAft>
              <a:buClr>
                <a:srgbClr val="0E7490"/>
              </a:buClr>
              <a:buSzPts val="1600"/>
              <a:buFont typeface="Outfit"/>
              <a:buChar char="●"/>
            </a:pPr>
            <a:r>
              <a:rPr lang="en" sz="1600">
                <a:solidFill>
                  <a:srgbClr val="0E7490"/>
                </a:solidFill>
                <a:latin typeface="Outfit"/>
                <a:ea typeface="Outfit"/>
                <a:cs typeface="Outfit"/>
                <a:sym typeface="Outfit"/>
              </a:rPr>
              <a:t>Small wrinkle 😏 Zero-shot CoT (Kojima et al., 2022) showed you can just add "Let's think step by step" to the prompt — no examples needed — and get most of the benefit.</a:t>
            </a:r>
            <a:endParaRPr sz="1600">
              <a:solidFill>
                <a:srgbClr val="0E7490"/>
              </a:solidFill>
              <a:latin typeface="Outfit"/>
              <a:ea typeface="Outfit"/>
              <a:cs typeface="Outfit"/>
              <a:sym typeface="Outfit"/>
            </a:endParaRPr>
          </a:p>
          <a:p>
            <a:pPr indent="-238759" lvl="0" marL="274320" marR="0" rtl="0" algn="l">
              <a:spcBef>
                <a:spcPts val="0"/>
              </a:spcBef>
              <a:spcAft>
                <a:spcPts val="0"/>
              </a:spcAft>
              <a:buClr>
                <a:srgbClr val="0E7490"/>
              </a:buClr>
              <a:buSzPts val="1600"/>
              <a:buFont typeface="Outfit"/>
              <a:buChar char="●"/>
            </a:pPr>
            <a:r>
              <a:rPr lang="en" sz="1600">
                <a:solidFill>
                  <a:srgbClr val="0E7490"/>
                </a:solidFill>
                <a:latin typeface="Outfit"/>
                <a:ea typeface="Outfit"/>
                <a:cs typeface="Outfit"/>
                <a:sym typeface="Outfit"/>
              </a:rPr>
              <a:t>Which makes it even harder to explain: what is the model actually doing?</a:t>
            </a:r>
            <a:endParaRPr sz="1600">
              <a:solidFill>
                <a:srgbClr val="0E749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52" name="Shape 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Google Shape;453;p41"/>
          <p:cNvSpPr/>
          <p:nvPr/>
        </p:nvSpPr>
        <p:spPr>
          <a:xfrm>
            <a:off x="640080" y="868680"/>
            <a:ext cx="78639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46E5"/>
              </a:buClr>
              <a:buSzPts val="1500"/>
              <a:buFont typeface="Outfit"/>
              <a:buNone/>
            </a:pPr>
            <a:r>
              <a:rPr b="0" i="0" lang="en" sz="1500" u="none" cap="none" strike="noStrike">
                <a:solidFill>
                  <a:srgbClr val="4F46E5"/>
                </a:solidFill>
                <a:latin typeface="Outfit"/>
                <a:ea typeface="Outfit"/>
                <a:cs typeface="Outfit"/>
                <a:sym typeface="Outfit"/>
              </a:rPr>
              <a:t>What if you skip human demonstrations entirely and just reward correct answers?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4" name="Google Shape;454;p41"/>
          <p:cNvSpPr/>
          <p:nvPr/>
        </p:nvSpPr>
        <p:spPr>
          <a:xfrm>
            <a:off x="274325" y="1371600"/>
            <a:ext cx="4023300" cy="1504800"/>
          </a:xfrm>
          <a:prstGeom prst="rect">
            <a:avLst/>
          </a:prstGeom>
          <a:solidFill>
            <a:srgbClr val="F8FAFC"/>
          </a:solidFill>
          <a:ln cap="flat" cmpd="sng" w="12700">
            <a:solidFill>
              <a:srgbClr val="4F46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5" name="Google Shape;455;p41"/>
          <p:cNvSpPr/>
          <p:nvPr/>
        </p:nvSpPr>
        <p:spPr>
          <a:xfrm>
            <a:off x="274320" y="1417320"/>
            <a:ext cx="40233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F46E5"/>
              </a:buClr>
              <a:buSzPts val="1300"/>
              <a:buFont typeface="Outfit"/>
              <a:buNone/>
            </a:pPr>
            <a:r>
              <a:rPr b="1" i="0" lang="en" sz="1300" u="none" cap="none" strike="noStrike">
                <a:solidFill>
                  <a:srgbClr val="4F46E5"/>
                </a:solidFill>
                <a:latin typeface="Outfit"/>
                <a:ea typeface="Outfit"/>
                <a:cs typeface="Outfit"/>
                <a:sym typeface="Outfit"/>
              </a:rPr>
              <a:t>InstructGPT approach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6" name="Google Shape;456;p41"/>
          <p:cNvSpPr/>
          <p:nvPr/>
        </p:nvSpPr>
        <p:spPr>
          <a:xfrm>
            <a:off x="457200" y="1828800"/>
            <a:ext cx="3657600" cy="118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200"/>
              <a:buFont typeface="Outfit"/>
              <a:buNone/>
            </a:pPr>
            <a:r>
              <a:rPr b="0" i="0" lang="en" sz="12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1. Human demos (SFT)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200"/>
              <a:buFont typeface="Outfit"/>
              <a:buNone/>
            </a:pPr>
            <a:r>
              <a:rPr b="0" i="0" lang="en" sz="12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2. Human comparisons (reward model)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200"/>
              <a:buFont typeface="Outfit"/>
              <a:buNone/>
            </a:pPr>
            <a:r>
              <a:rPr b="0" i="0" lang="en" sz="12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3. RL optimization (PPO)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200"/>
              <a:buFont typeface="Outfit"/>
              <a:buNone/>
            </a:pPr>
            <a:r>
              <a:rPr b="0" i="0" lang="en" sz="12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Humans teach reasoning format first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7" name="Google Shape;457;p41"/>
          <p:cNvSpPr/>
          <p:nvPr/>
        </p:nvSpPr>
        <p:spPr>
          <a:xfrm>
            <a:off x="4846325" y="1371600"/>
            <a:ext cx="4023300" cy="1504800"/>
          </a:xfrm>
          <a:prstGeom prst="rect">
            <a:avLst/>
          </a:prstGeom>
          <a:solidFill>
            <a:srgbClr val="FFFBEB"/>
          </a:solidFill>
          <a:ln cap="flat" cmpd="sng" w="19050">
            <a:solidFill>
              <a:srgbClr val="D977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8" name="Google Shape;458;p41"/>
          <p:cNvSpPr/>
          <p:nvPr/>
        </p:nvSpPr>
        <p:spPr>
          <a:xfrm>
            <a:off x="4846320" y="1417320"/>
            <a:ext cx="40233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97706"/>
              </a:buClr>
              <a:buSzPts val="1300"/>
              <a:buFont typeface="Outfit"/>
              <a:buNone/>
            </a:pPr>
            <a:r>
              <a:rPr b="1" i="0" lang="en" sz="1300" u="none" cap="none" strike="noStrike">
                <a:solidFill>
                  <a:srgbClr val="D97706"/>
                </a:solidFill>
                <a:latin typeface="Outfit"/>
                <a:ea typeface="Outfit"/>
                <a:cs typeface="Outfit"/>
                <a:sym typeface="Outfit"/>
              </a:rPr>
              <a:t>DeepSeek-R1 approach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9" name="Google Shape;459;p41"/>
          <p:cNvSpPr/>
          <p:nvPr/>
        </p:nvSpPr>
        <p:spPr>
          <a:xfrm>
            <a:off x="5029200" y="1828800"/>
            <a:ext cx="3657600" cy="118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200"/>
              <a:buFont typeface="Outfit"/>
              <a:buNone/>
            </a:pPr>
            <a:r>
              <a:rPr b="0" i="0" lang="en" sz="12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1. Skip SFT entirely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200"/>
              <a:buFont typeface="Outfit"/>
              <a:buNone/>
            </a:pPr>
            <a:r>
              <a:rPr b="0" i="0" lang="en" sz="12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2. Only reward: "is the answer correct?"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200"/>
              <a:buFont typeface="Outfit"/>
              <a:buNone/>
            </a:pPr>
            <a:r>
              <a:rPr b="0" i="0" lang="en" sz="12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3. RL optimization (GRPO)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200"/>
              <a:buFont typeface="Outfit"/>
              <a:buNone/>
            </a:pPr>
            <a:r>
              <a:rPr b="0" i="0" lang="en" sz="12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No human reasoning demos needed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0" name="Google Shape;460;p41"/>
          <p:cNvSpPr/>
          <p:nvPr/>
        </p:nvSpPr>
        <p:spPr>
          <a:xfrm>
            <a:off x="640080" y="3102551"/>
            <a:ext cx="78639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400"/>
              <a:buFont typeface="Outfit"/>
              <a:buNone/>
            </a:pPr>
            <a:r>
              <a:rPr b="1" i="0" lang="en" sz="1400" u="none" cap="none" strike="noStrike">
                <a:solidFill>
                  <a:srgbClr val="334155"/>
                </a:solidFill>
                <a:latin typeface="Outfit"/>
                <a:ea typeface="Outfit"/>
                <a:cs typeface="Outfit"/>
                <a:sym typeface="Outfit"/>
              </a:rPr>
              <a:t>What emerged without being taught: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1" name="Google Shape;461;p41"/>
          <p:cNvSpPr/>
          <p:nvPr/>
        </p:nvSpPr>
        <p:spPr>
          <a:xfrm>
            <a:off x="274320" y="3468311"/>
            <a:ext cx="2011800" cy="548700"/>
          </a:xfrm>
          <a:prstGeom prst="rect">
            <a:avLst/>
          </a:prstGeom>
          <a:solidFill>
            <a:srgbClr val="F8FAFC"/>
          </a:solidFill>
          <a:ln cap="flat" cmpd="sng" w="12700">
            <a:solidFill>
              <a:srgbClr val="4F46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2" name="Google Shape;462;p41"/>
          <p:cNvSpPr/>
          <p:nvPr/>
        </p:nvSpPr>
        <p:spPr>
          <a:xfrm>
            <a:off x="274320" y="3468311"/>
            <a:ext cx="2011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F46E5"/>
              </a:buClr>
              <a:buSzPts val="1000"/>
              <a:buFont typeface="Outfit"/>
              <a:buNone/>
            </a:pPr>
            <a:r>
              <a:rPr b="1" i="0" lang="en" sz="1000" u="none" cap="none" strike="noStrike">
                <a:solidFill>
                  <a:srgbClr val="4F46E5"/>
                </a:solidFill>
                <a:latin typeface="Outfit"/>
                <a:ea typeface="Outfit"/>
                <a:cs typeface="Outfit"/>
                <a:sym typeface="Outfit"/>
              </a:rPr>
              <a:t>Chain-of-thought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3" name="Google Shape;463;p41"/>
          <p:cNvSpPr/>
          <p:nvPr/>
        </p:nvSpPr>
        <p:spPr>
          <a:xfrm>
            <a:off x="274320" y="3742631"/>
            <a:ext cx="2011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900"/>
              <a:buFont typeface="Outfit"/>
              <a:buNone/>
            </a:pPr>
            <a:r>
              <a:rPr b="0" i="1" lang="en" sz="9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Step-by-step reasoning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4" name="Google Shape;464;p41"/>
          <p:cNvSpPr/>
          <p:nvPr/>
        </p:nvSpPr>
        <p:spPr>
          <a:xfrm>
            <a:off x="2468880" y="3468311"/>
            <a:ext cx="2011800" cy="548700"/>
          </a:xfrm>
          <a:prstGeom prst="rect">
            <a:avLst/>
          </a:prstGeom>
          <a:solidFill>
            <a:srgbClr val="F8FAFC"/>
          </a:solidFill>
          <a:ln cap="flat" cmpd="sng" w="12700">
            <a:solidFill>
              <a:srgbClr val="0891B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5" name="Google Shape;465;p41"/>
          <p:cNvSpPr/>
          <p:nvPr/>
        </p:nvSpPr>
        <p:spPr>
          <a:xfrm>
            <a:off x="2468880" y="3468311"/>
            <a:ext cx="2011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891B2"/>
              </a:buClr>
              <a:buSzPts val="1000"/>
              <a:buFont typeface="Outfit"/>
              <a:buNone/>
            </a:pPr>
            <a:r>
              <a:rPr b="1" i="0" lang="en" sz="1000" u="none" cap="none" strike="noStrike">
                <a:solidFill>
                  <a:srgbClr val="0891B2"/>
                </a:solidFill>
                <a:latin typeface="Outfit"/>
                <a:ea typeface="Outfit"/>
                <a:cs typeface="Outfit"/>
                <a:sym typeface="Outfit"/>
              </a:rPr>
              <a:t>Self-verification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6" name="Google Shape;466;p41"/>
          <p:cNvSpPr/>
          <p:nvPr/>
        </p:nvSpPr>
        <p:spPr>
          <a:xfrm>
            <a:off x="2468880" y="3742631"/>
            <a:ext cx="2011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900"/>
              <a:buFont typeface="Outfit"/>
              <a:buNone/>
            </a:pPr>
            <a:r>
              <a:rPr b="0" i="1" lang="en" sz="9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"Let me check my work..."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7" name="Google Shape;467;p41"/>
          <p:cNvSpPr/>
          <p:nvPr/>
        </p:nvSpPr>
        <p:spPr>
          <a:xfrm>
            <a:off x="4663440" y="3468311"/>
            <a:ext cx="2011800" cy="548700"/>
          </a:xfrm>
          <a:prstGeom prst="rect">
            <a:avLst/>
          </a:prstGeom>
          <a:solidFill>
            <a:srgbClr val="F8FAFC"/>
          </a:solidFill>
          <a:ln cap="flat" cmpd="sng" w="12700">
            <a:solidFill>
              <a:srgbClr val="D977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8" name="Google Shape;468;p41"/>
          <p:cNvSpPr/>
          <p:nvPr/>
        </p:nvSpPr>
        <p:spPr>
          <a:xfrm>
            <a:off x="4663440" y="3468311"/>
            <a:ext cx="2011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97706"/>
              </a:buClr>
              <a:buSzPts val="1000"/>
              <a:buFont typeface="Outfit"/>
              <a:buNone/>
            </a:pPr>
            <a:r>
              <a:rPr b="1" i="0" lang="en" sz="1000" u="none" cap="none" strike="noStrike">
                <a:solidFill>
                  <a:srgbClr val="D97706"/>
                </a:solidFill>
                <a:latin typeface="Outfit"/>
                <a:ea typeface="Outfit"/>
                <a:cs typeface="Outfit"/>
                <a:sym typeface="Outfit"/>
              </a:rPr>
              <a:t>Aha moments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41"/>
          <p:cNvSpPr/>
          <p:nvPr/>
        </p:nvSpPr>
        <p:spPr>
          <a:xfrm>
            <a:off x="4663440" y="3742631"/>
            <a:ext cx="2011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900"/>
              <a:buFont typeface="Outfit"/>
              <a:buNone/>
            </a:pPr>
            <a:r>
              <a:rPr b="0" i="1" lang="en" sz="9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"Wait, I see a better way"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0" name="Google Shape;470;p41"/>
          <p:cNvSpPr/>
          <p:nvPr/>
        </p:nvSpPr>
        <p:spPr>
          <a:xfrm>
            <a:off x="6858000" y="3468311"/>
            <a:ext cx="2011800" cy="548700"/>
          </a:xfrm>
          <a:prstGeom prst="rect">
            <a:avLst/>
          </a:prstGeom>
          <a:solidFill>
            <a:srgbClr val="F8FAFC"/>
          </a:solidFill>
          <a:ln cap="flat" cmpd="sng" w="12700">
            <a:solidFill>
              <a:srgbClr val="7C3AE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1" name="Google Shape;471;p41"/>
          <p:cNvSpPr/>
          <p:nvPr/>
        </p:nvSpPr>
        <p:spPr>
          <a:xfrm>
            <a:off x="6858000" y="3468311"/>
            <a:ext cx="2011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C3AED"/>
              </a:buClr>
              <a:buSzPts val="1000"/>
              <a:buFont typeface="Outfit"/>
              <a:buNone/>
            </a:pPr>
            <a:r>
              <a:rPr b="1" i="0" lang="en" sz="1000" u="none" cap="none" strike="noStrike">
                <a:solidFill>
                  <a:srgbClr val="7C3AED"/>
                </a:solidFill>
                <a:latin typeface="Outfit"/>
                <a:ea typeface="Outfit"/>
                <a:cs typeface="Outfit"/>
                <a:sym typeface="Outfit"/>
              </a:rPr>
              <a:t>Reflection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2" name="Google Shape;472;p41"/>
          <p:cNvSpPr/>
          <p:nvPr/>
        </p:nvSpPr>
        <p:spPr>
          <a:xfrm>
            <a:off x="6858000" y="3742631"/>
            <a:ext cx="2011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900"/>
              <a:buFont typeface="Outfit"/>
              <a:buNone/>
            </a:pPr>
            <a:r>
              <a:rPr b="0" i="1" lang="en" sz="9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"My first approach was wrong"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3" name="Google Shape;473;p41"/>
          <p:cNvSpPr txBox="1"/>
          <p:nvPr>
            <p:ph type="title"/>
          </p:nvPr>
        </p:nvSpPr>
        <p:spPr>
          <a:xfrm>
            <a:off x="311700" y="228600"/>
            <a:ext cx="8520600" cy="61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DeepSeek-R1: reasoning from RL alone</a:t>
            </a:r>
            <a:endParaRPr/>
          </a:p>
        </p:txBody>
      </p:sp>
      <p:sp>
        <p:nvSpPr>
          <p:cNvPr id="474" name="Google Shape;474;p41"/>
          <p:cNvSpPr txBox="1"/>
          <p:nvPr>
            <p:ph idx="2" type="subTitle"/>
          </p:nvPr>
        </p:nvSpPr>
        <p:spPr>
          <a:xfrm>
            <a:off x="-3870" y="4726261"/>
            <a:ext cx="4046100" cy="411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Guo et al </a:t>
            </a:r>
            <a:r>
              <a:rPr b="1" lang="en">
                <a:latin typeface="Zilla Slab"/>
                <a:ea typeface="Zilla Slab"/>
                <a:cs typeface="Zilla Slab"/>
                <a:sym typeface="Zilla Slab"/>
              </a:rPr>
              <a:t>Nature 2025</a:t>
            </a:r>
            <a:endParaRPr b="1">
              <a:latin typeface="Zilla Slab"/>
              <a:ea typeface="Zilla Slab"/>
              <a:cs typeface="Zilla Slab"/>
              <a:sym typeface="Zilla Slab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42"/>
          <p:cNvSpPr/>
          <p:nvPr/>
        </p:nvSpPr>
        <p:spPr>
          <a:xfrm>
            <a:off x="548640" y="274320"/>
            <a:ext cx="80466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46E5"/>
              </a:buClr>
              <a:buSzPts val="2400"/>
              <a:buFont typeface="Outfit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1" name="Google Shape;481;p42"/>
          <p:cNvSpPr txBox="1"/>
          <p:nvPr>
            <p:ph type="title"/>
          </p:nvPr>
        </p:nvSpPr>
        <p:spPr>
          <a:xfrm>
            <a:off x="311700" y="228600"/>
            <a:ext cx="8520600" cy="61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"Emergent" abilities</a:t>
            </a:r>
            <a:endParaRPr/>
          </a:p>
        </p:txBody>
      </p:sp>
      <p:sp>
        <p:nvSpPr>
          <p:cNvPr id="482" name="Google Shape;482;p42"/>
          <p:cNvSpPr txBox="1"/>
          <p:nvPr>
            <p:ph idx="2" type="subTitle"/>
          </p:nvPr>
        </p:nvSpPr>
        <p:spPr>
          <a:xfrm>
            <a:off x="-3870" y="4726261"/>
            <a:ext cx="4046100" cy="411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Wei et al </a:t>
            </a:r>
            <a:r>
              <a:rPr b="1" lang="en">
                <a:latin typeface="Zilla Slab"/>
                <a:ea typeface="Zilla Slab"/>
                <a:cs typeface="Zilla Slab"/>
                <a:sym typeface="Zilla Slab"/>
              </a:rPr>
              <a:t>TMLR 2022</a:t>
            </a:r>
            <a:endParaRPr b="1">
              <a:latin typeface="Zilla Slab"/>
              <a:ea typeface="Zilla Slab"/>
              <a:cs typeface="Zilla Slab"/>
              <a:sym typeface="Zilla Slab"/>
            </a:endParaRPr>
          </a:p>
        </p:txBody>
      </p:sp>
      <p:grpSp>
        <p:nvGrpSpPr>
          <p:cNvPr id="483" name="Google Shape;483;p42"/>
          <p:cNvGrpSpPr/>
          <p:nvPr/>
        </p:nvGrpSpPr>
        <p:grpSpPr>
          <a:xfrm>
            <a:off x="130170" y="1575116"/>
            <a:ext cx="5045954" cy="2540047"/>
            <a:chOff x="136752" y="1373957"/>
            <a:chExt cx="5994243" cy="3017400"/>
          </a:xfrm>
        </p:grpSpPr>
        <p:sp>
          <p:nvSpPr>
            <p:cNvPr id="484" name="Google Shape;484;p42"/>
            <p:cNvSpPr/>
            <p:nvPr/>
          </p:nvSpPr>
          <p:spPr>
            <a:xfrm rot="-5400000">
              <a:off x="-169698" y="2579280"/>
              <a:ext cx="1024800" cy="411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8475" lIns="76975" spcFirstLastPara="1" rIns="76975" wrap="square" tIns="384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Clr>
                  <a:srgbClr val="334155"/>
                </a:buClr>
                <a:buSzPts val="842"/>
                <a:buFont typeface="Outfit"/>
                <a:buNone/>
              </a:pPr>
              <a:r>
                <a:rPr lang="en" sz="1178">
                  <a:solidFill>
                    <a:srgbClr val="334155"/>
                  </a:solidFill>
                  <a:latin typeface="Outfit"/>
                  <a:ea typeface="Outfit"/>
                  <a:cs typeface="Outfit"/>
                  <a:sym typeface="Outfit"/>
                </a:rPr>
                <a:t>A</a:t>
              </a:r>
              <a:r>
                <a:rPr i="0" lang="en" sz="1178" u="none" cap="none" strike="noStrike">
                  <a:solidFill>
                    <a:srgbClr val="334155"/>
                  </a:solidFill>
                  <a:latin typeface="Outfit"/>
                  <a:ea typeface="Outfit"/>
                  <a:cs typeface="Outfit"/>
                  <a:sym typeface="Outfit"/>
                </a:rPr>
                <a:t>ccuracy</a:t>
              </a:r>
              <a:endParaRPr i="0" sz="1178" u="none" cap="none" strike="noStrik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85" name="Google Shape;485;p42"/>
            <p:cNvSpPr/>
            <p:nvPr/>
          </p:nvSpPr>
          <p:spPr>
            <a:xfrm>
              <a:off x="644475" y="3934277"/>
              <a:ext cx="640200" cy="137100"/>
            </a:xfrm>
            <a:prstGeom prst="rect">
              <a:avLst/>
            </a:prstGeom>
            <a:solidFill>
              <a:srgbClr val="94A3B8"/>
            </a:solidFill>
            <a:ln>
              <a:noFill/>
            </a:ln>
          </p:spPr>
          <p:txBody>
            <a:bodyPr anchorCtr="0" anchor="ctr" bIns="76975" lIns="76975" spcFirstLastPara="1" rIns="76975" wrap="square" tIns="769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6" name="Google Shape;486;p42"/>
            <p:cNvSpPr/>
            <p:nvPr/>
          </p:nvSpPr>
          <p:spPr>
            <a:xfrm>
              <a:off x="644475" y="4117157"/>
              <a:ext cx="640200" cy="274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8475" lIns="76975" spcFirstLastPara="1" rIns="76975" wrap="square" tIns="384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Clr>
                  <a:srgbClr val="334155"/>
                </a:buClr>
                <a:buSzPts val="758"/>
                <a:buFont typeface="Outfit"/>
                <a:buNone/>
              </a:pPr>
              <a:r>
                <a:rPr b="0" i="0" lang="en" sz="757" u="none" cap="none" strike="noStrike">
                  <a:solidFill>
                    <a:srgbClr val="334155"/>
                  </a:solidFill>
                  <a:latin typeface="Outfit"/>
                  <a:ea typeface="Outfit"/>
                  <a:cs typeface="Outfit"/>
                  <a:sym typeface="Outfit"/>
                </a:rPr>
                <a:t>1B</a:t>
              </a:r>
              <a:endParaRPr b="0" i="0" sz="757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7" name="Google Shape;487;p42"/>
            <p:cNvSpPr/>
            <p:nvPr/>
          </p:nvSpPr>
          <p:spPr>
            <a:xfrm>
              <a:off x="644475" y="3705677"/>
              <a:ext cx="6402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8475" lIns="76975" spcFirstLastPara="1" rIns="76975" wrap="square" tIns="384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Clr>
                  <a:srgbClr val="94A3B8"/>
                </a:buClr>
                <a:buSzPts val="758"/>
                <a:buFont typeface="Outfit"/>
                <a:buNone/>
              </a:pPr>
              <a:r>
                <a:rPr b="0" i="0" lang="en" sz="757" u="none" cap="none" strike="noStrike">
                  <a:solidFill>
                    <a:srgbClr val="94A3B8"/>
                  </a:solidFill>
                  <a:latin typeface="Outfit"/>
                  <a:ea typeface="Outfit"/>
                  <a:cs typeface="Outfit"/>
                  <a:sym typeface="Outfit"/>
                </a:rPr>
                <a:t>~0%</a:t>
              </a:r>
              <a:endParaRPr b="0" i="0" sz="757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8" name="Google Shape;488;p42"/>
            <p:cNvSpPr/>
            <p:nvPr/>
          </p:nvSpPr>
          <p:spPr>
            <a:xfrm>
              <a:off x="1558875" y="3888557"/>
              <a:ext cx="640200" cy="183000"/>
            </a:xfrm>
            <a:prstGeom prst="rect">
              <a:avLst/>
            </a:prstGeom>
            <a:solidFill>
              <a:srgbClr val="94A3B8"/>
            </a:solidFill>
            <a:ln>
              <a:noFill/>
            </a:ln>
          </p:spPr>
          <p:txBody>
            <a:bodyPr anchorCtr="0" anchor="ctr" bIns="76975" lIns="76975" spcFirstLastPara="1" rIns="76975" wrap="square" tIns="769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9" name="Google Shape;489;p42"/>
            <p:cNvSpPr/>
            <p:nvPr/>
          </p:nvSpPr>
          <p:spPr>
            <a:xfrm>
              <a:off x="1558875" y="4117157"/>
              <a:ext cx="640200" cy="274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8475" lIns="76975" spcFirstLastPara="1" rIns="76975" wrap="square" tIns="384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Clr>
                  <a:srgbClr val="334155"/>
                </a:buClr>
                <a:buSzPts val="758"/>
                <a:buFont typeface="Outfit"/>
                <a:buNone/>
              </a:pPr>
              <a:r>
                <a:rPr b="0" i="0" lang="en" sz="757" u="none" cap="none" strike="noStrike">
                  <a:solidFill>
                    <a:srgbClr val="334155"/>
                  </a:solidFill>
                  <a:latin typeface="Outfit"/>
                  <a:ea typeface="Outfit"/>
                  <a:cs typeface="Outfit"/>
                  <a:sym typeface="Outfit"/>
                </a:rPr>
                <a:t>10B</a:t>
              </a:r>
              <a:endParaRPr b="0" i="0" sz="757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0" name="Google Shape;490;p42"/>
            <p:cNvSpPr/>
            <p:nvPr/>
          </p:nvSpPr>
          <p:spPr>
            <a:xfrm>
              <a:off x="1558875" y="3659957"/>
              <a:ext cx="6402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8475" lIns="76975" spcFirstLastPara="1" rIns="76975" wrap="square" tIns="384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Clr>
                  <a:srgbClr val="94A3B8"/>
                </a:buClr>
                <a:buSzPts val="758"/>
                <a:buFont typeface="Outfit"/>
                <a:buNone/>
              </a:pPr>
              <a:r>
                <a:rPr b="0" i="0" lang="en" sz="757" u="none" cap="none" strike="noStrike">
                  <a:solidFill>
                    <a:srgbClr val="94A3B8"/>
                  </a:solidFill>
                  <a:latin typeface="Outfit"/>
                  <a:ea typeface="Outfit"/>
                  <a:cs typeface="Outfit"/>
                  <a:sym typeface="Outfit"/>
                </a:rPr>
                <a:t>~0%</a:t>
              </a:r>
              <a:endParaRPr b="0" i="0" sz="757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1" name="Google Shape;491;p42"/>
            <p:cNvSpPr/>
            <p:nvPr/>
          </p:nvSpPr>
          <p:spPr>
            <a:xfrm>
              <a:off x="2473275" y="3842837"/>
              <a:ext cx="640200" cy="228600"/>
            </a:xfrm>
            <a:prstGeom prst="rect">
              <a:avLst/>
            </a:prstGeom>
            <a:solidFill>
              <a:srgbClr val="94A3B8"/>
            </a:solidFill>
            <a:ln>
              <a:noFill/>
            </a:ln>
          </p:spPr>
          <p:txBody>
            <a:bodyPr anchorCtr="0" anchor="ctr" bIns="76975" lIns="76975" spcFirstLastPara="1" rIns="76975" wrap="square" tIns="769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2" name="Google Shape;492;p42"/>
            <p:cNvSpPr/>
            <p:nvPr/>
          </p:nvSpPr>
          <p:spPr>
            <a:xfrm>
              <a:off x="2473275" y="4117157"/>
              <a:ext cx="640200" cy="274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8475" lIns="76975" spcFirstLastPara="1" rIns="76975" wrap="square" tIns="384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Clr>
                  <a:srgbClr val="334155"/>
                </a:buClr>
                <a:buSzPts val="758"/>
                <a:buFont typeface="Outfit"/>
                <a:buNone/>
              </a:pPr>
              <a:r>
                <a:rPr b="0" i="0" lang="en" sz="757" u="none" cap="none" strike="noStrike">
                  <a:solidFill>
                    <a:srgbClr val="334155"/>
                  </a:solidFill>
                  <a:latin typeface="Outfit"/>
                  <a:ea typeface="Outfit"/>
                  <a:cs typeface="Outfit"/>
                  <a:sym typeface="Outfit"/>
                </a:rPr>
                <a:t>50B</a:t>
              </a:r>
              <a:endParaRPr b="0" i="0" sz="757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3" name="Google Shape;493;p42"/>
            <p:cNvSpPr/>
            <p:nvPr/>
          </p:nvSpPr>
          <p:spPr>
            <a:xfrm>
              <a:off x="2473275" y="3614237"/>
              <a:ext cx="6402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8475" lIns="76975" spcFirstLastPara="1" rIns="76975" wrap="square" tIns="384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Clr>
                  <a:srgbClr val="94A3B8"/>
                </a:buClr>
                <a:buSzPts val="758"/>
                <a:buFont typeface="Outfit"/>
                <a:buNone/>
              </a:pPr>
              <a:r>
                <a:rPr b="0" i="0" lang="en" sz="757" u="none" cap="none" strike="noStrike">
                  <a:solidFill>
                    <a:srgbClr val="94A3B8"/>
                  </a:solidFill>
                  <a:latin typeface="Outfit"/>
                  <a:ea typeface="Outfit"/>
                  <a:cs typeface="Outfit"/>
                  <a:sym typeface="Outfit"/>
                </a:rPr>
                <a:t>~0%</a:t>
              </a:r>
              <a:endParaRPr b="0" i="0" sz="757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4" name="Google Shape;494;p42"/>
            <p:cNvSpPr/>
            <p:nvPr/>
          </p:nvSpPr>
          <p:spPr>
            <a:xfrm>
              <a:off x="3387675" y="2242637"/>
              <a:ext cx="640200" cy="1828800"/>
            </a:xfrm>
            <a:prstGeom prst="rect">
              <a:avLst/>
            </a:prstGeom>
            <a:solidFill>
              <a:srgbClr val="4F46E5"/>
            </a:solidFill>
            <a:ln>
              <a:noFill/>
            </a:ln>
          </p:spPr>
          <p:txBody>
            <a:bodyPr anchorCtr="0" anchor="ctr" bIns="76975" lIns="76975" spcFirstLastPara="1" rIns="76975" wrap="square" tIns="769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5" name="Google Shape;495;p42"/>
            <p:cNvSpPr/>
            <p:nvPr/>
          </p:nvSpPr>
          <p:spPr>
            <a:xfrm>
              <a:off x="3387675" y="4117157"/>
              <a:ext cx="640200" cy="274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8475" lIns="76975" spcFirstLastPara="1" rIns="76975" wrap="square" tIns="384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Clr>
                  <a:srgbClr val="334155"/>
                </a:buClr>
                <a:buSzPts val="758"/>
                <a:buFont typeface="Outfit"/>
                <a:buNone/>
              </a:pPr>
              <a:r>
                <a:rPr b="0" i="0" lang="en" sz="757" u="none" cap="none" strike="noStrike">
                  <a:solidFill>
                    <a:srgbClr val="334155"/>
                  </a:solidFill>
                  <a:latin typeface="Outfit"/>
                  <a:ea typeface="Outfit"/>
                  <a:cs typeface="Outfit"/>
                  <a:sym typeface="Outfit"/>
                </a:rPr>
                <a:t>100B</a:t>
              </a:r>
              <a:endParaRPr b="0" i="0" sz="757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6" name="Google Shape;496;p42"/>
            <p:cNvSpPr/>
            <p:nvPr/>
          </p:nvSpPr>
          <p:spPr>
            <a:xfrm>
              <a:off x="3387675" y="2014037"/>
              <a:ext cx="6402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8475" lIns="76975" spcFirstLastPara="1" rIns="76975" wrap="square" tIns="384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Clr>
                  <a:srgbClr val="4F46E5"/>
                </a:buClr>
                <a:buSzPts val="758"/>
                <a:buFont typeface="Outfit"/>
                <a:buNone/>
              </a:pPr>
              <a:r>
                <a:rPr b="1" i="0" lang="en" sz="757" u="none" cap="none" strike="noStrike">
                  <a:solidFill>
                    <a:srgbClr val="4F46E5"/>
                  </a:solidFill>
                  <a:latin typeface="Outfit"/>
                  <a:ea typeface="Outfit"/>
                  <a:cs typeface="Outfit"/>
                  <a:sym typeface="Outfit"/>
                </a:rPr>
                <a:t>74%</a:t>
              </a:r>
              <a:endParaRPr b="0" i="0" sz="757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7" name="Google Shape;497;p42"/>
            <p:cNvSpPr/>
            <p:nvPr/>
          </p:nvSpPr>
          <p:spPr>
            <a:xfrm>
              <a:off x="4302075" y="1876877"/>
              <a:ext cx="640200" cy="2194500"/>
            </a:xfrm>
            <a:prstGeom prst="rect">
              <a:avLst/>
            </a:prstGeom>
            <a:solidFill>
              <a:srgbClr val="4F46E5"/>
            </a:solidFill>
            <a:ln>
              <a:noFill/>
            </a:ln>
          </p:spPr>
          <p:txBody>
            <a:bodyPr anchorCtr="0" anchor="ctr" bIns="76975" lIns="76975" spcFirstLastPara="1" rIns="76975" wrap="square" tIns="769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8" name="Google Shape;498;p42"/>
            <p:cNvSpPr/>
            <p:nvPr/>
          </p:nvSpPr>
          <p:spPr>
            <a:xfrm>
              <a:off x="4302075" y="4117157"/>
              <a:ext cx="640200" cy="274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8475" lIns="76975" spcFirstLastPara="1" rIns="76975" wrap="square" tIns="384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Clr>
                  <a:srgbClr val="334155"/>
                </a:buClr>
                <a:buSzPts val="758"/>
                <a:buFont typeface="Outfit"/>
                <a:buNone/>
              </a:pPr>
              <a:r>
                <a:rPr b="0" i="0" lang="en" sz="757" u="none" cap="none" strike="noStrike">
                  <a:solidFill>
                    <a:srgbClr val="334155"/>
                  </a:solidFill>
                  <a:latin typeface="Outfit"/>
                  <a:ea typeface="Outfit"/>
                  <a:cs typeface="Outfit"/>
                  <a:sym typeface="Outfit"/>
                </a:rPr>
                <a:t>175B</a:t>
              </a:r>
              <a:endParaRPr b="0" i="0" sz="757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9" name="Google Shape;499;p42"/>
            <p:cNvSpPr/>
            <p:nvPr/>
          </p:nvSpPr>
          <p:spPr>
            <a:xfrm>
              <a:off x="4302075" y="1648277"/>
              <a:ext cx="6402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8475" lIns="76975" spcFirstLastPara="1" rIns="76975" wrap="square" tIns="384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Clr>
                  <a:srgbClr val="4F46E5"/>
                </a:buClr>
                <a:buSzPts val="758"/>
                <a:buFont typeface="Outfit"/>
                <a:buNone/>
              </a:pPr>
              <a:r>
                <a:rPr b="1" i="0" lang="en" sz="757" u="none" cap="none" strike="noStrike">
                  <a:solidFill>
                    <a:srgbClr val="4F46E5"/>
                  </a:solidFill>
                  <a:latin typeface="Outfit"/>
                  <a:ea typeface="Outfit"/>
                  <a:cs typeface="Outfit"/>
                  <a:sym typeface="Outfit"/>
                </a:rPr>
                <a:t>89%</a:t>
              </a:r>
              <a:endParaRPr b="0" i="0" sz="757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00" name="Google Shape;500;p42"/>
            <p:cNvSpPr/>
            <p:nvPr/>
          </p:nvSpPr>
          <p:spPr>
            <a:xfrm>
              <a:off x="5216475" y="1602557"/>
              <a:ext cx="640200" cy="2469000"/>
            </a:xfrm>
            <a:prstGeom prst="rect">
              <a:avLst/>
            </a:prstGeom>
            <a:solidFill>
              <a:srgbClr val="4F46E5"/>
            </a:solidFill>
            <a:ln>
              <a:noFill/>
            </a:ln>
          </p:spPr>
          <p:txBody>
            <a:bodyPr anchorCtr="0" anchor="ctr" bIns="76975" lIns="76975" spcFirstLastPara="1" rIns="76975" wrap="square" tIns="769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1" name="Google Shape;501;p42"/>
            <p:cNvSpPr/>
            <p:nvPr/>
          </p:nvSpPr>
          <p:spPr>
            <a:xfrm>
              <a:off x="5216475" y="4117157"/>
              <a:ext cx="640200" cy="274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8475" lIns="76975" spcFirstLastPara="1" rIns="76975" wrap="square" tIns="384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Clr>
                  <a:srgbClr val="334155"/>
                </a:buClr>
                <a:buSzPts val="758"/>
                <a:buFont typeface="Outfit"/>
                <a:buNone/>
              </a:pPr>
              <a:r>
                <a:rPr b="0" i="0" lang="en" sz="757" u="none" cap="none" strike="noStrike">
                  <a:solidFill>
                    <a:srgbClr val="334155"/>
                  </a:solidFill>
                  <a:latin typeface="Outfit"/>
                  <a:ea typeface="Outfit"/>
                  <a:cs typeface="Outfit"/>
                  <a:sym typeface="Outfit"/>
                </a:rPr>
                <a:t>540B</a:t>
              </a:r>
              <a:endParaRPr b="0" i="0" sz="757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02" name="Google Shape;502;p42"/>
            <p:cNvSpPr/>
            <p:nvPr/>
          </p:nvSpPr>
          <p:spPr>
            <a:xfrm>
              <a:off x="5216475" y="1373957"/>
              <a:ext cx="6402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8475" lIns="76975" spcFirstLastPara="1" rIns="76975" wrap="square" tIns="384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Clr>
                  <a:srgbClr val="4F46E5"/>
                </a:buClr>
                <a:buSzPts val="758"/>
                <a:buFont typeface="Outfit"/>
                <a:buNone/>
              </a:pPr>
              <a:r>
                <a:rPr b="1" i="0" lang="en" sz="757" u="none" cap="none" strike="noStrike">
                  <a:solidFill>
                    <a:srgbClr val="4F46E5"/>
                  </a:solidFill>
                  <a:latin typeface="Outfit"/>
                  <a:ea typeface="Outfit"/>
                  <a:cs typeface="Outfit"/>
                  <a:sym typeface="Outfit"/>
                </a:rPr>
                <a:t>100%</a:t>
              </a:r>
              <a:endParaRPr b="0" i="0" sz="757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03" name="Google Shape;503;p42"/>
            <p:cNvSpPr/>
            <p:nvPr/>
          </p:nvSpPr>
          <p:spPr>
            <a:xfrm>
              <a:off x="475250" y="1516275"/>
              <a:ext cx="2535600" cy="360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8475" lIns="76975" spcFirstLastPara="1" rIns="76975" wrap="square" tIns="384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Clr>
                  <a:srgbClr val="DC2626"/>
                </a:buClr>
                <a:buSzPts val="842"/>
                <a:buFont typeface="Outfit"/>
                <a:buNone/>
              </a:pPr>
              <a:r>
                <a:rPr b="1" i="0" lang="en" sz="1431" u="none" cap="none" strike="noStrike">
                  <a:solidFill>
                    <a:srgbClr val="DC2626"/>
                  </a:solidFill>
                  <a:latin typeface="Outfit"/>
                  <a:ea typeface="Outfit"/>
                  <a:cs typeface="Outfit"/>
                  <a:sym typeface="Outfit"/>
                </a:rPr>
                <a:t>"Phase</a:t>
              </a:r>
              <a:r>
                <a:rPr lang="en" sz="1431">
                  <a:solidFill>
                    <a:schemeClr val="dk1"/>
                  </a:solidFill>
                  <a:latin typeface="Outfit"/>
                  <a:ea typeface="Outfit"/>
                  <a:cs typeface="Outfit"/>
                  <a:sym typeface="Outfit"/>
                </a:rPr>
                <a:t> </a:t>
              </a:r>
              <a:r>
                <a:rPr b="1" i="0" lang="en" sz="1431" u="none" cap="none" strike="noStrike">
                  <a:solidFill>
                    <a:srgbClr val="DC2626"/>
                  </a:solidFill>
                  <a:latin typeface="Outfit"/>
                  <a:ea typeface="Outfit"/>
                  <a:cs typeface="Outfit"/>
                  <a:sym typeface="Outfit"/>
                </a:rPr>
                <a:t>transition"</a:t>
              </a:r>
              <a:endParaRPr i="0" sz="1431" u="none" cap="none" strike="noStrik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504" name="Google Shape;504;p42"/>
            <p:cNvCxnSpPr/>
            <p:nvPr/>
          </p:nvCxnSpPr>
          <p:spPr>
            <a:xfrm>
              <a:off x="461595" y="4071287"/>
              <a:ext cx="5669400" cy="13800"/>
            </a:xfrm>
            <a:prstGeom prst="straightConnector1">
              <a:avLst/>
            </a:prstGeom>
            <a:noFill/>
            <a:ln cap="flat" cmpd="sng" w="8025">
              <a:solidFill>
                <a:schemeClr val="dk2"/>
              </a:solidFill>
              <a:prstDash val="solid"/>
              <a:round/>
              <a:headEnd len="med" w="med" type="none"/>
              <a:tailEnd len="med" w="med" type="triangle"/>
            </a:ln>
          </p:spPr>
        </p:cxnSp>
        <p:cxnSp>
          <p:nvCxnSpPr>
            <p:cNvPr id="505" name="Google Shape;505;p42"/>
            <p:cNvCxnSpPr/>
            <p:nvPr/>
          </p:nvCxnSpPr>
          <p:spPr>
            <a:xfrm flipH="1" rot="10800000">
              <a:off x="461445" y="1602557"/>
              <a:ext cx="13800" cy="2484900"/>
            </a:xfrm>
            <a:prstGeom prst="straightConnector1">
              <a:avLst/>
            </a:prstGeom>
            <a:noFill/>
            <a:ln cap="flat" cmpd="sng" w="8025">
              <a:solidFill>
                <a:schemeClr val="dk2"/>
              </a:solidFill>
              <a:prstDash val="solid"/>
              <a:round/>
              <a:headEnd len="med" w="med" type="none"/>
              <a:tailEnd len="med" w="med" type="triangle"/>
            </a:ln>
          </p:spPr>
        </p:cxnSp>
        <p:cxnSp>
          <p:nvCxnSpPr>
            <p:cNvPr id="506" name="Google Shape;506;p42"/>
            <p:cNvCxnSpPr/>
            <p:nvPr/>
          </p:nvCxnSpPr>
          <p:spPr>
            <a:xfrm>
              <a:off x="1714500" y="1895500"/>
              <a:ext cx="1550700" cy="1609500"/>
            </a:xfrm>
            <a:prstGeom prst="straightConnector1">
              <a:avLst/>
            </a:prstGeom>
            <a:noFill/>
            <a:ln cap="flat" cmpd="sng" w="24050">
              <a:solidFill>
                <a:srgbClr val="DC2626"/>
              </a:solidFill>
              <a:prstDash val="solid"/>
              <a:round/>
              <a:headEnd len="med" w="med" type="none"/>
              <a:tailEnd len="med" w="med" type="triangle"/>
            </a:ln>
          </p:spPr>
        </p:cxnSp>
      </p:grpSp>
      <p:sp>
        <p:nvSpPr>
          <p:cNvPr id="507" name="Google Shape;507;p42"/>
          <p:cNvSpPr txBox="1"/>
          <p:nvPr>
            <p:ph idx="1" type="body"/>
          </p:nvPr>
        </p:nvSpPr>
        <p:spPr>
          <a:xfrm>
            <a:off x="5563950" y="1767700"/>
            <a:ext cx="3507900" cy="215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238759" lvl="0" marL="27432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Some abilities appear suddenly above a threshold scale (100+)</a:t>
            </a:r>
            <a:endParaRPr sz="1600"/>
          </a:p>
          <a:p>
            <a:pPr indent="-238759" lvl="1" marL="36576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Multi-step arithmetic</a:t>
            </a:r>
            <a:endParaRPr sz="1600"/>
          </a:p>
          <a:p>
            <a:pPr indent="-238759" lvl="1" marL="36576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Word unscrambling</a:t>
            </a:r>
            <a:endParaRPr sz="1600"/>
          </a:p>
          <a:p>
            <a:pPr indent="-238759" lvl="1" marL="36576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Logical deduction</a:t>
            </a:r>
            <a:endParaRPr sz="1600"/>
          </a:p>
          <a:p>
            <a:pPr indent="-238759" lvl="1" marL="36576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Analogical reasoning</a:t>
            </a:r>
            <a:endParaRPr sz="1600"/>
          </a:p>
          <a:p>
            <a:pPr indent="-238759" lvl="1" marL="36576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Code generation</a:t>
            </a:r>
            <a:endParaRPr sz="1600"/>
          </a:p>
          <a:p>
            <a:pPr indent="-238759" lvl="1" marL="36576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Multi-hop QA</a:t>
            </a:r>
            <a:endParaRPr sz="160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12" name="Shape 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Google Shape;513;p43"/>
          <p:cNvSpPr/>
          <p:nvPr/>
        </p:nvSpPr>
        <p:spPr>
          <a:xfrm>
            <a:off x="548640" y="274320"/>
            <a:ext cx="80466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46E5"/>
              </a:buClr>
              <a:buSzPts val="2400"/>
              <a:buFont typeface="Outfit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4" name="Google Shape;514;p43"/>
          <p:cNvSpPr txBox="1"/>
          <p:nvPr>
            <p:ph type="title"/>
          </p:nvPr>
        </p:nvSpPr>
        <p:spPr>
          <a:xfrm>
            <a:off x="311700" y="228600"/>
            <a:ext cx="8520600" cy="61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"Emergent" abilities</a:t>
            </a:r>
            <a:endParaRPr/>
          </a:p>
        </p:txBody>
      </p:sp>
      <p:sp>
        <p:nvSpPr>
          <p:cNvPr id="515" name="Google Shape;515;p43"/>
          <p:cNvSpPr txBox="1"/>
          <p:nvPr>
            <p:ph idx="2" type="subTitle"/>
          </p:nvPr>
        </p:nvSpPr>
        <p:spPr>
          <a:xfrm>
            <a:off x="-3870" y="4726261"/>
            <a:ext cx="4046100" cy="411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Wei et al </a:t>
            </a:r>
            <a:r>
              <a:rPr b="1" lang="en">
                <a:latin typeface="Zilla Slab"/>
                <a:ea typeface="Zilla Slab"/>
                <a:cs typeface="Zilla Slab"/>
                <a:sym typeface="Zilla Slab"/>
              </a:rPr>
              <a:t>TMLR 2022</a:t>
            </a:r>
            <a:endParaRPr b="1">
              <a:latin typeface="Zilla Slab"/>
              <a:ea typeface="Zilla Slab"/>
              <a:cs typeface="Zilla Slab"/>
              <a:sym typeface="Zilla Slab"/>
            </a:endParaRPr>
          </a:p>
        </p:txBody>
      </p:sp>
      <p:pic>
        <p:nvPicPr>
          <p:cNvPr id="516" name="Google Shape;516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86762" y="1372925"/>
            <a:ext cx="7770373" cy="2921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2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Google Shape;522;p44"/>
          <p:cNvSpPr txBox="1"/>
          <p:nvPr>
            <p:ph type="title"/>
          </p:nvPr>
        </p:nvSpPr>
        <p:spPr>
          <a:xfrm>
            <a:off x="311700" y="228600"/>
            <a:ext cx="8520600" cy="61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Are emergent abilities a mirage?</a:t>
            </a:r>
            <a:endParaRPr/>
          </a:p>
        </p:txBody>
      </p:sp>
      <p:sp>
        <p:nvSpPr>
          <p:cNvPr id="523" name="Google Shape;523;p44"/>
          <p:cNvSpPr txBox="1"/>
          <p:nvPr>
            <p:ph idx="1" type="body"/>
          </p:nvPr>
        </p:nvSpPr>
        <p:spPr>
          <a:xfrm>
            <a:off x="311700" y="1191850"/>
            <a:ext cx="8520600" cy="320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way you measure determines what you see…</a:t>
            </a:r>
            <a:endParaRPr/>
          </a:p>
          <a:p>
            <a:pPr indent="-368300" lvl="0" marL="457200" rtl="0" algn="l">
              <a:spcBef>
                <a:spcPts val="1200"/>
              </a:spcBef>
              <a:spcAft>
                <a:spcPts val="0"/>
              </a:spcAft>
              <a:buSzPts val="2200"/>
              <a:buChar char="●"/>
            </a:pPr>
            <a:r>
              <a:rPr lang="en"/>
              <a:t>Imagine grading essays pass/fail if students get 100%</a:t>
            </a:r>
            <a:endParaRPr/>
          </a:p>
          <a:p>
            <a:pPr indent="-368300" lvl="1" marL="914400" rtl="0" algn="l">
              <a:spcBef>
                <a:spcPts val="0"/>
              </a:spcBef>
              <a:spcAft>
                <a:spcPts val="0"/>
              </a:spcAft>
              <a:buSzPts val="2200"/>
              <a:buChar char="○"/>
            </a:pPr>
            <a:r>
              <a:rPr lang="en"/>
              <a:t>Going to look like they went from "can't write" to "can write" overnight</a:t>
            </a:r>
            <a:endParaRPr/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"/>
              <a:t>Grade on a continuous rubric (0–100 points)</a:t>
            </a:r>
            <a:endParaRPr/>
          </a:p>
          <a:p>
            <a:pPr indent="-368300" lvl="1" marL="914400" rtl="0" algn="l">
              <a:spcBef>
                <a:spcPts val="0"/>
              </a:spcBef>
              <a:spcAft>
                <a:spcPts val="0"/>
              </a:spcAft>
              <a:buSzPts val="2200"/>
              <a:buChar char="○"/>
            </a:pPr>
            <a:r>
              <a:rPr lang="en"/>
              <a:t>Steady improvement all along</a:t>
            </a:r>
            <a:endParaRPr/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"/>
              <a:t>The metric creates the illusion...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524" name="Google Shape;524;p44"/>
          <p:cNvSpPr txBox="1"/>
          <p:nvPr>
            <p:ph idx="2" type="subTitle"/>
          </p:nvPr>
        </p:nvSpPr>
        <p:spPr>
          <a:xfrm>
            <a:off x="-3870" y="4726261"/>
            <a:ext cx="4046100" cy="411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Schaeffer et al </a:t>
            </a:r>
            <a:r>
              <a:rPr b="1" lang="en">
                <a:latin typeface="Zilla Slab"/>
                <a:ea typeface="Zilla Slab"/>
                <a:cs typeface="Zilla Slab"/>
                <a:sym typeface="Zilla Slab"/>
              </a:rPr>
              <a:t>Nature 2024</a:t>
            </a:r>
            <a:endParaRPr b="1">
              <a:latin typeface="Zilla Slab"/>
              <a:ea typeface="Zilla Slab"/>
              <a:cs typeface="Zilla Slab"/>
              <a:sym typeface="Zilla Slab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p45"/>
          <p:cNvSpPr txBox="1"/>
          <p:nvPr>
            <p:ph type="title"/>
          </p:nvPr>
        </p:nvSpPr>
        <p:spPr>
          <a:xfrm>
            <a:off x="914400" y="1737360"/>
            <a:ext cx="76809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Georgia"/>
              <a:buNone/>
            </a:pPr>
            <a:r>
              <a:rPr b="1" lang="en" sz="3200">
                <a:solidFill>
                  <a:srgbClr val="FFFFFF"/>
                </a:solidFill>
              </a:rPr>
              <a:t>Scaling laws </a:t>
            </a:r>
            <a:endParaRPr b="1" sz="3200">
              <a:solidFill>
                <a:srgbClr val="FFFFFF"/>
              </a:solidFill>
            </a:endParaRPr>
          </a:p>
        </p:txBody>
      </p:sp>
      <p:sp>
        <p:nvSpPr>
          <p:cNvPr id="531" name="Google Shape;531;p45"/>
          <p:cNvSpPr txBox="1"/>
          <p:nvPr>
            <p:ph idx="1" type="body"/>
          </p:nvPr>
        </p:nvSpPr>
        <p:spPr>
          <a:xfrm>
            <a:off x="914400" y="2743200"/>
            <a:ext cx="7680900" cy="1097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rgbClr val="94A3B8"/>
              </a:buClr>
              <a:buSzPts val="1600"/>
              <a:buNone/>
            </a:pPr>
            <a:r>
              <a:rPr lang="en" sz="1600">
                <a:solidFill>
                  <a:srgbClr val="4F46E5"/>
                </a:solidFill>
              </a:rPr>
              <a:t>Can we predict what bigger models will do?</a:t>
            </a:r>
            <a:endParaRPr sz="1600">
              <a:solidFill>
                <a:srgbClr val="4F46E5"/>
              </a:solidFill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36" name="Shape 5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Google Shape;537;p46"/>
          <p:cNvSpPr/>
          <p:nvPr/>
        </p:nvSpPr>
        <p:spPr>
          <a:xfrm>
            <a:off x="640080" y="868680"/>
            <a:ext cx="78639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500"/>
              <a:buFont typeface="Outfit"/>
              <a:buNone/>
            </a:pPr>
            <a:r>
              <a:rPr b="0" i="0" lang="en" sz="15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Kaplan et al. (2020) discovered that model quality improves as a smooth power law: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8" name="Google Shape;538;p46"/>
          <p:cNvSpPr/>
          <p:nvPr/>
        </p:nvSpPr>
        <p:spPr>
          <a:xfrm>
            <a:off x="88275" y="4244750"/>
            <a:ext cx="91149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rgbClr val="0E7490"/>
                </a:solidFill>
                <a:latin typeface="Outfit"/>
                <a:ea typeface="Outfit"/>
                <a:cs typeface="Outfit"/>
                <a:sym typeface="Outfit"/>
              </a:rPr>
              <a:t>Companies (OpenAI, Google, Anthropic) use scaling laws to plan training runs that cost $10M–$100M+</a:t>
            </a:r>
            <a:endParaRPr sz="1500">
              <a:solidFill>
                <a:srgbClr val="0E749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39" name="Google Shape;539;p46"/>
          <p:cNvSpPr txBox="1"/>
          <p:nvPr>
            <p:ph idx="2" type="subTitle"/>
          </p:nvPr>
        </p:nvSpPr>
        <p:spPr>
          <a:xfrm>
            <a:off x="-3870" y="4726261"/>
            <a:ext cx="4046100" cy="411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Kaplan et al </a:t>
            </a:r>
            <a:r>
              <a:rPr b="1" lang="en">
                <a:latin typeface="Zilla Slab"/>
                <a:ea typeface="Zilla Slab"/>
                <a:cs typeface="Zilla Slab"/>
                <a:sym typeface="Zilla Slab"/>
              </a:rPr>
              <a:t>arXiv 2020</a:t>
            </a:r>
            <a:endParaRPr b="1">
              <a:latin typeface="Zilla Slab"/>
              <a:ea typeface="Zilla Slab"/>
              <a:cs typeface="Zilla Slab"/>
              <a:sym typeface="Zilla Slab"/>
            </a:endParaRPr>
          </a:p>
        </p:txBody>
      </p:sp>
      <p:sp>
        <p:nvSpPr>
          <p:cNvPr id="540" name="Google Shape;540;p46"/>
          <p:cNvSpPr txBox="1"/>
          <p:nvPr>
            <p:ph type="title"/>
          </p:nvPr>
        </p:nvSpPr>
        <p:spPr>
          <a:xfrm>
            <a:off x="311700" y="228600"/>
            <a:ext cx="8520600" cy="61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Scaling laws: performance is predictable</a:t>
            </a:r>
            <a:endParaRPr/>
          </a:p>
        </p:txBody>
      </p:sp>
      <p:pic>
        <p:nvPicPr>
          <p:cNvPr id="541" name="Google Shape;541;p4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258672"/>
            <a:ext cx="9144003" cy="29289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46" name="Shape 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547;p47"/>
          <p:cNvSpPr txBox="1"/>
          <p:nvPr>
            <p:ph idx="2" type="subTitle"/>
          </p:nvPr>
        </p:nvSpPr>
        <p:spPr>
          <a:xfrm>
            <a:off x="-3870" y="4726261"/>
            <a:ext cx="4046100" cy="411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Kaplan et al </a:t>
            </a:r>
            <a:r>
              <a:rPr b="1" lang="en">
                <a:latin typeface="Zilla Slab"/>
                <a:ea typeface="Zilla Slab"/>
                <a:cs typeface="Zilla Slab"/>
                <a:sym typeface="Zilla Slab"/>
              </a:rPr>
              <a:t>arXiv 2020</a:t>
            </a:r>
            <a:endParaRPr b="1">
              <a:latin typeface="Zilla Slab"/>
              <a:ea typeface="Zilla Slab"/>
              <a:cs typeface="Zilla Slab"/>
              <a:sym typeface="Zilla Slab"/>
            </a:endParaRPr>
          </a:p>
        </p:txBody>
      </p:sp>
      <p:sp>
        <p:nvSpPr>
          <p:cNvPr id="548" name="Google Shape;548;p47"/>
          <p:cNvSpPr txBox="1"/>
          <p:nvPr>
            <p:ph type="title"/>
          </p:nvPr>
        </p:nvSpPr>
        <p:spPr>
          <a:xfrm>
            <a:off x="311700" y="228600"/>
            <a:ext cx="8520600" cy="61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Scaling laws: performance is predictable</a:t>
            </a:r>
            <a:endParaRPr/>
          </a:p>
        </p:txBody>
      </p:sp>
      <p:sp>
        <p:nvSpPr>
          <p:cNvPr id="549" name="Google Shape;549;p47"/>
          <p:cNvSpPr txBox="1"/>
          <p:nvPr>
            <p:ph idx="1" type="body"/>
          </p:nvPr>
        </p:nvSpPr>
        <p:spPr>
          <a:xfrm>
            <a:off x="311700" y="1016425"/>
            <a:ext cx="8520600" cy="372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What this means:</a:t>
            </a:r>
            <a:endParaRPr b="1"/>
          </a:p>
          <a:p>
            <a:pPr indent="-368300" lvl="0" marL="457200" rtl="0" algn="l">
              <a:spcBef>
                <a:spcPts val="1200"/>
              </a:spcBef>
              <a:spcAft>
                <a:spcPts val="0"/>
              </a:spcAft>
              <a:buSzPts val="2200"/>
              <a:buChar char="●"/>
            </a:pPr>
            <a:r>
              <a:rPr lang="en"/>
              <a:t>If you know the exponent α, you can predict how good a model will be before you train it</a:t>
            </a:r>
            <a:endParaRPr/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"/>
              <a:t>T</a:t>
            </a:r>
            <a:r>
              <a:rPr lang="en"/>
              <a:t>ransformed AI research from guesswork into engineering</a:t>
            </a:r>
            <a:endParaRPr/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"/>
              <a:t>Labs now run small experiments, fit the scaling law, and extrapolate to decide if a billion-dollar training run is worth it</a:t>
            </a:r>
            <a:endParaRPr/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"/>
              <a:t>Analogy: Like Moore's Law for transistors — a predictable trend that enables long-term planning</a:t>
            </a:r>
            <a:endParaRPr/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"/>
              <a:t>But unlike transistors, we don't fully understand WHY it works so well…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54" name="Shape 5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48"/>
          <p:cNvSpPr/>
          <p:nvPr/>
        </p:nvSpPr>
        <p:spPr>
          <a:xfrm>
            <a:off x="274320" y="1005840"/>
            <a:ext cx="4023300" cy="2194500"/>
          </a:xfrm>
          <a:prstGeom prst="rect">
            <a:avLst/>
          </a:prstGeom>
          <a:solidFill>
            <a:srgbClr val="FEF2F2"/>
          </a:solidFill>
          <a:ln cap="flat" cmpd="sng" w="12700">
            <a:solidFill>
              <a:srgbClr val="DC262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6" name="Google Shape;556;p48"/>
          <p:cNvSpPr/>
          <p:nvPr/>
        </p:nvSpPr>
        <p:spPr>
          <a:xfrm>
            <a:off x="274320" y="1051560"/>
            <a:ext cx="40233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C2626"/>
              </a:buClr>
              <a:buSzPts val="1300"/>
              <a:buFont typeface="Outfit"/>
              <a:buNone/>
            </a:pPr>
            <a:r>
              <a:rPr b="1" i="0" lang="en" sz="1300" u="none" cap="none" strike="noStrike">
                <a:solidFill>
                  <a:srgbClr val="DC2626"/>
                </a:solidFill>
                <a:latin typeface="Outfit"/>
                <a:ea typeface="Outfit"/>
                <a:cs typeface="Outfit"/>
                <a:sym typeface="Outfit"/>
              </a:rPr>
              <a:t>The old strategy ("Gopher")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7" name="Google Shape;557;p48"/>
          <p:cNvSpPr/>
          <p:nvPr/>
        </p:nvSpPr>
        <p:spPr>
          <a:xfrm>
            <a:off x="548640" y="1455946"/>
            <a:ext cx="1828800" cy="1280100"/>
          </a:xfrm>
          <a:prstGeom prst="rect">
            <a:avLst/>
          </a:prstGeom>
          <a:solidFill>
            <a:srgbClr val="F8FAFC"/>
          </a:solidFill>
          <a:ln cap="flat" cmpd="sng" w="9525">
            <a:solidFill>
              <a:srgbClr val="DC262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8" name="Google Shape;558;p48"/>
          <p:cNvSpPr/>
          <p:nvPr/>
        </p:nvSpPr>
        <p:spPr>
          <a:xfrm>
            <a:off x="2560320" y="1455946"/>
            <a:ext cx="1371600" cy="640200"/>
          </a:xfrm>
          <a:prstGeom prst="rect">
            <a:avLst/>
          </a:prstGeom>
          <a:solidFill>
            <a:srgbClr val="F8FAFC"/>
          </a:solidFill>
          <a:ln cap="flat" cmpd="sng" w="9525">
            <a:solidFill>
              <a:srgbClr val="94A3B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9" name="Google Shape;559;p48"/>
          <p:cNvSpPr/>
          <p:nvPr/>
        </p:nvSpPr>
        <p:spPr>
          <a:xfrm>
            <a:off x="548640" y="1455946"/>
            <a:ext cx="1828800" cy="128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200"/>
              <a:buFont typeface="Outfit"/>
              <a:buNone/>
            </a:pPr>
            <a:r>
              <a:rPr b="0" i="0" lang="en" sz="12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Model: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200"/>
              <a:buFont typeface="Outfit"/>
              <a:buNone/>
            </a:pPr>
            <a:r>
              <a:rPr b="0" i="0" lang="en" sz="12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280B params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200"/>
              <a:buFont typeface="Outfit"/>
              <a:buNone/>
            </a:pPr>
            <a:r>
              <a:rPr b="0" i="0" lang="en" sz="12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🏗️🏗️🏗️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0" name="Google Shape;560;p48"/>
          <p:cNvSpPr/>
          <p:nvPr/>
        </p:nvSpPr>
        <p:spPr>
          <a:xfrm>
            <a:off x="2560320" y="1455946"/>
            <a:ext cx="13716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Outfit"/>
              <a:buNone/>
            </a:pPr>
            <a:r>
              <a:rPr b="0" i="0" lang="en" sz="10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Data: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Outfit"/>
              <a:buNone/>
            </a:pPr>
            <a:r>
              <a:rPr b="0" i="0" lang="en" sz="10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300B tokens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1" name="Google Shape;561;p48"/>
          <p:cNvSpPr/>
          <p:nvPr/>
        </p:nvSpPr>
        <p:spPr>
          <a:xfrm>
            <a:off x="548640" y="2743200"/>
            <a:ext cx="34746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C2626"/>
              </a:buClr>
              <a:buSzPts val="1100"/>
              <a:buFont typeface="Outfit"/>
              <a:buNone/>
            </a:pPr>
            <a:r>
              <a:rPr b="0" i="0" lang="en" sz="1100" u="none" cap="none" strike="noStrike">
                <a:solidFill>
                  <a:srgbClr val="DC2626"/>
                </a:solidFill>
                <a:latin typeface="Outfit"/>
                <a:ea typeface="Outfit"/>
                <a:cs typeface="Outfit"/>
                <a:sym typeface="Outfit"/>
              </a:rPr>
              <a:t>Make the model as big as possible.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C2626"/>
              </a:buClr>
              <a:buSzPts val="1100"/>
              <a:buFont typeface="Outfit"/>
              <a:buNone/>
            </a:pPr>
            <a:r>
              <a:rPr b="0" i="0" lang="en" sz="1100" u="none" cap="none" strike="noStrike">
                <a:solidFill>
                  <a:srgbClr val="DC2626"/>
                </a:solidFill>
                <a:latin typeface="Outfit"/>
                <a:ea typeface="Outfit"/>
                <a:cs typeface="Outfit"/>
                <a:sym typeface="Outfit"/>
              </a:rPr>
              <a:t>Undertrained on limited data.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2" name="Google Shape;562;p48"/>
          <p:cNvSpPr/>
          <p:nvPr/>
        </p:nvSpPr>
        <p:spPr>
          <a:xfrm>
            <a:off x="4846320" y="1005840"/>
            <a:ext cx="4023300" cy="2194500"/>
          </a:xfrm>
          <a:prstGeom prst="rect">
            <a:avLst/>
          </a:prstGeom>
          <a:solidFill>
            <a:srgbClr val="F0FDF4"/>
          </a:solidFill>
          <a:ln cap="flat" cmpd="sng" w="12700">
            <a:solidFill>
              <a:srgbClr val="16A3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3" name="Google Shape;563;p48"/>
          <p:cNvSpPr/>
          <p:nvPr/>
        </p:nvSpPr>
        <p:spPr>
          <a:xfrm>
            <a:off x="4846320" y="1051560"/>
            <a:ext cx="40233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6A34A"/>
              </a:buClr>
              <a:buSzPts val="1300"/>
              <a:buFont typeface="Outfit"/>
              <a:buNone/>
            </a:pPr>
            <a:r>
              <a:rPr b="1" i="0" lang="en" sz="1300" u="none" cap="none" strike="noStrike">
                <a:solidFill>
                  <a:srgbClr val="16A34A"/>
                </a:solidFill>
                <a:latin typeface="Outfit"/>
                <a:ea typeface="Outfit"/>
                <a:cs typeface="Outfit"/>
                <a:sym typeface="Outfit"/>
              </a:rPr>
              <a:t>The better strategy ("Chinchilla")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4" name="Google Shape;564;p48"/>
          <p:cNvSpPr/>
          <p:nvPr/>
        </p:nvSpPr>
        <p:spPr>
          <a:xfrm>
            <a:off x="5120640" y="1455946"/>
            <a:ext cx="1280100" cy="914400"/>
          </a:xfrm>
          <a:prstGeom prst="rect">
            <a:avLst/>
          </a:prstGeom>
          <a:solidFill>
            <a:srgbClr val="F8FAFC"/>
          </a:solidFill>
          <a:ln cap="flat" cmpd="sng" w="9525">
            <a:solidFill>
              <a:srgbClr val="16A3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5" name="Google Shape;565;p48"/>
          <p:cNvSpPr/>
          <p:nvPr/>
        </p:nvSpPr>
        <p:spPr>
          <a:xfrm>
            <a:off x="5120640" y="1455946"/>
            <a:ext cx="12801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100"/>
              <a:buFont typeface="Outfit"/>
              <a:buNone/>
            </a:pPr>
            <a:r>
              <a:rPr b="0" i="0" lang="en" sz="11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Model: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100"/>
              <a:buFont typeface="Outfit"/>
              <a:buNone/>
            </a:pPr>
            <a:r>
              <a:rPr b="0" i="0" lang="en" sz="11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70B params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100"/>
              <a:buFont typeface="Outfit"/>
              <a:buNone/>
            </a:pPr>
            <a:r>
              <a:rPr b="0" i="0" lang="en" sz="11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🏗️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6" name="Google Shape;566;p48"/>
          <p:cNvSpPr/>
          <p:nvPr/>
        </p:nvSpPr>
        <p:spPr>
          <a:xfrm>
            <a:off x="6583680" y="1455946"/>
            <a:ext cx="2011800" cy="914400"/>
          </a:xfrm>
          <a:prstGeom prst="rect">
            <a:avLst/>
          </a:prstGeom>
          <a:solidFill>
            <a:srgbClr val="F8FAFC"/>
          </a:solidFill>
          <a:ln cap="flat" cmpd="sng" w="9525">
            <a:solidFill>
              <a:srgbClr val="16A3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7" name="Google Shape;567;p48"/>
          <p:cNvSpPr/>
          <p:nvPr/>
        </p:nvSpPr>
        <p:spPr>
          <a:xfrm>
            <a:off x="6583680" y="1455946"/>
            <a:ext cx="20118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Outfit"/>
              <a:buNone/>
            </a:pPr>
            <a:r>
              <a:rPr b="0" i="0" lang="en" sz="10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Data: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Outfit"/>
              <a:buNone/>
            </a:pPr>
            <a:r>
              <a:rPr b="0" i="0" lang="en" sz="10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1.4 TRILLION tokens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Outfit"/>
              <a:buNone/>
            </a:pPr>
            <a:r>
              <a:rPr b="0" i="0" lang="en" sz="10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📚📚📚📚📚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8" name="Google Shape;568;p48"/>
          <p:cNvSpPr/>
          <p:nvPr/>
        </p:nvSpPr>
        <p:spPr>
          <a:xfrm>
            <a:off x="5120640" y="2743200"/>
            <a:ext cx="34746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A34A"/>
              </a:buClr>
              <a:buSzPts val="1100"/>
              <a:buFont typeface="Outfit"/>
              <a:buNone/>
            </a:pPr>
            <a:r>
              <a:rPr b="0" i="0" lang="en" sz="1100" u="none" cap="none" strike="noStrike">
                <a:solidFill>
                  <a:srgbClr val="16A34A"/>
                </a:solidFill>
                <a:latin typeface="Outfit"/>
                <a:ea typeface="Outfit"/>
                <a:cs typeface="Outfit"/>
                <a:sym typeface="Outfit"/>
              </a:rPr>
              <a:t>4× smaller model, 4.5× more data.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A34A"/>
              </a:buClr>
              <a:buSzPts val="1100"/>
              <a:buFont typeface="Outfit"/>
              <a:buNone/>
            </a:pPr>
            <a:r>
              <a:rPr b="0" i="0" lang="en" sz="1100" u="none" cap="none" strike="noStrike">
                <a:solidFill>
                  <a:srgbClr val="16A34A"/>
                </a:solidFill>
                <a:latin typeface="Outfit"/>
                <a:ea typeface="Outfit"/>
                <a:cs typeface="Outfit"/>
                <a:sym typeface="Outfit"/>
              </a:rPr>
              <a:t>Same compute budget. Better results.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9" name="Google Shape;569;p48"/>
          <p:cNvSpPr/>
          <p:nvPr/>
        </p:nvSpPr>
        <p:spPr>
          <a:xfrm>
            <a:off x="457200" y="3337560"/>
            <a:ext cx="82296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300"/>
              <a:buFont typeface="Outfit"/>
              <a:buNone/>
            </a:pPr>
            <a:r>
              <a:rPr b="0" i="0" lang="en" sz="13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LLaMA (2023) followed Chinchilla's recipe — smaller, well-trained models that outperform larger undertrained ones. Today, every lab balances model size against data quantity. </a:t>
            </a:r>
            <a:r>
              <a:rPr b="1" i="0" lang="en" sz="1300" u="none" cap="none" strike="noStrike">
                <a:solidFill>
                  <a:srgbClr val="334155"/>
                </a:solidFill>
                <a:latin typeface="Outfit"/>
                <a:ea typeface="Outfit"/>
                <a:cs typeface="Outfit"/>
                <a:sym typeface="Outfit"/>
              </a:rPr>
              <a:t>More isn't always better — it has to be the right more.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0" name="Google Shape;570;p48"/>
          <p:cNvSpPr txBox="1"/>
          <p:nvPr>
            <p:ph idx="2" type="subTitle"/>
          </p:nvPr>
        </p:nvSpPr>
        <p:spPr>
          <a:xfrm>
            <a:off x="-3870" y="4726261"/>
            <a:ext cx="4046100" cy="411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Hoffmann et al </a:t>
            </a:r>
            <a:r>
              <a:rPr b="1" lang="en">
                <a:latin typeface="Zilla Slab"/>
                <a:ea typeface="Zilla Slab"/>
                <a:cs typeface="Zilla Slab"/>
                <a:sym typeface="Zilla Slab"/>
              </a:rPr>
              <a:t>NeurIPS 2022</a:t>
            </a:r>
            <a:endParaRPr b="1">
              <a:latin typeface="Zilla Slab"/>
              <a:ea typeface="Zilla Slab"/>
              <a:cs typeface="Zilla Slab"/>
              <a:sym typeface="Zilla Slab"/>
            </a:endParaRPr>
          </a:p>
        </p:txBody>
      </p:sp>
      <p:sp>
        <p:nvSpPr>
          <p:cNvPr id="571" name="Google Shape;571;p48"/>
          <p:cNvSpPr txBox="1"/>
          <p:nvPr>
            <p:ph type="title"/>
          </p:nvPr>
        </p:nvSpPr>
        <p:spPr>
          <a:xfrm>
            <a:off x="311700" y="228600"/>
            <a:ext cx="8520600" cy="61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Chinchilla: it's not just about model size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76" name="Shape 5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77" name="Google Shape;577;p49"/>
          <p:cNvGraphicFramePr/>
          <p:nvPr/>
        </p:nvGraphicFramePr>
        <p:xfrm>
          <a:off x="326346" y="1628052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{5E7EE7C1-EB04-47AD-AD27-7F6E7173889C}</a:tableStyleId>
              </a:tblPr>
              <a:tblGrid>
                <a:gridCol w="1417325"/>
                <a:gridCol w="502925"/>
                <a:gridCol w="731525"/>
                <a:gridCol w="777250"/>
                <a:gridCol w="777250"/>
              </a:tblGrid>
              <a:tr h="2926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Calibri"/>
                        <a:buNone/>
                      </a:pPr>
                      <a:r>
                        <a:rPr b="1" lang="en" sz="900" u="none" cap="none" strike="noStrike">
                          <a:solidFill>
                            <a:srgbClr val="FFFFFF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GPU Model</a:t>
                      </a:r>
                      <a:endParaRPr sz="9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2B4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Calibri"/>
                        <a:buNone/>
                      </a:pPr>
                      <a:r>
                        <a:rPr b="1" lang="en" sz="900" u="none" cap="none" strike="noStrike">
                          <a:solidFill>
                            <a:srgbClr val="FFFFFF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Count</a:t>
                      </a:r>
                      <a:endParaRPr sz="9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2B4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Calibri"/>
                        <a:buNone/>
                      </a:pPr>
                      <a:r>
                        <a:rPr b="1" lang="en" sz="900" u="none" cap="none" strike="noStrike">
                          <a:solidFill>
                            <a:srgbClr val="FFFFFF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vRAM</a:t>
                      </a:r>
                      <a:endParaRPr sz="9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2B4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Calibri"/>
                        <a:buNone/>
                      </a:pPr>
                      <a:r>
                        <a:rPr b="1" lang="en" sz="900" u="none" cap="none" strike="noStrike">
                          <a:solidFill>
                            <a:srgbClr val="FFFFFF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FP16 TF</a:t>
                      </a:r>
                      <a:endParaRPr sz="9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Calibri"/>
                        <a:buNone/>
                      </a:pPr>
                      <a:r>
                        <a:rPr b="1" lang="en" sz="900" u="none" cap="none" strike="noStrike">
                          <a:solidFill>
                            <a:srgbClr val="FFFFFF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(per GPU)</a:t>
                      </a:r>
                      <a:endParaRPr sz="9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2B4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Calibri"/>
                        <a:buNone/>
                      </a:pPr>
                      <a:r>
                        <a:rPr b="1" lang="en" sz="900" u="none" cap="none" strike="noStrike">
                          <a:solidFill>
                            <a:srgbClr val="FFFFFF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Subtotal</a:t>
                      </a:r>
                      <a:endParaRPr sz="9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Calibri"/>
                        <a:buNone/>
                      </a:pPr>
                      <a:r>
                        <a:rPr b="1" lang="en" sz="900" u="none" cap="none" strike="noStrike">
                          <a:solidFill>
                            <a:srgbClr val="FFFFFF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(PFLOPS)</a:t>
                      </a:r>
                      <a:endParaRPr sz="9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2B46"/>
                    </a:solidFill>
                  </a:tcPr>
                </a:tc>
              </a:tr>
              <a:tr h="274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50"/>
                        <a:buFont typeface="Calibri"/>
                        <a:buNone/>
                      </a:pPr>
                      <a:r>
                        <a:rPr b="1" lang="en" sz="850" u="none" cap="none" strike="noStrike">
                          <a:solidFill>
                            <a:srgbClr val="1A1A2E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B200 (DGX)</a:t>
                      </a:r>
                      <a:endParaRPr sz="85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50"/>
                        <a:buFont typeface="Calibri"/>
                        <a:buNone/>
                      </a:pPr>
                      <a:r>
                        <a:rPr b="1" lang="en" sz="850" u="none" cap="none" strike="noStrike">
                          <a:solidFill>
                            <a:srgbClr val="1A1A2E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64</a:t>
                      </a:r>
                      <a:endParaRPr sz="85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50"/>
                        <a:buFont typeface="Calibri"/>
                        <a:buNone/>
                      </a:pPr>
                      <a:r>
                        <a:rPr b="1" lang="en" sz="850" u="none" cap="none" strike="noStrike">
                          <a:solidFill>
                            <a:srgbClr val="1A1A2E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192 GB</a:t>
                      </a:r>
                      <a:endParaRPr sz="85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50"/>
                        <a:buFont typeface="Calibri"/>
                        <a:buNone/>
                      </a:pPr>
                      <a:r>
                        <a:rPr b="1" lang="en" sz="850" u="none" cap="none" strike="noStrike">
                          <a:solidFill>
                            <a:srgbClr val="1A1A2E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4,500</a:t>
                      </a:r>
                      <a:endParaRPr sz="85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50"/>
                        <a:buFont typeface="Calibri"/>
                        <a:buNone/>
                      </a:pPr>
                      <a:r>
                        <a:rPr b="1" lang="en" sz="850" u="none" cap="none" strike="noStrike">
                          <a:solidFill>
                            <a:srgbClr val="1A1A2E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288.0</a:t>
                      </a:r>
                      <a:endParaRPr sz="85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3E0"/>
                    </a:solidFill>
                  </a:tcPr>
                </a:tc>
              </a:tr>
              <a:tr h="237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50"/>
                        <a:buFont typeface="Calibri"/>
                        <a:buNone/>
                      </a:pPr>
                      <a:r>
                        <a:rPr lang="en" sz="850" u="none" cap="none" strike="noStrike">
                          <a:solidFill>
                            <a:srgbClr val="1A1A2E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L40S</a:t>
                      </a:r>
                      <a:endParaRPr sz="85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50"/>
                        <a:buFont typeface="Calibri"/>
                        <a:buNone/>
                      </a:pPr>
                      <a:r>
                        <a:rPr lang="en" sz="850" u="none" cap="none" strike="noStrike">
                          <a:solidFill>
                            <a:srgbClr val="1A1A2E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116</a:t>
                      </a:r>
                      <a:endParaRPr sz="85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50"/>
                        <a:buFont typeface="Calibri"/>
                        <a:buNone/>
                      </a:pPr>
                      <a:r>
                        <a:rPr lang="en" sz="850" u="none" cap="none" strike="noStrike">
                          <a:solidFill>
                            <a:srgbClr val="1A1A2E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48 GB</a:t>
                      </a:r>
                      <a:endParaRPr sz="85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50"/>
                        <a:buFont typeface="Calibri"/>
                        <a:buNone/>
                      </a:pPr>
                      <a:r>
                        <a:rPr lang="en" sz="850" u="none" cap="none" strike="noStrike">
                          <a:solidFill>
                            <a:srgbClr val="1A1A2E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366</a:t>
                      </a:r>
                      <a:endParaRPr sz="85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50"/>
                        <a:buFont typeface="Calibri"/>
                        <a:buNone/>
                      </a:pPr>
                      <a:r>
                        <a:rPr lang="en" sz="850" u="none" cap="none" strike="noStrike">
                          <a:solidFill>
                            <a:srgbClr val="1A1A2E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42.5</a:t>
                      </a:r>
                      <a:endParaRPr sz="85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7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50"/>
                        <a:buFont typeface="Calibri"/>
                        <a:buNone/>
                      </a:pPr>
                      <a:r>
                        <a:rPr lang="en" sz="850" u="none" cap="none" strike="noStrike">
                          <a:solidFill>
                            <a:srgbClr val="1A1A2E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RTX PRO 6000 BW</a:t>
                      </a:r>
                      <a:endParaRPr sz="85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50"/>
                        <a:buFont typeface="Calibri"/>
                        <a:buNone/>
                      </a:pPr>
                      <a:r>
                        <a:rPr lang="en" sz="850" u="none" cap="none" strike="noStrike">
                          <a:solidFill>
                            <a:srgbClr val="1A1A2E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88</a:t>
                      </a:r>
                      <a:endParaRPr sz="85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50"/>
                        <a:buFont typeface="Calibri"/>
                        <a:buNone/>
                      </a:pPr>
                      <a:r>
                        <a:rPr lang="en" sz="850" u="none" cap="none" strike="noStrike">
                          <a:solidFill>
                            <a:srgbClr val="1A1A2E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96 GB</a:t>
                      </a:r>
                      <a:endParaRPr sz="85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50"/>
                        <a:buFont typeface="Calibri"/>
                        <a:buNone/>
                      </a:pPr>
                      <a:r>
                        <a:rPr lang="en" sz="850" u="none" cap="none" strike="noStrike">
                          <a:solidFill>
                            <a:srgbClr val="1A1A2E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~500</a:t>
                      </a:r>
                      <a:endParaRPr sz="85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50"/>
                        <a:buFont typeface="Calibri"/>
                        <a:buNone/>
                      </a:pPr>
                      <a:r>
                        <a:rPr lang="en" sz="850" u="none" cap="none" strike="noStrike">
                          <a:solidFill>
                            <a:srgbClr val="1A1A2E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~44.0</a:t>
                      </a:r>
                      <a:endParaRPr sz="85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</a:tr>
              <a:tr h="237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50"/>
                        <a:buFont typeface="Calibri"/>
                        <a:buNone/>
                      </a:pPr>
                      <a:r>
                        <a:rPr lang="en" sz="850" u="none" cap="none" strike="noStrike">
                          <a:solidFill>
                            <a:srgbClr val="1A1A2E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H100 SXM</a:t>
                      </a:r>
                      <a:endParaRPr sz="85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50"/>
                        <a:buFont typeface="Calibri"/>
                        <a:buNone/>
                      </a:pPr>
                      <a:r>
                        <a:rPr lang="en" sz="850" u="none" cap="none" strike="noStrike">
                          <a:solidFill>
                            <a:srgbClr val="1A1A2E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30</a:t>
                      </a:r>
                      <a:endParaRPr sz="85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50"/>
                        <a:buFont typeface="Calibri"/>
                        <a:buNone/>
                      </a:pPr>
                      <a:r>
                        <a:rPr lang="en" sz="850" u="none" cap="none" strike="noStrike">
                          <a:solidFill>
                            <a:srgbClr val="1A1A2E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80 GB</a:t>
                      </a:r>
                      <a:endParaRPr sz="85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50"/>
                        <a:buFont typeface="Calibri"/>
                        <a:buNone/>
                      </a:pPr>
                      <a:r>
                        <a:rPr lang="en" sz="850" u="none" cap="none" strike="noStrike">
                          <a:solidFill>
                            <a:srgbClr val="1A1A2E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990</a:t>
                      </a:r>
                      <a:endParaRPr sz="85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50"/>
                        <a:buFont typeface="Calibri"/>
                        <a:buNone/>
                      </a:pPr>
                      <a:r>
                        <a:rPr lang="en" sz="850" u="none" cap="none" strike="noStrike">
                          <a:solidFill>
                            <a:srgbClr val="1A1A2E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29.7</a:t>
                      </a:r>
                      <a:endParaRPr sz="85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7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50"/>
                        <a:buFont typeface="Calibri"/>
                        <a:buNone/>
                      </a:pPr>
                      <a:r>
                        <a:rPr lang="en" sz="850" u="none" cap="none" strike="noStrike">
                          <a:solidFill>
                            <a:srgbClr val="1A1A2E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A5000</a:t>
                      </a:r>
                      <a:endParaRPr sz="85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50"/>
                        <a:buFont typeface="Calibri"/>
                        <a:buNone/>
                      </a:pPr>
                      <a:r>
                        <a:rPr lang="en" sz="850" u="none" cap="none" strike="noStrike">
                          <a:solidFill>
                            <a:srgbClr val="1A1A2E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186</a:t>
                      </a:r>
                      <a:endParaRPr sz="85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50"/>
                        <a:buFont typeface="Calibri"/>
                        <a:buNone/>
                      </a:pPr>
                      <a:r>
                        <a:rPr lang="en" sz="850" u="none" cap="none" strike="noStrike">
                          <a:solidFill>
                            <a:srgbClr val="1A1A2E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24 GB</a:t>
                      </a:r>
                      <a:endParaRPr sz="85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50"/>
                        <a:buFont typeface="Calibri"/>
                        <a:buNone/>
                      </a:pPr>
                      <a:r>
                        <a:rPr lang="en" sz="850" u="none" cap="none" strike="noStrike">
                          <a:solidFill>
                            <a:srgbClr val="1A1A2E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65</a:t>
                      </a:r>
                      <a:endParaRPr sz="85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50"/>
                        <a:buFont typeface="Calibri"/>
                        <a:buNone/>
                      </a:pPr>
                      <a:r>
                        <a:rPr lang="en" sz="850" u="none" cap="none" strike="noStrike">
                          <a:solidFill>
                            <a:srgbClr val="1A1A2E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12.1</a:t>
                      </a:r>
                      <a:endParaRPr sz="85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</a:tr>
              <a:tr h="237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50"/>
                        <a:buFont typeface="Calibri"/>
                        <a:buNone/>
                      </a:pPr>
                      <a:r>
                        <a:rPr lang="en" sz="850" u="none" cap="none" strike="noStrike">
                          <a:solidFill>
                            <a:srgbClr val="1A1A2E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3090 / A5500 / A6000</a:t>
                      </a:r>
                      <a:endParaRPr sz="85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50"/>
                        <a:buFont typeface="Calibri"/>
                        <a:buNone/>
                      </a:pPr>
                      <a:r>
                        <a:rPr lang="en" sz="850" u="none" cap="none" strike="noStrike">
                          <a:solidFill>
                            <a:srgbClr val="1A1A2E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264</a:t>
                      </a:r>
                      <a:endParaRPr sz="85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50"/>
                        <a:buFont typeface="Calibri"/>
                        <a:buNone/>
                      </a:pPr>
                      <a:r>
                        <a:rPr lang="en" sz="850" u="none" cap="none" strike="noStrike">
                          <a:solidFill>
                            <a:srgbClr val="1A1A2E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24–48 GB</a:t>
                      </a:r>
                      <a:endParaRPr sz="85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50"/>
                        <a:buFont typeface="Calibri"/>
                        <a:buNone/>
                      </a:pPr>
                      <a:r>
                        <a:rPr lang="en" sz="850" u="none" cap="none" strike="noStrike">
                          <a:solidFill>
                            <a:srgbClr val="1A1A2E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65–78</a:t>
                      </a:r>
                      <a:endParaRPr sz="85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50"/>
                        <a:buFont typeface="Calibri"/>
                        <a:buNone/>
                      </a:pPr>
                      <a:r>
                        <a:rPr lang="en" sz="850" u="none" cap="none" strike="noStrike">
                          <a:solidFill>
                            <a:srgbClr val="1A1A2E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~18.7</a:t>
                      </a:r>
                      <a:endParaRPr sz="85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7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50"/>
                        <a:buFont typeface="Calibri"/>
                        <a:buNone/>
                      </a:pPr>
                      <a:r>
                        <a:rPr lang="en" sz="850" u="none" cap="none" strike="noStrike">
                          <a:solidFill>
                            <a:srgbClr val="1A1A2E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Quadro RTX + others</a:t>
                      </a:r>
                      <a:endParaRPr sz="85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50"/>
                        <a:buFont typeface="Calibri"/>
                        <a:buNone/>
                      </a:pPr>
                      <a:r>
                        <a:rPr lang="en" sz="850" u="none" cap="none" strike="noStrike">
                          <a:solidFill>
                            <a:srgbClr val="1A1A2E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132</a:t>
                      </a:r>
                      <a:endParaRPr sz="85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50"/>
                        <a:buFont typeface="Calibri"/>
                        <a:buNone/>
                      </a:pPr>
                      <a:r>
                        <a:rPr lang="en" sz="850" u="none" cap="none" strike="noStrike">
                          <a:solidFill>
                            <a:srgbClr val="1A1A2E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12–48 GB</a:t>
                      </a:r>
                      <a:endParaRPr sz="85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50"/>
                        <a:buFont typeface="Calibri"/>
                        <a:buNone/>
                      </a:pPr>
                      <a:r>
                        <a:rPr lang="en" sz="850" u="none" cap="none" strike="noStrike">
                          <a:solidFill>
                            <a:srgbClr val="1A1A2E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8–32</a:t>
                      </a:r>
                      <a:endParaRPr sz="85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50"/>
                        <a:buFont typeface="Calibri"/>
                        <a:buNone/>
                      </a:pPr>
                      <a:r>
                        <a:rPr lang="en" sz="850" u="none" cap="none" strike="noStrike">
                          <a:solidFill>
                            <a:srgbClr val="1A1A2E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~5.0</a:t>
                      </a:r>
                      <a:endParaRPr sz="85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</a:tr>
              <a:tr h="2743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Calibri"/>
                        <a:buNone/>
                      </a:pPr>
                      <a:r>
                        <a:rPr b="1" lang="en" sz="900" u="none" cap="none" strike="noStrike">
                          <a:solidFill>
                            <a:srgbClr val="FFFFFF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TOTAL</a:t>
                      </a:r>
                      <a:endParaRPr sz="9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65C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Calibri"/>
                        <a:buNone/>
                      </a:pPr>
                      <a:r>
                        <a:rPr b="1" lang="en" sz="900" u="none" cap="none" strike="noStrike">
                          <a:solidFill>
                            <a:srgbClr val="FFFFFF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~880</a:t>
                      </a:r>
                      <a:endParaRPr sz="9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65C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Calibri"/>
                        <a:buNone/>
                      </a:pPr>
                      <a:r>
                        <a:t/>
                      </a:r>
                      <a:endParaRPr sz="9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65C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Calibri"/>
                        <a:buNone/>
                      </a:pPr>
                      <a:r>
                        <a:t/>
                      </a:r>
                      <a:endParaRPr sz="9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65C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Calibri"/>
                        <a:buNone/>
                      </a:pPr>
                      <a:r>
                        <a:rPr b="1" lang="en" sz="900" u="none" cap="none" strike="noStrike">
                          <a:solidFill>
                            <a:srgbClr val="FFFFFF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~450</a:t>
                      </a:r>
                      <a:endParaRPr sz="9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65C0"/>
                    </a:solidFill>
                  </a:tcPr>
                </a:tc>
              </a:tr>
            </a:tbl>
          </a:graphicData>
        </a:graphic>
      </p:graphicFrame>
      <p:sp>
        <p:nvSpPr>
          <p:cNvPr id="578" name="Google Shape;578;p49"/>
          <p:cNvSpPr/>
          <p:nvPr/>
        </p:nvSpPr>
        <p:spPr>
          <a:xfrm>
            <a:off x="4972686" y="2092440"/>
            <a:ext cx="3895500" cy="83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Calibri"/>
              <a:buNone/>
            </a:pPr>
            <a:r>
              <a:rPr b="1" i="0" lang="en" sz="1600" u="none" cap="none" strike="noStrik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GPT-2 (1.5B) </a:t>
            </a:r>
            <a:r>
              <a:rPr i="0" lang="en" sz="1600" u="none" cap="none" strike="noStrik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≈ 10 PF-days → </a:t>
            </a:r>
            <a:r>
              <a:rPr b="1" i="0" lang="en" sz="1600" u="none" cap="none" strike="noStrike">
                <a:solidFill>
                  <a:srgbClr val="2E7D32"/>
                </a:solidFill>
                <a:latin typeface="Outfit"/>
                <a:ea typeface="Outfit"/>
                <a:cs typeface="Outfit"/>
                <a:sym typeface="Outfit"/>
              </a:rPr>
              <a:t>hours ✓</a:t>
            </a:r>
            <a:endParaRPr i="0" sz="1600" u="none" cap="none" strike="noStrike">
              <a:solidFill>
                <a:schemeClr val="dk1"/>
              </a:solidFill>
              <a:latin typeface="Outfit"/>
              <a:ea typeface="Outfit"/>
              <a:cs typeface="Outfit"/>
              <a:sym typeface="Outfit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Calibri"/>
              <a:buNone/>
            </a:pPr>
            <a:r>
              <a:rPr b="1" i="0" lang="en" sz="1600" u="none" cap="none" strike="noStrik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GPT-3 (175B) </a:t>
            </a:r>
            <a:r>
              <a:rPr i="0" lang="en" sz="1600" u="none" cap="none" strike="noStrik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≈ 3,600 PF-days → </a:t>
            </a:r>
            <a:r>
              <a:rPr b="1" i="0" lang="en" sz="1600" u="none" cap="none" strike="noStrike">
                <a:solidFill>
                  <a:srgbClr val="E65100"/>
                </a:solidFill>
                <a:latin typeface="Outfit"/>
                <a:ea typeface="Outfit"/>
                <a:cs typeface="Outfit"/>
                <a:sym typeface="Outfit"/>
              </a:rPr>
              <a:t>weeks</a:t>
            </a:r>
            <a:endParaRPr i="0" sz="1600" u="none" cap="none" strike="noStrike">
              <a:solidFill>
                <a:schemeClr val="dk1"/>
              </a:solidFill>
              <a:latin typeface="Outfit"/>
              <a:ea typeface="Outfit"/>
              <a:cs typeface="Outfit"/>
              <a:sym typeface="Outfit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Calibri"/>
              <a:buNone/>
            </a:pPr>
            <a:r>
              <a:rPr b="1" i="0" lang="en" sz="1600" u="none" cap="none" strike="noStrik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Llama 3 (405B) </a:t>
            </a:r>
            <a:r>
              <a:rPr i="0" lang="en" sz="1600" u="none" cap="none" strike="noStrik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≈ 250K PF-days → </a:t>
            </a:r>
            <a:r>
              <a:rPr b="1" i="0" lang="en" sz="1600" u="none" cap="none" strike="noStrike">
                <a:solidFill>
                  <a:srgbClr val="B71C1C"/>
                </a:solidFill>
                <a:latin typeface="Outfit"/>
                <a:ea typeface="Outfit"/>
                <a:cs typeface="Outfit"/>
                <a:sym typeface="Outfit"/>
              </a:rPr>
              <a:t>years ✗</a:t>
            </a:r>
            <a:endParaRPr i="0" sz="1600" u="none" cap="none" strike="noStrike">
              <a:solidFill>
                <a:schemeClr val="dk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79" name="Google Shape;579;p49"/>
          <p:cNvSpPr/>
          <p:nvPr/>
        </p:nvSpPr>
        <p:spPr>
          <a:xfrm>
            <a:off x="5268761" y="1365172"/>
            <a:ext cx="3665100" cy="32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Calibri"/>
              <a:buNone/>
            </a:pPr>
            <a:r>
              <a:rPr i="0" lang="en" sz="1000" u="none" cap="none" strike="noStrik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64 B200 GPUs = </a:t>
            </a:r>
            <a:r>
              <a:rPr b="1" i="0" lang="en" sz="1300" u="none" cap="none" strike="noStrike">
                <a:solidFill>
                  <a:srgbClr val="E65100"/>
                </a:solidFill>
                <a:latin typeface="Outfit"/>
                <a:ea typeface="Outfit"/>
                <a:cs typeface="Outfit"/>
                <a:sym typeface="Outfit"/>
              </a:rPr>
              <a:t>64%</a:t>
            </a:r>
            <a:r>
              <a:rPr i="0" lang="en" sz="1000" u="none" cap="none" strike="noStrik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 of all compute</a:t>
            </a:r>
            <a:r>
              <a:rPr lang="en" sz="10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 </a:t>
            </a:r>
            <a:r>
              <a:rPr i="0" lang="en" sz="1000" u="none" cap="none" strike="noStrik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from only </a:t>
            </a:r>
            <a:r>
              <a:rPr b="1" i="0" lang="en" sz="1300" u="none" cap="none" strike="noStrike">
                <a:solidFill>
                  <a:srgbClr val="E65100"/>
                </a:solidFill>
                <a:latin typeface="Outfit"/>
                <a:ea typeface="Outfit"/>
                <a:cs typeface="Outfit"/>
                <a:sym typeface="Outfit"/>
              </a:rPr>
              <a:t>7%</a:t>
            </a:r>
            <a:r>
              <a:rPr i="0" lang="en" sz="1000" u="none" cap="none" strike="noStrik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 of GPU count</a:t>
            </a:r>
            <a:endParaRPr i="0" sz="1000" u="none" cap="none" strike="noStrike">
              <a:solidFill>
                <a:schemeClr val="dk1"/>
              </a:solidFill>
              <a:latin typeface="Outfit"/>
              <a:ea typeface="Outfit"/>
              <a:cs typeface="Outfit"/>
              <a:sym typeface="Outfit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t/>
            </a:r>
            <a:endParaRPr i="0" sz="1000" u="none" cap="none" strike="noStrike">
              <a:solidFill>
                <a:schemeClr val="dk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80" name="Google Shape;580;p49"/>
          <p:cNvSpPr txBox="1"/>
          <p:nvPr>
            <p:ph idx="2" type="subTitle"/>
          </p:nvPr>
        </p:nvSpPr>
        <p:spPr>
          <a:xfrm>
            <a:off x="-3878" y="4726250"/>
            <a:ext cx="6356100" cy="411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Source: CCV Oscar inventory (Feb 2025). FP16 Tensor TFLOPS. Table generated by Claude.</a:t>
            </a:r>
            <a:endParaRPr/>
          </a:p>
        </p:txBody>
      </p:sp>
      <p:sp>
        <p:nvSpPr>
          <p:cNvPr id="581" name="Google Shape;581;p49"/>
          <p:cNvSpPr/>
          <p:nvPr/>
        </p:nvSpPr>
        <p:spPr>
          <a:xfrm>
            <a:off x="4972686" y="3095271"/>
            <a:ext cx="3895500" cy="95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7D32"/>
              </a:buClr>
              <a:buSzPts val="1050"/>
              <a:buFont typeface="Calibri"/>
              <a:buNone/>
            </a:pPr>
            <a:r>
              <a:rPr lang="en" sz="1600">
                <a:solidFill>
                  <a:srgbClr val="4F46E5"/>
                </a:solidFill>
                <a:latin typeface="Outfit"/>
                <a:ea typeface="Outfit"/>
                <a:cs typeface="Outfit"/>
                <a:sym typeface="Outfit"/>
              </a:rPr>
              <a:t>We c</a:t>
            </a:r>
            <a:r>
              <a:rPr i="0" lang="en" sz="1600" u="none" cap="none" strike="noStrike">
                <a:solidFill>
                  <a:srgbClr val="4F46E5"/>
                </a:solidFill>
                <a:latin typeface="Outfit"/>
                <a:ea typeface="Outfit"/>
                <a:cs typeface="Outfit"/>
                <a:sym typeface="Outfit"/>
              </a:rPr>
              <a:t>an train up to GPT-3-scale models. Frontier models (Llama 3, GPT-4) require </a:t>
            </a:r>
            <a:r>
              <a:rPr lang="en" sz="1600">
                <a:solidFill>
                  <a:srgbClr val="4F46E5"/>
                </a:solidFill>
                <a:latin typeface="Outfit"/>
                <a:ea typeface="Outfit"/>
                <a:cs typeface="Outfit"/>
                <a:sym typeface="Outfit"/>
              </a:rPr>
              <a:t>hyperscale</a:t>
            </a:r>
            <a:r>
              <a:rPr i="0" lang="en" sz="1600" u="none" cap="none" strike="noStrike">
                <a:solidFill>
                  <a:srgbClr val="4F46E5"/>
                </a:solidFill>
                <a:latin typeface="Outfit"/>
                <a:ea typeface="Outfit"/>
                <a:cs typeface="Outfit"/>
                <a:sym typeface="Outfit"/>
              </a:rPr>
              <a:t> clusters with 10,000+ GPUs.</a:t>
            </a:r>
            <a:endParaRPr i="0" sz="1600" u="none" cap="none" strike="noStrike">
              <a:solidFill>
                <a:srgbClr val="4F46E5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82" name="Google Shape;582;p49"/>
          <p:cNvSpPr txBox="1"/>
          <p:nvPr>
            <p:ph type="title"/>
          </p:nvPr>
        </p:nvSpPr>
        <p:spPr>
          <a:xfrm>
            <a:off x="311700" y="228600"/>
            <a:ext cx="8520600" cy="61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much compute do we have at Brown?</a:t>
            </a:r>
            <a:endParaRPr/>
          </a:p>
        </p:txBody>
      </p:sp>
      <p:cxnSp>
        <p:nvCxnSpPr>
          <p:cNvPr id="583" name="Google Shape;583;p49"/>
          <p:cNvCxnSpPr/>
          <p:nvPr/>
        </p:nvCxnSpPr>
        <p:spPr>
          <a:xfrm flipH="1">
            <a:off x="4585061" y="1575447"/>
            <a:ext cx="683700" cy="474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88" name="Shape 5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9" name="Google Shape;589;p50"/>
          <p:cNvSpPr/>
          <p:nvPr/>
        </p:nvSpPr>
        <p:spPr>
          <a:xfrm>
            <a:off x="548640" y="274320"/>
            <a:ext cx="80466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46E5"/>
              </a:buClr>
              <a:buSzPts val="2400"/>
              <a:buFont typeface="Outfit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0" name="Google Shape;590;p50"/>
          <p:cNvSpPr/>
          <p:nvPr/>
        </p:nvSpPr>
        <p:spPr>
          <a:xfrm>
            <a:off x="502875" y="3623720"/>
            <a:ext cx="8229600" cy="366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1" name="Google Shape;591;p50"/>
          <p:cNvSpPr/>
          <p:nvPr/>
        </p:nvSpPr>
        <p:spPr>
          <a:xfrm>
            <a:off x="777195" y="3532280"/>
            <a:ext cx="164700" cy="164700"/>
          </a:xfrm>
          <a:prstGeom prst="ellipse">
            <a:avLst/>
          </a:prstGeom>
          <a:solidFill>
            <a:srgbClr val="4F46E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2" name="Google Shape;592;p50"/>
          <p:cNvSpPr/>
          <p:nvPr/>
        </p:nvSpPr>
        <p:spPr>
          <a:xfrm>
            <a:off x="411435" y="2435000"/>
            <a:ext cx="1005900" cy="1005900"/>
          </a:xfrm>
          <a:prstGeom prst="rect">
            <a:avLst/>
          </a:prstGeom>
          <a:solidFill>
            <a:srgbClr val="F8FAFC"/>
          </a:solidFill>
          <a:ln cap="flat" cmpd="sng" w="12700">
            <a:solidFill>
              <a:srgbClr val="4F46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3" name="Google Shape;593;p50"/>
          <p:cNvSpPr/>
          <p:nvPr/>
        </p:nvSpPr>
        <p:spPr>
          <a:xfrm>
            <a:off x="411435" y="2480720"/>
            <a:ext cx="10059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F46E5"/>
              </a:buClr>
              <a:buSzPts val="1000"/>
              <a:buFont typeface="Outfit"/>
              <a:buNone/>
            </a:pPr>
            <a:r>
              <a:rPr b="1" i="0" lang="en" sz="1000" u="none" cap="none" strike="noStrike">
                <a:solidFill>
                  <a:srgbClr val="4F46E5"/>
                </a:solidFill>
                <a:latin typeface="Outfit"/>
                <a:ea typeface="Outfit"/>
                <a:cs typeface="Outfit"/>
                <a:sym typeface="Outfit"/>
              </a:rPr>
              <a:t>GPT-2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4" name="Google Shape;594;p50"/>
          <p:cNvSpPr/>
          <p:nvPr/>
        </p:nvSpPr>
        <p:spPr>
          <a:xfrm>
            <a:off x="411435" y="2755040"/>
            <a:ext cx="10059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800"/>
              <a:buFont typeface="Outfit"/>
              <a:buNone/>
            </a:pPr>
            <a:r>
              <a:rPr b="0" i="0" lang="en" sz="800" u="none" cap="none" strike="noStrike">
                <a:solidFill>
                  <a:srgbClr val="94A3B8"/>
                </a:solidFill>
                <a:latin typeface="Outfit"/>
                <a:ea typeface="Outfit"/>
                <a:cs typeface="Outfit"/>
                <a:sym typeface="Outfit"/>
              </a:rPr>
              <a:t>OpenAI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800"/>
              <a:buFont typeface="Outfit"/>
              <a:buNone/>
            </a:pPr>
            <a:r>
              <a:rPr b="0" i="0" lang="en" sz="800" u="none" cap="none" strike="noStrike">
                <a:solidFill>
                  <a:srgbClr val="94A3B8"/>
                </a:solidFill>
                <a:latin typeface="Outfit"/>
                <a:ea typeface="Outfit"/>
                <a:cs typeface="Outfit"/>
                <a:sym typeface="Outfit"/>
              </a:rPr>
              <a:t>1.5B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5" name="Google Shape;595;p50"/>
          <p:cNvSpPr/>
          <p:nvPr/>
        </p:nvSpPr>
        <p:spPr>
          <a:xfrm>
            <a:off x="411435" y="3166520"/>
            <a:ext cx="10059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900"/>
              <a:buFont typeface="Outfit"/>
              <a:buNone/>
            </a:pPr>
            <a:r>
              <a:rPr b="0" i="0" lang="en" sz="9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2019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6" name="Google Shape;596;p50"/>
          <p:cNvSpPr/>
          <p:nvPr/>
        </p:nvSpPr>
        <p:spPr>
          <a:xfrm>
            <a:off x="841203" y="3440840"/>
            <a:ext cx="18300" cy="915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7" name="Google Shape;597;p50"/>
          <p:cNvSpPr/>
          <p:nvPr/>
        </p:nvSpPr>
        <p:spPr>
          <a:xfrm>
            <a:off x="1965915" y="3532280"/>
            <a:ext cx="164700" cy="164700"/>
          </a:xfrm>
          <a:prstGeom prst="ellipse">
            <a:avLst/>
          </a:prstGeom>
          <a:solidFill>
            <a:srgbClr val="4F46E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8" name="Google Shape;598;p50"/>
          <p:cNvSpPr/>
          <p:nvPr/>
        </p:nvSpPr>
        <p:spPr>
          <a:xfrm>
            <a:off x="1600155" y="3943760"/>
            <a:ext cx="1005900" cy="1005900"/>
          </a:xfrm>
          <a:prstGeom prst="rect">
            <a:avLst/>
          </a:prstGeom>
          <a:solidFill>
            <a:srgbClr val="F8FAFC"/>
          </a:solidFill>
          <a:ln cap="flat" cmpd="sng" w="12700">
            <a:solidFill>
              <a:srgbClr val="4F46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9" name="Google Shape;599;p50"/>
          <p:cNvSpPr/>
          <p:nvPr/>
        </p:nvSpPr>
        <p:spPr>
          <a:xfrm>
            <a:off x="1600155" y="3989480"/>
            <a:ext cx="10059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F46E5"/>
              </a:buClr>
              <a:buSzPts val="1000"/>
              <a:buFont typeface="Outfit"/>
              <a:buNone/>
            </a:pPr>
            <a:r>
              <a:rPr b="1" i="0" lang="en" sz="1000" u="none" cap="none" strike="noStrike">
                <a:solidFill>
                  <a:srgbClr val="4F46E5"/>
                </a:solidFill>
                <a:latin typeface="Outfit"/>
                <a:ea typeface="Outfit"/>
                <a:cs typeface="Outfit"/>
                <a:sym typeface="Outfit"/>
              </a:rPr>
              <a:t>GPT-3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0" name="Google Shape;600;p50"/>
          <p:cNvSpPr/>
          <p:nvPr/>
        </p:nvSpPr>
        <p:spPr>
          <a:xfrm>
            <a:off x="1600155" y="4263800"/>
            <a:ext cx="10059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800"/>
              <a:buFont typeface="Outfit"/>
              <a:buNone/>
            </a:pPr>
            <a:r>
              <a:rPr b="0" i="0" lang="en" sz="800" u="none" cap="none" strike="noStrike">
                <a:solidFill>
                  <a:srgbClr val="94A3B8"/>
                </a:solidFill>
                <a:latin typeface="Outfit"/>
                <a:ea typeface="Outfit"/>
                <a:cs typeface="Outfit"/>
                <a:sym typeface="Outfit"/>
              </a:rPr>
              <a:t>OpenAI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800"/>
              <a:buFont typeface="Outfit"/>
              <a:buNone/>
            </a:pPr>
            <a:r>
              <a:rPr b="0" i="0" lang="en" sz="800" u="none" cap="none" strike="noStrike">
                <a:solidFill>
                  <a:srgbClr val="94A3B8"/>
                </a:solidFill>
                <a:latin typeface="Outfit"/>
                <a:ea typeface="Outfit"/>
                <a:cs typeface="Outfit"/>
                <a:sym typeface="Outfit"/>
              </a:rPr>
              <a:t>175B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1" name="Google Shape;601;p50"/>
          <p:cNvSpPr/>
          <p:nvPr/>
        </p:nvSpPr>
        <p:spPr>
          <a:xfrm>
            <a:off x="1600155" y="4675280"/>
            <a:ext cx="10059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900"/>
              <a:buFont typeface="Outfit"/>
              <a:buNone/>
            </a:pPr>
            <a:r>
              <a:rPr b="0" i="0" lang="en" sz="9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2020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2" name="Google Shape;602;p50"/>
          <p:cNvSpPr/>
          <p:nvPr/>
        </p:nvSpPr>
        <p:spPr>
          <a:xfrm>
            <a:off x="2029923" y="3696872"/>
            <a:ext cx="18300" cy="2469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3" name="Google Shape;603;p50"/>
          <p:cNvSpPr/>
          <p:nvPr/>
        </p:nvSpPr>
        <p:spPr>
          <a:xfrm>
            <a:off x="3154635" y="3532280"/>
            <a:ext cx="164700" cy="164700"/>
          </a:xfrm>
          <a:prstGeom prst="ellipse">
            <a:avLst/>
          </a:prstGeom>
          <a:solidFill>
            <a:srgbClr val="0891B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4" name="Google Shape;604;p50"/>
          <p:cNvSpPr/>
          <p:nvPr/>
        </p:nvSpPr>
        <p:spPr>
          <a:xfrm>
            <a:off x="2788875" y="2435000"/>
            <a:ext cx="1005900" cy="1005900"/>
          </a:xfrm>
          <a:prstGeom prst="rect">
            <a:avLst/>
          </a:prstGeom>
          <a:solidFill>
            <a:srgbClr val="F8FAFC"/>
          </a:solidFill>
          <a:ln cap="flat" cmpd="sng" w="12700">
            <a:solidFill>
              <a:srgbClr val="0891B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5" name="Google Shape;605;p50"/>
          <p:cNvSpPr/>
          <p:nvPr/>
        </p:nvSpPr>
        <p:spPr>
          <a:xfrm>
            <a:off x="2788875" y="2480720"/>
            <a:ext cx="10059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891B2"/>
              </a:buClr>
              <a:buSzPts val="1000"/>
              <a:buFont typeface="Outfit"/>
              <a:buNone/>
            </a:pPr>
            <a:r>
              <a:rPr b="1" i="0" lang="en" sz="1000" u="none" cap="none" strike="noStrike">
                <a:solidFill>
                  <a:srgbClr val="0891B2"/>
                </a:solidFill>
                <a:latin typeface="Outfit"/>
                <a:ea typeface="Outfit"/>
                <a:cs typeface="Outfit"/>
                <a:sym typeface="Outfit"/>
              </a:rPr>
              <a:t>Chinchilla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6" name="Google Shape;606;p50"/>
          <p:cNvSpPr/>
          <p:nvPr/>
        </p:nvSpPr>
        <p:spPr>
          <a:xfrm>
            <a:off x="2788875" y="2755040"/>
            <a:ext cx="10059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800"/>
              <a:buFont typeface="Outfit"/>
              <a:buNone/>
            </a:pPr>
            <a:r>
              <a:rPr b="0" i="0" lang="en" sz="800" u="none" cap="none" strike="noStrike">
                <a:solidFill>
                  <a:srgbClr val="94A3B8"/>
                </a:solidFill>
                <a:latin typeface="Outfit"/>
                <a:ea typeface="Outfit"/>
                <a:cs typeface="Outfit"/>
                <a:sym typeface="Outfit"/>
              </a:rPr>
              <a:t>DeepMind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800"/>
              <a:buFont typeface="Outfit"/>
              <a:buNone/>
            </a:pPr>
            <a:r>
              <a:rPr b="0" i="0" lang="en" sz="800" u="none" cap="none" strike="noStrike">
                <a:solidFill>
                  <a:srgbClr val="94A3B8"/>
                </a:solidFill>
                <a:latin typeface="Outfit"/>
                <a:ea typeface="Outfit"/>
                <a:cs typeface="Outfit"/>
                <a:sym typeface="Outfit"/>
              </a:rPr>
              <a:t>70B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7" name="Google Shape;607;p50"/>
          <p:cNvSpPr/>
          <p:nvPr/>
        </p:nvSpPr>
        <p:spPr>
          <a:xfrm>
            <a:off x="2788875" y="3166520"/>
            <a:ext cx="10059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900"/>
              <a:buFont typeface="Outfit"/>
              <a:buNone/>
            </a:pPr>
            <a:r>
              <a:rPr b="0" i="0" lang="en" sz="9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2022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8" name="Google Shape;608;p50"/>
          <p:cNvSpPr/>
          <p:nvPr/>
        </p:nvSpPr>
        <p:spPr>
          <a:xfrm>
            <a:off x="3218643" y="3440840"/>
            <a:ext cx="18300" cy="9150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9" name="Google Shape;609;p50"/>
          <p:cNvSpPr/>
          <p:nvPr/>
        </p:nvSpPr>
        <p:spPr>
          <a:xfrm>
            <a:off x="4343355" y="3532280"/>
            <a:ext cx="164700" cy="16470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0" name="Google Shape;610;p50"/>
          <p:cNvSpPr/>
          <p:nvPr/>
        </p:nvSpPr>
        <p:spPr>
          <a:xfrm>
            <a:off x="3977595" y="3943760"/>
            <a:ext cx="1005900" cy="1005900"/>
          </a:xfrm>
          <a:prstGeom prst="rect">
            <a:avLst/>
          </a:prstGeom>
          <a:solidFill>
            <a:srgbClr val="F8FAFC"/>
          </a:solidFill>
          <a:ln cap="flat" cmpd="sng" w="12700">
            <a:solidFill>
              <a:srgbClr val="D977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1" name="Google Shape;611;p50"/>
          <p:cNvSpPr/>
          <p:nvPr/>
        </p:nvSpPr>
        <p:spPr>
          <a:xfrm>
            <a:off x="3977595" y="3989480"/>
            <a:ext cx="10059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97706"/>
              </a:buClr>
              <a:buSzPts val="1000"/>
              <a:buFont typeface="Outfit"/>
              <a:buNone/>
            </a:pPr>
            <a:r>
              <a:rPr b="1" i="0" lang="en" sz="1000" u="none" cap="none" strike="noStrike">
                <a:solidFill>
                  <a:srgbClr val="D97706"/>
                </a:solidFill>
                <a:latin typeface="Outfit"/>
                <a:ea typeface="Outfit"/>
                <a:cs typeface="Outfit"/>
                <a:sym typeface="Outfit"/>
              </a:rPr>
              <a:t>ChatGPT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2" name="Google Shape;612;p50"/>
          <p:cNvSpPr/>
          <p:nvPr/>
        </p:nvSpPr>
        <p:spPr>
          <a:xfrm>
            <a:off x="3977595" y="4263800"/>
            <a:ext cx="10059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800"/>
              <a:buFont typeface="Outfit"/>
              <a:buNone/>
            </a:pPr>
            <a:r>
              <a:rPr b="0" i="0" lang="en" sz="800" u="none" cap="none" strike="noStrike">
                <a:solidFill>
                  <a:srgbClr val="94A3B8"/>
                </a:solidFill>
                <a:latin typeface="Outfit"/>
                <a:ea typeface="Outfit"/>
                <a:cs typeface="Outfit"/>
                <a:sym typeface="Outfit"/>
              </a:rPr>
              <a:t>OpenAI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800"/>
              <a:buFont typeface="Outfit"/>
              <a:buNone/>
            </a:pPr>
            <a:r>
              <a:rPr b="0" i="0" lang="en" sz="800" u="none" cap="none" strike="noStrike">
                <a:solidFill>
                  <a:srgbClr val="94A3B8"/>
                </a:solidFill>
                <a:latin typeface="Outfit"/>
                <a:ea typeface="Outfit"/>
                <a:cs typeface="Outfit"/>
                <a:sym typeface="Outfit"/>
              </a:rPr>
              <a:t>RLHF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3" name="Google Shape;613;p50"/>
          <p:cNvSpPr/>
          <p:nvPr/>
        </p:nvSpPr>
        <p:spPr>
          <a:xfrm>
            <a:off x="3977595" y="4675280"/>
            <a:ext cx="10059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900"/>
              <a:buFont typeface="Outfit"/>
              <a:buNone/>
            </a:pPr>
            <a:r>
              <a:rPr b="0" i="0" lang="en" sz="9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2022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4" name="Google Shape;614;p50"/>
          <p:cNvSpPr/>
          <p:nvPr/>
        </p:nvSpPr>
        <p:spPr>
          <a:xfrm>
            <a:off x="4407363" y="3696872"/>
            <a:ext cx="18300" cy="2469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5" name="Google Shape;615;p50"/>
          <p:cNvSpPr/>
          <p:nvPr/>
        </p:nvSpPr>
        <p:spPr>
          <a:xfrm>
            <a:off x="5532075" y="3532280"/>
            <a:ext cx="164700" cy="1647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6" name="Google Shape;616;p50"/>
          <p:cNvSpPr/>
          <p:nvPr/>
        </p:nvSpPr>
        <p:spPr>
          <a:xfrm>
            <a:off x="5166315" y="2435000"/>
            <a:ext cx="1005900" cy="1005900"/>
          </a:xfrm>
          <a:prstGeom prst="rect">
            <a:avLst/>
          </a:prstGeom>
          <a:solidFill>
            <a:srgbClr val="F8FAFC"/>
          </a:solidFill>
          <a:ln cap="flat" cmpd="sng" w="12700">
            <a:solidFill>
              <a:srgbClr val="7C3AE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7" name="Google Shape;617;p50"/>
          <p:cNvSpPr/>
          <p:nvPr/>
        </p:nvSpPr>
        <p:spPr>
          <a:xfrm>
            <a:off x="5166315" y="2480720"/>
            <a:ext cx="10059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C3AED"/>
              </a:buClr>
              <a:buSzPts val="1000"/>
              <a:buFont typeface="Outfit"/>
              <a:buNone/>
            </a:pPr>
            <a:r>
              <a:rPr b="1" i="0" lang="en" sz="1000" u="none" cap="none" strike="noStrike">
                <a:solidFill>
                  <a:srgbClr val="7C3AED"/>
                </a:solidFill>
                <a:latin typeface="Outfit"/>
                <a:ea typeface="Outfit"/>
                <a:cs typeface="Outfit"/>
                <a:sym typeface="Outfit"/>
              </a:rPr>
              <a:t>LLaMA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8" name="Google Shape;618;p50"/>
          <p:cNvSpPr/>
          <p:nvPr/>
        </p:nvSpPr>
        <p:spPr>
          <a:xfrm>
            <a:off x="5166315" y="2755040"/>
            <a:ext cx="10059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800"/>
              <a:buFont typeface="Outfit"/>
              <a:buNone/>
            </a:pPr>
            <a:r>
              <a:rPr b="0" i="0" lang="en" sz="800" u="none" cap="none" strike="noStrike">
                <a:solidFill>
                  <a:srgbClr val="94A3B8"/>
                </a:solidFill>
                <a:latin typeface="Outfit"/>
                <a:ea typeface="Outfit"/>
                <a:cs typeface="Outfit"/>
                <a:sym typeface="Outfit"/>
              </a:rPr>
              <a:t>Meta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800"/>
              <a:buFont typeface="Outfit"/>
              <a:buNone/>
            </a:pPr>
            <a:r>
              <a:rPr b="0" i="0" lang="en" sz="800" u="none" cap="none" strike="noStrike">
                <a:solidFill>
                  <a:srgbClr val="94A3B8"/>
                </a:solidFill>
                <a:latin typeface="Outfit"/>
                <a:ea typeface="Outfit"/>
                <a:cs typeface="Outfit"/>
                <a:sym typeface="Outfit"/>
              </a:rPr>
              <a:t>7–65B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9" name="Google Shape;619;p50"/>
          <p:cNvSpPr/>
          <p:nvPr/>
        </p:nvSpPr>
        <p:spPr>
          <a:xfrm>
            <a:off x="5166315" y="3166520"/>
            <a:ext cx="10059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900"/>
              <a:buFont typeface="Outfit"/>
              <a:buNone/>
            </a:pPr>
            <a:r>
              <a:rPr b="0" i="0" lang="en" sz="9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2023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0" name="Google Shape;620;p50"/>
          <p:cNvSpPr/>
          <p:nvPr/>
        </p:nvSpPr>
        <p:spPr>
          <a:xfrm>
            <a:off x="5596083" y="3440840"/>
            <a:ext cx="18300" cy="915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1" name="Google Shape;621;p50"/>
          <p:cNvSpPr/>
          <p:nvPr/>
        </p:nvSpPr>
        <p:spPr>
          <a:xfrm>
            <a:off x="6629355" y="3532280"/>
            <a:ext cx="164700" cy="164700"/>
          </a:xfrm>
          <a:prstGeom prst="ellipse">
            <a:avLst/>
          </a:prstGeom>
          <a:solidFill>
            <a:srgbClr val="4F46E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2" name="Google Shape;622;p50"/>
          <p:cNvSpPr/>
          <p:nvPr/>
        </p:nvSpPr>
        <p:spPr>
          <a:xfrm>
            <a:off x="6263595" y="3943760"/>
            <a:ext cx="1005900" cy="1005900"/>
          </a:xfrm>
          <a:prstGeom prst="rect">
            <a:avLst/>
          </a:prstGeom>
          <a:solidFill>
            <a:srgbClr val="F8FAFC"/>
          </a:solidFill>
          <a:ln cap="flat" cmpd="sng" w="12700">
            <a:solidFill>
              <a:srgbClr val="4F46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3" name="Google Shape;623;p50"/>
          <p:cNvSpPr/>
          <p:nvPr/>
        </p:nvSpPr>
        <p:spPr>
          <a:xfrm>
            <a:off x="6263595" y="3989480"/>
            <a:ext cx="10059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F46E5"/>
              </a:buClr>
              <a:buSzPts val="1000"/>
              <a:buFont typeface="Outfit"/>
              <a:buNone/>
            </a:pPr>
            <a:r>
              <a:rPr b="1" i="0" lang="en" sz="1000" u="none" cap="none" strike="noStrike">
                <a:solidFill>
                  <a:srgbClr val="4F46E5"/>
                </a:solidFill>
                <a:latin typeface="Outfit"/>
                <a:ea typeface="Outfit"/>
                <a:cs typeface="Outfit"/>
                <a:sym typeface="Outfit"/>
              </a:rPr>
              <a:t>GPT-4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4" name="Google Shape;624;p50"/>
          <p:cNvSpPr/>
          <p:nvPr/>
        </p:nvSpPr>
        <p:spPr>
          <a:xfrm>
            <a:off x="6263595" y="4263800"/>
            <a:ext cx="10059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800"/>
              <a:buFont typeface="Outfit"/>
              <a:buNone/>
            </a:pPr>
            <a:r>
              <a:rPr b="0" i="0" lang="en" sz="800" u="none" cap="none" strike="noStrike">
                <a:solidFill>
                  <a:srgbClr val="94A3B8"/>
                </a:solidFill>
                <a:latin typeface="Outfit"/>
                <a:ea typeface="Outfit"/>
                <a:cs typeface="Outfit"/>
                <a:sym typeface="Outfit"/>
              </a:rPr>
              <a:t>OpenAI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800"/>
              <a:buFont typeface="Outfit"/>
              <a:buNone/>
            </a:pPr>
            <a:r>
              <a:rPr b="0" i="0" lang="en" sz="800" u="none" cap="none" strike="noStrike">
                <a:solidFill>
                  <a:srgbClr val="94A3B8"/>
                </a:solidFill>
                <a:latin typeface="Outfit"/>
                <a:ea typeface="Outfit"/>
                <a:cs typeface="Outfit"/>
                <a:sym typeface="Outfit"/>
              </a:rPr>
              <a:t>MoE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5" name="Google Shape;625;p50"/>
          <p:cNvSpPr/>
          <p:nvPr/>
        </p:nvSpPr>
        <p:spPr>
          <a:xfrm>
            <a:off x="6263595" y="4675280"/>
            <a:ext cx="10059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900"/>
              <a:buFont typeface="Outfit"/>
              <a:buNone/>
            </a:pPr>
            <a:r>
              <a:rPr b="0" i="0" lang="en" sz="9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2023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6" name="Google Shape;626;p50"/>
          <p:cNvSpPr/>
          <p:nvPr/>
        </p:nvSpPr>
        <p:spPr>
          <a:xfrm>
            <a:off x="6693363" y="3696872"/>
            <a:ext cx="18300" cy="2469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7" name="Google Shape;627;p50"/>
          <p:cNvSpPr/>
          <p:nvPr/>
        </p:nvSpPr>
        <p:spPr>
          <a:xfrm>
            <a:off x="8000955" y="3532280"/>
            <a:ext cx="164700" cy="164700"/>
          </a:xfrm>
          <a:prstGeom prst="ellipse">
            <a:avLst/>
          </a:prstGeom>
          <a:solidFill>
            <a:srgbClr val="DC262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8" name="Google Shape;628;p50"/>
          <p:cNvSpPr/>
          <p:nvPr/>
        </p:nvSpPr>
        <p:spPr>
          <a:xfrm>
            <a:off x="7635195" y="2435000"/>
            <a:ext cx="1005900" cy="1005900"/>
          </a:xfrm>
          <a:prstGeom prst="rect">
            <a:avLst/>
          </a:prstGeom>
          <a:solidFill>
            <a:srgbClr val="F8FAFC"/>
          </a:solidFill>
          <a:ln cap="flat" cmpd="sng" w="12700">
            <a:solidFill>
              <a:srgbClr val="DC262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9" name="Google Shape;629;p50"/>
          <p:cNvSpPr/>
          <p:nvPr/>
        </p:nvSpPr>
        <p:spPr>
          <a:xfrm>
            <a:off x="7635195" y="2480720"/>
            <a:ext cx="10059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C2626"/>
              </a:buClr>
              <a:buSzPts val="1000"/>
              <a:buFont typeface="Outfit"/>
              <a:buNone/>
            </a:pPr>
            <a:r>
              <a:rPr b="1" i="0" lang="en" sz="1000" u="none" cap="none" strike="noStrike">
                <a:solidFill>
                  <a:srgbClr val="DC2626"/>
                </a:solidFill>
                <a:latin typeface="Outfit"/>
                <a:ea typeface="Outfit"/>
                <a:cs typeface="Outfit"/>
                <a:sym typeface="Outfit"/>
              </a:rPr>
              <a:t>DeepSeek-R1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0" name="Google Shape;630;p50"/>
          <p:cNvSpPr/>
          <p:nvPr/>
        </p:nvSpPr>
        <p:spPr>
          <a:xfrm>
            <a:off x="7635195" y="2755040"/>
            <a:ext cx="10059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800"/>
              <a:buFont typeface="Outfit"/>
              <a:buNone/>
            </a:pPr>
            <a:r>
              <a:rPr b="0" i="0" lang="en" sz="800" u="none" cap="none" strike="noStrike">
                <a:solidFill>
                  <a:srgbClr val="94A3B8"/>
                </a:solidFill>
                <a:latin typeface="Outfit"/>
                <a:ea typeface="Outfit"/>
                <a:cs typeface="Outfit"/>
                <a:sym typeface="Outfit"/>
              </a:rPr>
              <a:t>DeepSeek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800"/>
              <a:buFont typeface="Outfit"/>
              <a:buNone/>
            </a:pPr>
            <a:r>
              <a:rPr b="0" i="0" lang="en" sz="800" u="none" cap="none" strike="noStrike">
                <a:solidFill>
                  <a:srgbClr val="94A3B8"/>
                </a:solidFill>
                <a:latin typeface="Outfit"/>
                <a:ea typeface="Outfit"/>
                <a:cs typeface="Outfit"/>
                <a:sym typeface="Outfit"/>
              </a:rPr>
              <a:t>671B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1" name="Google Shape;631;p50"/>
          <p:cNvSpPr/>
          <p:nvPr/>
        </p:nvSpPr>
        <p:spPr>
          <a:xfrm>
            <a:off x="7635195" y="3166520"/>
            <a:ext cx="10059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900"/>
              <a:buFont typeface="Outfit"/>
              <a:buNone/>
            </a:pPr>
            <a:r>
              <a:rPr b="0" i="0" lang="en" sz="9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2025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2" name="Google Shape;632;p50"/>
          <p:cNvSpPr/>
          <p:nvPr/>
        </p:nvSpPr>
        <p:spPr>
          <a:xfrm>
            <a:off x="8064963" y="3440840"/>
            <a:ext cx="18300" cy="915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3" name="Google Shape;633;p50"/>
          <p:cNvSpPr txBox="1"/>
          <p:nvPr>
            <p:ph idx="1" type="body"/>
          </p:nvPr>
        </p:nvSpPr>
        <p:spPr>
          <a:xfrm>
            <a:off x="311700" y="1129580"/>
            <a:ext cx="8520600" cy="12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"/>
              <a:t>Every 1–2 years, a new approach dominates</a:t>
            </a:r>
            <a:endParaRPr/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"/>
              <a:t>Bigger models, better data, smarter training</a:t>
            </a:r>
            <a:endParaRPr/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"/>
              <a:t>Thursday's papers span this entire timeline</a:t>
            </a:r>
            <a:endParaRPr/>
          </a:p>
        </p:txBody>
      </p:sp>
      <p:sp>
        <p:nvSpPr>
          <p:cNvPr id="634" name="Google Shape;634;p50"/>
          <p:cNvSpPr txBox="1"/>
          <p:nvPr>
            <p:ph type="title"/>
          </p:nvPr>
        </p:nvSpPr>
        <p:spPr>
          <a:xfrm>
            <a:off x="311700" y="228600"/>
            <a:ext cx="8520600" cy="61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model landscape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9" name="Shape 6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0" name="Google Shape;640;p51"/>
          <p:cNvSpPr txBox="1"/>
          <p:nvPr>
            <p:ph type="title"/>
          </p:nvPr>
        </p:nvSpPr>
        <p:spPr>
          <a:xfrm>
            <a:off x="914400" y="1737360"/>
            <a:ext cx="76809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Georgia"/>
              <a:buNone/>
            </a:pPr>
            <a:r>
              <a:rPr b="1" lang="en" sz="3200">
                <a:solidFill>
                  <a:srgbClr val="FFFFFF"/>
                </a:solidFill>
              </a:rPr>
              <a:t>Vision meets language</a:t>
            </a:r>
            <a:endParaRPr b="1" sz="3200">
              <a:solidFill>
                <a:srgbClr val="FFFFFF"/>
              </a:solidFill>
            </a:endParaRPr>
          </a:p>
        </p:txBody>
      </p:sp>
      <p:sp>
        <p:nvSpPr>
          <p:cNvPr id="641" name="Google Shape;641;p51"/>
          <p:cNvSpPr txBox="1"/>
          <p:nvPr>
            <p:ph idx="1" type="body"/>
          </p:nvPr>
        </p:nvSpPr>
        <p:spPr>
          <a:xfrm>
            <a:off x="914400" y="2743200"/>
            <a:ext cx="7680900" cy="1097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rgbClr val="94A3B8"/>
              </a:buClr>
              <a:buSzPts val="1600"/>
              <a:buNone/>
            </a:pPr>
            <a:r>
              <a:rPr lang="en" sz="1600">
                <a:solidFill>
                  <a:srgbClr val="4F46E5"/>
                </a:solidFill>
              </a:rPr>
              <a:t>Are representations converging across modalities?</a:t>
            </a:r>
            <a:endParaRPr sz="1600">
              <a:solidFill>
                <a:srgbClr val="4F46E5"/>
              </a:solidFill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46" name="Shape 6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7" name="Google Shape;647;p52"/>
          <p:cNvSpPr txBox="1"/>
          <p:nvPr>
            <p:ph type="title"/>
          </p:nvPr>
        </p:nvSpPr>
        <p:spPr>
          <a:xfrm>
            <a:off x="311700" y="228600"/>
            <a:ext cx="8520600" cy="61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Platonic representation hypothesis</a:t>
            </a:r>
            <a:endParaRPr/>
          </a:p>
        </p:txBody>
      </p:sp>
      <p:sp>
        <p:nvSpPr>
          <p:cNvPr id="648" name="Google Shape;648;p52"/>
          <p:cNvSpPr txBox="1"/>
          <p:nvPr>
            <p:ph idx="2" type="subTitle"/>
          </p:nvPr>
        </p:nvSpPr>
        <p:spPr>
          <a:xfrm>
            <a:off x="-3870" y="4726261"/>
            <a:ext cx="4046100" cy="411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Huh et al </a:t>
            </a:r>
            <a:r>
              <a:rPr b="1" lang="en">
                <a:latin typeface="Zilla Slab"/>
                <a:ea typeface="Zilla Slab"/>
                <a:cs typeface="Zilla Slab"/>
                <a:sym typeface="Zilla Slab"/>
              </a:rPr>
              <a:t>ICML 2024</a:t>
            </a:r>
            <a:endParaRPr b="1">
              <a:latin typeface="Zilla Slab"/>
              <a:ea typeface="Zilla Slab"/>
              <a:cs typeface="Zilla Slab"/>
              <a:sym typeface="Zilla Slab"/>
            </a:endParaRPr>
          </a:p>
        </p:txBody>
      </p:sp>
      <p:pic>
        <p:nvPicPr>
          <p:cNvPr id="649" name="Google Shape;649;p5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93974" y="1000575"/>
            <a:ext cx="3317874" cy="3655299"/>
          </a:xfrm>
          <a:prstGeom prst="rect">
            <a:avLst/>
          </a:prstGeom>
          <a:noFill/>
          <a:ln>
            <a:noFill/>
          </a:ln>
        </p:spPr>
      </p:pic>
      <p:sp>
        <p:nvSpPr>
          <p:cNvPr id="650" name="Google Shape;650;p52"/>
          <p:cNvSpPr/>
          <p:nvPr/>
        </p:nvSpPr>
        <p:spPr>
          <a:xfrm>
            <a:off x="4650175" y="1302175"/>
            <a:ext cx="32469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46E5"/>
              </a:buClr>
              <a:buSzPts val="1500"/>
              <a:buFont typeface="Outfit"/>
              <a:buNone/>
            </a:pPr>
            <a:r>
              <a:rPr b="1" i="0" lang="en" sz="1500" u="none" cap="none" strike="noStrike">
                <a:solidFill>
                  <a:srgbClr val="4F46E5"/>
                </a:solidFill>
                <a:latin typeface="Outfit"/>
                <a:ea typeface="Outfit"/>
                <a:cs typeface="Outfit"/>
                <a:sym typeface="Outfit"/>
              </a:rPr>
              <a:t>A bold claim: </a:t>
            </a:r>
            <a:r>
              <a:rPr b="0" i="0" lang="en" sz="15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as models get bigger, their representations are converging — regardless of architecture, objective, or modality.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55" name="Shape 6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6" name="Google Shape;656;p53"/>
          <p:cNvSpPr txBox="1"/>
          <p:nvPr>
            <p:ph type="title"/>
          </p:nvPr>
        </p:nvSpPr>
        <p:spPr>
          <a:xfrm>
            <a:off x="311700" y="228600"/>
            <a:ext cx="8520600" cy="61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Platonic representation hypothesis</a:t>
            </a:r>
            <a:endParaRPr/>
          </a:p>
        </p:txBody>
      </p:sp>
      <p:sp>
        <p:nvSpPr>
          <p:cNvPr id="657" name="Google Shape;657;p53"/>
          <p:cNvSpPr txBox="1"/>
          <p:nvPr>
            <p:ph idx="2" type="subTitle"/>
          </p:nvPr>
        </p:nvSpPr>
        <p:spPr>
          <a:xfrm>
            <a:off x="-3870" y="4726261"/>
            <a:ext cx="4046100" cy="411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Huh et al </a:t>
            </a:r>
            <a:r>
              <a:rPr b="1" lang="en">
                <a:latin typeface="Zilla Slab"/>
                <a:ea typeface="Zilla Slab"/>
                <a:cs typeface="Zilla Slab"/>
                <a:sym typeface="Zilla Slab"/>
              </a:rPr>
              <a:t>ICML 2024</a:t>
            </a:r>
            <a:endParaRPr b="1">
              <a:latin typeface="Zilla Slab"/>
              <a:ea typeface="Zilla Slab"/>
              <a:cs typeface="Zilla Slab"/>
              <a:sym typeface="Zilla Slab"/>
            </a:endParaRPr>
          </a:p>
        </p:txBody>
      </p:sp>
      <p:pic>
        <p:nvPicPr>
          <p:cNvPr id="658" name="Google Shape;658;p5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550" y="1602478"/>
            <a:ext cx="9144003" cy="246459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63" name="Shape 6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4" name="Google Shape;664;p54"/>
          <p:cNvSpPr/>
          <p:nvPr/>
        </p:nvSpPr>
        <p:spPr>
          <a:xfrm>
            <a:off x="640080" y="868680"/>
            <a:ext cx="78639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500"/>
              <a:buFont typeface="Outfit"/>
              <a:buNone/>
            </a:pPr>
            <a:r>
              <a:rPr b="0" i="0" lang="en" sz="15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Architecture: connect a pretrained vision encoder to a pretrained language model: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5" name="Google Shape;665;p54"/>
          <p:cNvSpPr/>
          <p:nvPr/>
        </p:nvSpPr>
        <p:spPr>
          <a:xfrm>
            <a:off x="592075" y="1464007"/>
            <a:ext cx="1188600" cy="1434300"/>
          </a:xfrm>
          <a:prstGeom prst="rect">
            <a:avLst/>
          </a:prstGeom>
          <a:solidFill>
            <a:srgbClr val="F8FAFC"/>
          </a:solidFill>
          <a:ln cap="flat" cmpd="sng" w="19050">
            <a:solidFill>
              <a:srgbClr val="4755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6" name="Google Shape;666;p54"/>
          <p:cNvSpPr/>
          <p:nvPr/>
        </p:nvSpPr>
        <p:spPr>
          <a:xfrm>
            <a:off x="592085" y="1509727"/>
            <a:ext cx="1188600" cy="59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200"/>
              <a:buFont typeface="Outfit"/>
              <a:buNone/>
            </a:pPr>
            <a:r>
              <a:rPr b="1" i="0" lang="en" sz="12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📷 Image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200"/>
              <a:buFont typeface="Outfit"/>
              <a:buNone/>
            </a:pPr>
            <a:r>
              <a:rPr b="1" i="0" lang="en" sz="12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Input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7" name="Google Shape;667;p54"/>
          <p:cNvSpPr/>
          <p:nvPr/>
        </p:nvSpPr>
        <p:spPr>
          <a:xfrm>
            <a:off x="637800" y="2195530"/>
            <a:ext cx="10974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Outfit"/>
              <a:buNone/>
            </a:pPr>
            <a:r>
              <a:rPr b="0" i="0" lang="en" sz="10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A photo, diagram,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Outfit"/>
              <a:buNone/>
            </a:pPr>
            <a:r>
              <a:rPr b="0" i="0" lang="en" sz="10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or screenshot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8" name="Google Shape;668;p54"/>
          <p:cNvSpPr/>
          <p:nvPr/>
        </p:nvSpPr>
        <p:spPr>
          <a:xfrm>
            <a:off x="1643645" y="2104087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800"/>
              <a:buFont typeface="Outfit"/>
              <a:buNone/>
            </a:pPr>
            <a:r>
              <a:rPr b="0" i="0" lang="en" sz="1800" u="none" cap="none" strike="noStrike">
                <a:solidFill>
                  <a:srgbClr val="94A3B8"/>
                </a:solidFill>
                <a:latin typeface="Outfit"/>
                <a:ea typeface="Outfit"/>
                <a:cs typeface="Outfit"/>
                <a:sym typeface="Outfit"/>
              </a:rPr>
              <a:t>→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9" name="Google Shape;669;p54"/>
          <p:cNvSpPr/>
          <p:nvPr/>
        </p:nvSpPr>
        <p:spPr>
          <a:xfrm>
            <a:off x="2009399" y="1464007"/>
            <a:ext cx="1554600" cy="1434300"/>
          </a:xfrm>
          <a:prstGeom prst="rect">
            <a:avLst/>
          </a:prstGeom>
          <a:solidFill>
            <a:srgbClr val="EEF2FF"/>
          </a:solidFill>
          <a:ln cap="flat" cmpd="sng" w="19050">
            <a:solidFill>
              <a:srgbClr val="4F46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0" name="Google Shape;670;p54"/>
          <p:cNvSpPr/>
          <p:nvPr/>
        </p:nvSpPr>
        <p:spPr>
          <a:xfrm>
            <a:off x="2009405" y="1509727"/>
            <a:ext cx="1554600" cy="59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F46E5"/>
              </a:buClr>
              <a:buSzPts val="1200"/>
              <a:buFont typeface="Outfit"/>
              <a:buNone/>
            </a:pPr>
            <a:r>
              <a:rPr b="1" i="0" lang="en" sz="1200" u="none" cap="none" strike="noStrike">
                <a:solidFill>
                  <a:srgbClr val="4F46E5"/>
                </a:solidFill>
                <a:latin typeface="Outfit"/>
                <a:ea typeface="Outfit"/>
                <a:cs typeface="Outfit"/>
                <a:sym typeface="Outfit"/>
              </a:rPr>
              <a:t>CLIP Vision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F46E5"/>
              </a:buClr>
              <a:buSzPts val="1200"/>
              <a:buFont typeface="Outfit"/>
              <a:buNone/>
            </a:pPr>
            <a:r>
              <a:rPr b="1" i="0" lang="en" sz="1200" u="none" cap="none" strike="noStrike">
                <a:solidFill>
                  <a:srgbClr val="4F46E5"/>
                </a:solidFill>
                <a:latin typeface="Outfit"/>
                <a:ea typeface="Outfit"/>
                <a:cs typeface="Outfit"/>
                <a:sym typeface="Outfit"/>
              </a:rPr>
              <a:t>Encoder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1" name="Google Shape;671;p54"/>
          <p:cNvSpPr/>
          <p:nvPr/>
        </p:nvSpPr>
        <p:spPr>
          <a:xfrm>
            <a:off x="2055120" y="2195530"/>
            <a:ext cx="14631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Outfit"/>
              <a:buNone/>
            </a:pPr>
            <a:r>
              <a:rPr b="0" i="0" lang="en" sz="10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Converts image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Outfit"/>
              <a:buNone/>
            </a:pPr>
            <a:r>
              <a:rPr b="0" i="0" lang="en" sz="10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to 576 visual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Outfit"/>
              <a:buNone/>
            </a:pPr>
            <a:r>
              <a:rPr b="0" i="0" lang="en" sz="10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tokens (vectors)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2" name="Google Shape;672;p54"/>
          <p:cNvSpPr/>
          <p:nvPr/>
        </p:nvSpPr>
        <p:spPr>
          <a:xfrm>
            <a:off x="3426725" y="2104087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800"/>
              <a:buFont typeface="Outfit"/>
              <a:buNone/>
            </a:pPr>
            <a:r>
              <a:rPr b="0" i="0" lang="en" sz="1800" u="none" cap="none" strike="noStrike">
                <a:solidFill>
                  <a:srgbClr val="94A3B8"/>
                </a:solidFill>
                <a:latin typeface="Outfit"/>
                <a:ea typeface="Outfit"/>
                <a:cs typeface="Outfit"/>
                <a:sym typeface="Outfit"/>
              </a:rPr>
              <a:t>→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3" name="Google Shape;673;p54"/>
          <p:cNvSpPr/>
          <p:nvPr/>
        </p:nvSpPr>
        <p:spPr>
          <a:xfrm>
            <a:off x="3792483" y="1464007"/>
            <a:ext cx="1371600" cy="1434300"/>
          </a:xfrm>
          <a:prstGeom prst="rect">
            <a:avLst/>
          </a:prstGeom>
          <a:solidFill>
            <a:srgbClr val="FFFBEB"/>
          </a:solidFill>
          <a:ln cap="flat" cmpd="sng" w="19050">
            <a:solidFill>
              <a:srgbClr val="D977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4" name="Google Shape;674;p54"/>
          <p:cNvSpPr/>
          <p:nvPr/>
        </p:nvSpPr>
        <p:spPr>
          <a:xfrm>
            <a:off x="3792485" y="1509727"/>
            <a:ext cx="1371600" cy="59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97706"/>
              </a:buClr>
              <a:buSzPts val="1200"/>
              <a:buFont typeface="Outfit"/>
              <a:buNone/>
            </a:pPr>
            <a:r>
              <a:rPr b="1" i="0" lang="en" sz="1200" u="none" cap="none" strike="noStrike">
                <a:solidFill>
                  <a:srgbClr val="D97706"/>
                </a:solidFill>
                <a:latin typeface="Outfit"/>
                <a:ea typeface="Outfit"/>
                <a:cs typeface="Outfit"/>
                <a:sym typeface="Outfit"/>
              </a:rPr>
              <a:t>Linear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97706"/>
              </a:buClr>
              <a:buSzPts val="1200"/>
              <a:buFont typeface="Outfit"/>
              <a:buNone/>
            </a:pPr>
            <a:r>
              <a:rPr b="1" i="0" lang="en" sz="1200" u="none" cap="none" strike="noStrike">
                <a:solidFill>
                  <a:srgbClr val="D97706"/>
                </a:solidFill>
                <a:latin typeface="Outfit"/>
                <a:ea typeface="Outfit"/>
                <a:cs typeface="Outfit"/>
                <a:sym typeface="Outfit"/>
              </a:rPr>
              <a:t>Projection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5" name="Google Shape;675;p54"/>
          <p:cNvSpPr/>
          <p:nvPr/>
        </p:nvSpPr>
        <p:spPr>
          <a:xfrm>
            <a:off x="3838198" y="2195530"/>
            <a:ext cx="12801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Outfit"/>
              <a:buNone/>
            </a:pPr>
            <a:r>
              <a:rPr b="0" i="0" lang="en" sz="10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Maps visual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Outfit"/>
              <a:buNone/>
            </a:pPr>
            <a:r>
              <a:rPr b="0" i="0" lang="en" sz="10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tokens into the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Outfit"/>
              <a:buNone/>
            </a:pPr>
            <a:r>
              <a:rPr b="0" i="0" lang="en" sz="10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LLM's space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6" name="Google Shape;676;p54"/>
          <p:cNvSpPr/>
          <p:nvPr/>
        </p:nvSpPr>
        <p:spPr>
          <a:xfrm>
            <a:off x="5026925" y="2104087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800"/>
              <a:buFont typeface="Outfit"/>
              <a:buNone/>
            </a:pPr>
            <a:r>
              <a:rPr b="0" i="0" lang="en" sz="1800" u="none" cap="none" strike="noStrike">
                <a:solidFill>
                  <a:srgbClr val="94A3B8"/>
                </a:solidFill>
                <a:latin typeface="Outfit"/>
                <a:ea typeface="Outfit"/>
                <a:cs typeface="Outfit"/>
                <a:sym typeface="Outfit"/>
              </a:rPr>
              <a:t>→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7" name="Google Shape;677;p54"/>
          <p:cNvSpPr/>
          <p:nvPr/>
        </p:nvSpPr>
        <p:spPr>
          <a:xfrm>
            <a:off x="5392688" y="1464007"/>
            <a:ext cx="1554600" cy="1434300"/>
          </a:xfrm>
          <a:prstGeom prst="rect">
            <a:avLst/>
          </a:prstGeom>
          <a:solidFill>
            <a:srgbClr val="F5F3FF"/>
          </a:solidFill>
          <a:ln cap="flat" cmpd="sng" w="19050">
            <a:solidFill>
              <a:srgbClr val="7C3AE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8" name="Google Shape;678;p54"/>
          <p:cNvSpPr/>
          <p:nvPr/>
        </p:nvSpPr>
        <p:spPr>
          <a:xfrm>
            <a:off x="5392685" y="1509727"/>
            <a:ext cx="1554600" cy="59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C3AED"/>
              </a:buClr>
              <a:buSzPts val="1200"/>
              <a:buFont typeface="Outfit"/>
              <a:buNone/>
            </a:pPr>
            <a:r>
              <a:rPr b="1" i="0" lang="en" sz="1200" u="none" cap="none" strike="noStrike">
                <a:solidFill>
                  <a:srgbClr val="7C3AED"/>
                </a:solidFill>
                <a:latin typeface="Outfit"/>
                <a:ea typeface="Outfit"/>
                <a:cs typeface="Outfit"/>
                <a:sym typeface="Outfit"/>
              </a:rPr>
              <a:t>LLM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C3AED"/>
              </a:buClr>
              <a:buSzPts val="1200"/>
              <a:buFont typeface="Outfit"/>
              <a:buNone/>
            </a:pPr>
            <a:r>
              <a:rPr b="1" i="0" lang="en" sz="1200" u="none" cap="none" strike="noStrike">
                <a:solidFill>
                  <a:srgbClr val="7C3AED"/>
                </a:solidFill>
                <a:latin typeface="Outfit"/>
                <a:ea typeface="Outfit"/>
                <a:cs typeface="Outfit"/>
                <a:sym typeface="Outfit"/>
              </a:rPr>
              <a:t>(Vicuna)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9" name="Google Shape;679;p54"/>
          <p:cNvSpPr/>
          <p:nvPr/>
        </p:nvSpPr>
        <p:spPr>
          <a:xfrm>
            <a:off x="5438397" y="2195530"/>
            <a:ext cx="14631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Outfit"/>
              <a:buNone/>
            </a:pPr>
            <a:r>
              <a:rPr b="0" i="0" lang="en" sz="10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Processes visual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Outfit"/>
              <a:buNone/>
            </a:pPr>
            <a:r>
              <a:rPr b="0" i="0" lang="en" sz="10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+ text tokens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Outfit"/>
              <a:buNone/>
            </a:pPr>
            <a:r>
              <a:rPr b="0" i="0" lang="en" sz="10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together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0" name="Google Shape;680;p54"/>
          <p:cNvSpPr/>
          <p:nvPr/>
        </p:nvSpPr>
        <p:spPr>
          <a:xfrm>
            <a:off x="6810005" y="2104087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800"/>
              <a:buFont typeface="Outfit"/>
              <a:buNone/>
            </a:pPr>
            <a:r>
              <a:rPr b="0" i="0" lang="en" sz="1800" u="none" cap="none" strike="noStrike">
                <a:solidFill>
                  <a:srgbClr val="94A3B8"/>
                </a:solidFill>
                <a:latin typeface="Outfit"/>
                <a:ea typeface="Outfit"/>
                <a:cs typeface="Outfit"/>
                <a:sym typeface="Outfit"/>
              </a:rPr>
              <a:t>→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1" name="Google Shape;681;p54"/>
          <p:cNvSpPr/>
          <p:nvPr/>
        </p:nvSpPr>
        <p:spPr>
          <a:xfrm>
            <a:off x="7175772" y="1464007"/>
            <a:ext cx="1371600" cy="1434300"/>
          </a:xfrm>
          <a:prstGeom prst="rect">
            <a:avLst/>
          </a:prstGeom>
          <a:solidFill>
            <a:srgbClr val="ECFEFF"/>
          </a:solidFill>
          <a:ln cap="flat" cmpd="sng" w="19050">
            <a:solidFill>
              <a:srgbClr val="0891B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2" name="Google Shape;682;p54"/>
          <p:cNvSpPr/>
          <p:nvPr/>
        </p:nvSpPr>
        <p:spPr>
          <a:xfrm>
            <a:off x="7175765" y="1509727"/>
            <a:ext cx="1371600" cy="59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891B2"/>
              </a:buClr>
              <a:buSzPts val="1200"/>
              <a:buFont typeface="Outfit"/>
              <a:buNone/>
            </a:pPr>
            <a:r>
              <a:rPr b="1" i="0" lang="en" sz="1200" u="none" cap="none" strike="noStrike">
                <a:solidFill>
                  <a:srgbClr val="0891B2"/>
                </a:solidFill>
                <a:latin typeface="Outfit"/>
                <a:ea typeface="Outfit"/>
                <a:cs typeface="Outfit"/>
                <a:sym typeface="Outfit"/>
              </a:rPr>
              <a:t>💬 Text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891B2"/>
              </a:buClr>
              <a:buSzPts val="1200"/>
              <a:buFont typeface="Outfit"/>
              <a:buNone/>
            </a:pPr>
            <a:r>
              <a:rPr b="1" i="0" lang="en" sz="1200" u="none" cap="none" strike="noStrike">
                <a:solidFill>
                  <a:srgbClr val="0891B2"/>
                </a:solidFill>
                <a:latin typeface="Outfit"/>
                <a:ea typeface="Outfit"/>
                <a:cs typeface="Outfit"/>
                <a:sym typeface="Outfit"/>
              </a:rPr>
              <a:t>Output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3" name="Google Shape;683;p54"/>
          <p:cNvSpPr/>
          <p:nvPr/>
        </p:nvSpPr>
        <p:spPr>
          <a:xfrm>
            <a:off x="7221476" y="2195530"/>
            <a:ext cx="12801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Outfit"/>
              <a:buNone/>
            </a:pPr>
            <a:r>
              <a:rPr b="0" i="0" lang="en" sz="10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"This is a photo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Outfit"/>
              <a:buNone/>
            </a:pPr>
            <a:r>
              <a:rPr b="0" i="0" lang="en" sz="10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of a sunset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Outfit"/>
              <a:buNone/>
            </a:pPr>
            <a:r>
              <a:rPr b="0" i="0" lang="en" sz="10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over the ocean"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4" name="Google Shape;684;p54"/>
          <p:cNvSpPr txBox="1"/>
          <p:nvPr>
            <p:ph type="title"/>
          </p:nvPr>
        </p:nvSpPr>
        <p:spPr>
          <a:xfrm>
            <a:off x="311700" y="228600"/>
            <a:ext cx="8520600" cy="61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LLaVA bridges vision and language</a:t>
            </a:r>
            <a:endParaRPr/>
          </a:p>
        </p:txBody>
      </p:sp>
      <p:sp>
        <p:nvSpPr>
          <p:cNvPr id="685" name="Google Shape;685;p54"/>
          <p:cNvSpPr txBox="1"/>
          <p:nvPr>
            <p:ph idx="2" type="subTitle"/>
          </p:nvPr>
        </p:nvSpPr>
        <p:spPr>
          <a:xfrm>
            <a:off x="-3870" y="4726261"/>
            <a:ext cx="4046100" cy="411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Liu et al </a:t>
            </a:r>
            <a:r>
              <a:rPr b="1" lang="en">
                <a:latin typeface="Zilla Slab"/>
                <a:ea typeface="Zilla Slab"/>
                <a:cs typeface="Zilla Slab"/>
                <a:sym typeface="Zilla Slab"/>
              </a:rPr>
              <a:t>NeurIPS 2023</a:t>
            </a:r>
            <a:endParaRPr b="1">
              <a:latin typeface="Zilla Slab"/>
              <a:ea typeface="Zilla Slab"/>
              <a:cs typeface="Zilla Slab"/>
              <a:sym typeface="Zilla Slab"/>
            </a:endParaRPr>
          </a:p>
        </p:txBody>
      </p:sp>
      <p:sp>
        <p:nvSpPr>
          <p:cNvPr id="686" name="Google Shape;686;p54"/>
          <p:cNvSpPr txBox="1"/>
          <p:nvPr>
            <p:ph idx="1" type="body"/>
          </p:nvPr>
        </p:nvSpPr>
        <p:spPr>
          <a:xfrm>
            <a:off x="311700" y="3015151"/>
            <a:ext cx="8520600" cy="169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gets trained:</a:t>
            </a:r>
            <a:endParaRPr/>
          </a:p>
          <a:p>
            <a:pPr indent="-368300" lvl="0" marL="457200" rtl="0" algn="l">
              <a:spcBef>
                <a:spcPts val="1200"/>
              </a:spcBef>
              <a:spcAft>
                <a:spcPts val="0"/>
              </a:spcAft>
              <a:buSzPts val="2200"/>
              <a:buChar char="●"/>
            </a:pPr>
            <a:r>
              <a:rPr lang="en"/>
              <a:t>Only the projection layer + LLM fine-tuning</a:t>
            </a:r>
            <a:endParaRPr/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"/>
              <a:t>CLIP encoder stays frozen </a:t>
            </a:r>
            <a:endParaRPr/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"/>
              <a:t>158K visual instruction examples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91" name="Shape 6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2" name="Google Shape;692;p55"/>
          <p:cNvSpPr/>
          <p:nvPr/>
        </p:nvSpPr>
        <p:spPr>
          <a:xfrm>
            <a:off x="182875" y="1005850"/>
            <a:ext cx="2011800" cy="2547900"/>
          </a:xfrm>
          <a:prstGeom prst="rect">
            <a:avLst/>
          </a:prstGeom>
          <a:solidFill>
            <a:srgbClr val="F8FAFC"/>
          </a:solidFill>
          <a:ln cap="flat" cmpd="sng" w="12700">
            <a:solidFill>
              <a:srgbClr val="4F46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3" name="Google Shape;693;p55"/>
          <p:cNvSpPr/>
          <p:nvPr/>
        </p:nvSpPr>
        <p:spPr>
          <a:xfrm>
            <a:off x="182880" y="1051560"/>
            <a:ext cx="20118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F46E5"/>
              </a:buClr>
              <a:buSzPts val="1200"/>
              <a:buFont typeface="Outfit"/>
              <a:buNone/>
            </a:pPr>
            <a:r>
              <a:rPr b="1" i="0" lang="en" sz="1200" u="none" cap="none" strike="noStrike">
                <a:solidFill>
                  <a:srgbClr val="4F46E5"/>
                </a:solidFill>
                <a:latin typeface="Outfit"/>
                <a:ea typeface="Outfit"/>
                <a:cs typeface="Outfit"/>
                <a:sym typeface="Outfit"/>
              </a:rPr>
              <a:t>Visual Q&amp;A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4" name="Google Shape;694;p55"/>
          <p:cNvSpPr/>
          <p:nvPr/>
        </p:nvSpPr>
        <p:spPr>
          <a:xfrm>
            <a:off x="320040" y="1508760"/>
            <a:ext cx="17373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Outfit"/>
              <a:buNone/>
            </a:pPr>
            <a:r>
              <a:rPr b="0" i="1" lang="en" sz="10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"What breed of dog is this?"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5" name="Google Shape;695;p55"/>
          <p:cNvSpPr/>
          <p:nvPr/>
        </p:nvSpPr>
        <p:spPr>
          <a:xfrm>
            <a:off x="1005840" y="2194560"/>
            <a:ext cx="365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F46E5"/>
              </a:buClr>
              <a:buSzPts val="1400"/>
              <a:buFont typeface="Outfit"/>
              <a:buNone/>
            </a:pPr>
            <a:r>
              <a:rPr b="0" i="0" lang="en" sz="1400" u="none" cap="none" strike="noStrike">
                <a:solidFill>
                  <a:srgbClr val="4F46E5"/>
                </a:solidFill>
                <a:latin typeface="Outfit"/>
                <a:ea typeface="Outfit"/>
                <a:cs typeface="Outfit"/>
                <a:sym typeface="Outfit"/>
              </a:rPr>
              <a:t>↓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6" name="Google Shape;696;p55"/>
          <p:cNvSpPr/>
          <p:nvPr/>
        </p:nvSpPr>
        <p:spPr>
          <a:xfrm>
            <a:off x="320040" y="2560320"/>
            <a:ext cx="17373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Outfit"/>
              <a:buNone/>
            </a:pPr>
            <a:r>
              <a:rPr b="0" i="0" lang="en" sz="10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"This appears to be a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Outfit"/>
              <a:buNone/>
            </a:pPr>
            <a:r>
              <a:rPr b="0" i="0" lang="en" sz="10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Golden Retriever puppy,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Outfit"/>
              <a:buNone/>
            </a:pPr>
            <a:r>
              <a:rPr b="0" i="0" lang="en" sz="10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about 3 months old."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7" name="Google Shape;697;p55"/>
          <p:cNvSpPr/>
          <p:nvPr/>
        </p:nvSpPr>
        <p:spPr>
          <a:xfrm>
            <a:off x="2286000" y="1005850"/>
            <a:ext cx="2011800" cy="2547900"/>
          </a:xfrm>
          <a:prstGeom prst="rect">
            <a:avLst/>
          </a:prstGeom>
          <a:solidFill>
            <a:srgbClr val="F8FAFC"/>
          </a:solidFill>
          <a:ln cap="flat" cmpd="sng" w="12700">
            <a:solidFill>
              <a:srgbClr val="0891B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8" name="Google Shape;698;p55"/>
          <p:cNvSpPr/>
          <p:nvPr/>
        </p:nvSpPr>
        <p:spPr>
          <a:xfrm>
            <a:off x="2286000" y="1051560"/>
            <a:ext cx="20118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891B2"/>
              </a:buClr>
              <a:buSzPts val="1200"/>
              <a:buFont typeface="Outfit"/>
              <a:buNone/>
            </a:pPr>
            <a:r>
              <a:rPr b="1" i="0" lang="en" sz="1200" u="none" cap="none" strike="noStrike">
                <a:solidFill>
                  <a:srgbClr val="0891B2"/>
                </a:solidFill>
                <a:latin typeface="Outfit"/>
                <a:ea typeface="Outfit"/>
                <a:cs typeface="Outfit"/>
                <a:sym typeface="Outfit"/>
              </a:rPr>
              <a:t>Image reasoning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9" name="Google Shape;699;p55"/>
          <p:cNvSpPr/>
          <p:nvPr/>
        </p:nvSpPr>
        <p:spPr>
          <a:xfrm>
            <a:off x="2423160" y="1508760"/>
            <a:ext cx="17373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Outfit"/>
              <a:buNone/>
            </a:pPr>
            <a:r>
              <a:rPr b="0" i="1" lang="en" sz="10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"What's unusual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Outfit"/>
              <a:buNone/>
            </a:pPr>
            <a:r>
              <a:rPr b="0" i="1" lang="en" sz="10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about this image?"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0" name="Google Shape;700;p55"/>
          <p:cNvSpPr/>
          <p:nvPr/>
        </p:nvSpPr>
        <p:spPr>
          <a:xfrm>
            <a:off x="3108960" y="2194560"/>
            <a:ext cx="365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891B2"/>
              </a:buClr>
              <a:buSzPts val="1400"/>
              <a:buFont typeface="Outfit"/>
              <a:buNone/>
            </a:pPr>
            <a:r>
              <a:rPr b="0" i="0" lang="en" sz="1400" u="none" cap="none" strike="noStrike">
                <a:solidFill>
                  <a:srgbClr val="0891B2"/>
                </a:solidFill>
                <a:latin typeface="Outfit"/>
                <a:ea typeface="Outfit"/>
                <a:cs typeface="Outfit"/>
                <a:sym typeface="Outfit"/>
              </a:rPr>
              <a:t>↓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1" name="Google Shape;701;p55"/>
          <p:cNvSpPr/>
          <p:nvPr/>
        </p:nvSpPr>
        <p:spPr>
          <a:xfrm>
            <a:off x="2423160" y="2560320"/>
            <a:ext cx="17373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Outfit"/>
              <a:buNone/>
            </a:pPr>
            <a:r>
              <a:rPr b="0" i="0" lang="en" sz="10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"The traffic light is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Outfit"/>
              <a:buNone/>
            </a:pPr>
            <a:r>
              <a:rPr b="0" i="0" lang="en" sz="10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upside down — green is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Outfit"/>
              <a:buNone/>
            </a:pPr>
            <a:r>
              <a:rPr b="0" i="0" lang="en" sz="10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on top instead of red."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2" name="Google Shape;702;p55"/>
          <p:cNvSpPr/>
          <p:nvPr/>
        </p:nvSpPr>
        <p:spPr>
          <a:xfrm>
            <a:off x="4389124" y="1005850"/>
            <a:ext cx="2011800" cy="2547900"/>
          </a:xfrm>
          <a:prstGeom prst="rect">
            <a:avLst/>
          </a:prstGeom>
          <a:solidFill>
            <a:srgbClr val="F8FAFC"/>
          </a:solidFill>
          <a:ln cap="flat" cmpd="sng" w="12700">
            <a:solidFill>
              <a:srgbClr val="D977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3" name="Google Shape;703;p55"/>
          <p:cNvSpPr/>
          <p:nvPr/>
        </p:nvSpPr>
        <p:spPr>
          <a:xfrm>
            <a:off x="4389120" y="1051560"/>
            <a:ext cx="20118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97706"/>
              </a:buClr>
              <a:buSzPts val="1200"/>
              <a:buFont typeface="Outfit"/>
              <a:buNone/>
            </a:pPr>
            <a:r>
              <a:rPr b="1" i="0" lang="en" sz="1200" u="none" cap="none" strike="noStrike">
                <a:solidFill>
                  <a:srgbClr val="D97706"/>
                </a:solidFill>
                <a:latin typeface="Outfit"/>
                <a:ea typeface="Outfit"/>
                <a:cs typeface="Outfit"/>
                <a:sym typeface="Outfit"/>
              </a:rPr>
              <a:t>Chart understanding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4" name="Google Shape;704;p55"/>
          <p:cNvSpPr/>
          <p:nvPr/>
        </p:nvSpPr>
        <p:spPr>
          <a:xfrm>
            <a:off x="4526280" y="1508760"/>
            <a:ext cx="17373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Outfit"/>
              <a:buNone/>
            </a:pPr>
            <a:r>
              <a:rPr b="0" i="1" lang="en" sz="10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"Summarize the trend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Outfit"/>
              <a:buNone/>
            </a:pPr>
            <a:r>
              <a:rPr b="0" i="1" lang="en" sz="10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in this graph."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5" name="Google Shape;705;p55"/>
          <p:cNvSpPr/>
          <p:nvPr/>
        </p:nvSpPr>
        <p:spPr>
          <a:xfrm>
            <a:off x="5212080" y="2194560"/>
            <a:ext cx="365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97706"/>
              </a:buClr>
              <a:buSzPts val="1400"/>
              <a:buFont typeface="Outfit"/>
              <a:buNone/>
            </a:pPr>
            <a:r>
              <a:rPr b="0" i="0" lang="en" sz="1400" u="none" cap="none" strike="noStrike">
                <a:solidFill>
                  <a:srgbClr val="D97706"/>
                </a:solidFill>
                <a:latin typeface="Outfit"/>
                <a:ea typeface="Outfit"/>
                <a:cs typeface="Outfit"/>
                <a:sym typeface="Outfit"/>
              </a:rPr>
              <a:t>↓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6" name="Google Shape;706;p55"/>
          <p:cNvSpPr/>
          <p:nvPr/>
        </p:nvSpPr>
        <p:spPr>
          <a:xfrm>
            <a:off x="4526280" y="2560320"/>
            <a:ext cx="17373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Outfit"/>
              <a:buNone/>
            </a:pPr>
            <a:r>
              <a:rPr b="0" i="0" lang="en" sz="10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"Revenue grew 20% YoY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Outfit"/>
              <a:buNone/>
            </a:pPr>
            <a:r>
              <a:rPr b="0" i="0" lang="en" sz="10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from 2020–2023, with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Outfit"/>
              <a:buNone/>
            </a:pPr>
            <a:r>
              <a:rPr b="0" i="0" lang="en" sz="10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a dip in Q2 2022."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7" name="Google Shape;707;p55"/>
          <p:cNvSpPr/>
          <p:nvPr/>
        </p:nvSpPr>
        <p:spPr>
          <a:xfrm>
            <a:off x="6492249" y="1005850"/>
            <a:ext cx="2011800" cy="2547900"/>
          </a:xfrm>
          <a:prstGeom prst="rect">
            <a:avLst/>
          </a:prstGeom>
          <a:solidFill>
            <a:srgbClr val="F8FAFC"/>
          </a:solidFill>
          <a:ln cap="flat" cmpd="sng" w="12700">
            <a:solidFill>
              <a:srgbClr val="7C3AE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8" name="Google Shape;708;p55"/>
          <p:cNvSpPr/>
          <p:nvPr/>
        </p:nvSpPr>
        <p:spPr>
          <a:xfrm>
            <a:off x="6492240" y="1051560"/>
            <a:ext cx="20118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C3AED"/>
              </a:buClr>
              <a:buSzPts val="1200"/>
              <a:buFont typeface="Outfit"/>
              <a:buNone/>
            </a:pPr>
            <a:r>
              <a:rPr b="1" i="0" lang="en" sz="1200" u="none" cap="none" strike="noStrike">
                <a:solidFill>
                  <a:srgbClr val="7C3AED"/>
                </a:solidFill>
                <a:latin typeface="Outfit"/>
                <a:ea typeface="Outfit"/>
                <a:cs typeface="Outfit"/>
                <a:sym typeface="Outfit"/>
              </a:rPr>
              <a:t>Spatial reasoning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9" name="Google Shape;709;p55"/>
          <p:cNvSpPr/>
          <p:nvPr/>
        </p:nvSpPr>
        <p:spPr>
          <a:xfrm>
            <a:off x="6629400" y="1508760"/>
            <a:ext cx="17373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Outfit"/>
              <a:buNone/>
            </a:pPr>
            <a:r>
              <a:rPr b="0" i="1" lang="en" sz="10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"What's to the left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Outfit"/>
              <a:buNone/>
            </a:pPr>
            <a:r>
              <a:rPr b="0" i="1" lang="en" sz="10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of the red cup?"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0" name="Google Shape;710;p55"/>
          <p:cNvSpPr/>
          <p:nvPr/>
        </p:nvSpPr>
        <p:spPr>
          <a:xfrm>
            <a:off x="7315200" y="2194560"/>
            <a:ext cx="365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C3AED"/>
              </a:buClr>
              <a:buSzPts val="1400"/>
              <a:buFont typeface="Outfit"/>
              <a:buNone/>
            </a:pPr>
            <a:r>
              <a:rPr b="0" i="0" lang="en" sz="1400" u="none" cap="none" strike="noStrike">
                <a:solidFill>
                  <a:srgbClr val="7C3AED"/>
                </a:solidFill>
                <a:latin typeface="Outfit"/>
                <a:ea typeface="Outfit"/>
                <a:cs typeface="Outfit"/>
                <a:sym typeface="Outfit"/>
              </a:rPr>
              <a:t>↓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1" name="Google Shape;711;p55"/>
          <p:cNvSpPr/>
          <p:nvPr/>
        </p:nvSpPr>
        <p:spPr>
          <a:xfrm>
            <a:off x="6629400" y="2560320"/>
            <a:ext cx="17373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Outfit"/>
              <a:buNone/>
            </a:pPr>
            <a:r>
              <a:rPr b="0" i="0" lang="en" sz="10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"A blue notebook is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Outfit"/>
              <a:buNone/>
            </a:pPr>
            <a:r>
              <a:rPr b="0" i="0" lang="en" sz="10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to the left, partially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Outfit"/>
              <a:buNone/>
            </a:pPr>
            <a:r>
              <a:rPr b="0" i="0" lang="en" sz="10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obscured by a pen."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2" name="Google Shape;712;p55"/>
          <p:cNvSpPr txBox="1"/>
          <p:nvPr>
            <p:ph type="title"/>
          </p:nvPr>
        </p:nvSpPr>
        <p:spPr>
          <a:xfrm>
            <a:off x="311700" y="228600"/>
            <a:ext cx="8520600" cy="61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can vision-language models actually do?</a:t>
            </a:r>
            <a:endParaRPr/>
          </a:p>
        </p:txBody>
      </p:sp>
      <p:sp>
        <p:nvSpPr>
          <p:cNvPr id="713" name="Google Shape;713;p55"/>
          <p:cNvSpPr txBox="1"/>
          <p:nvPr>
            <p:ph idx="2" type="subTitle"/>
          </p:nvPr>
        </p:nvSpPr>
        <p:spPr>
          <a:xfrm>
            <a:off x="-3870" y="4726261"/>
            <a:ext cx="4046100" cy="411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714" name="Google Shape;714;p55"/>
          <p:cNvSpPr txBox="1"/>
          <p:nvPr>
            <p:ph idx="1" type="body"/>
          </p:nvPr>
        </p:nvSpPr>
        <p:spPr>
          <a:xfrm>
            <a:off x="311700" y="3681488"/>
            <a:ext cx="8520600" cy="12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GPT-4V (OpenAI), Gemini (Google), Claude 3+ (Anthropic), LLaVA (open-source) — all use variations of the same idea: pretrained vision encoder + pretrained LLM + bridging layer.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19" name="Shape 7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20" name="Google Shape;720;p56"/>
          <p:cNvGraphicFramePr/>
          <p:nvPr/>
        </p:nvGraphicFramePr>
        <p:xfrm>
          <a:off x="274320" y="128016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{5E7EE7C1-EB04-47AD-AD27-7F6E7173889C}</a:tableStyleId>
              </a:tblPr>
              <a:tblGrid>
                <a:gridCol w="1051550"/>
                <a:gridCol w="457200"/>
                <a:gridCol w="823750"/>
                <a:gridCol w="731250"/>
                <a:gridCol w="1052625"/>
                <a:gridCol w="889175"/>
              </a:tblGrid>
              <a:tr h="2743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850"/>
                        <a:buFont typeface="Calibri"/>
                        <a:buNone/>
                      </a:pPr>
                      <a:r>
                        <a:rPr b="1" lang="en" sz="950" u="none" cap="none" strike="noStrike">
                          <a:solidFill>
                            <a:srgbClr val="FFFFFF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Model</a:t>
                      </a:r>
                      <a:endParaRPr sz="95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2B4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850"/>
                        <a:buFont typeface="Calibri"/>
                        <a:buNone/>
                      </a:pPr>
                      <a:r>
                        <a:rPr b="1" lang="en" sz="950" u="none" cap="none" strike="noStrike">
                          <a:solidFill>
                            <a:srgbClr val="FFFFFF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Year</a:t>
                      </a:r>
                      <a:endParaRPr sz="95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2B4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850"/>
                        <a:buFont typeface="Calibri"/>
                        <a:buNone/>
                      </a:pPr>
                      <a:r>
                        <a:rPr b="1" lang="en" sz="950" u="none" cap="none" strike="noStrike">
                          <a:solidFill>
                            <a:srgbClr val="FFFFFF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Type</a:t>
                      </a:r>
                      <a:endParaRPr sz="95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2B4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850"/>
                        <a:buFont typeface="Calibri"/>
                        <a:buNone/>
                      </a:pPr>
                      <a:r>
                        <a:rPr b="1" lang="en" sz="950" u="none" cap="none" strike="noStrike">
                          <a:solidFill>
                            <a:srgbClr val="FFFFFF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Params</a:t>
                      </a:r>
                      <a:endParaRPr sz="95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2B4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850"/>
                        <a:buFont typeface="Calibri"/>
                        <a:buNone/>
                      </a:pPr>
                      <a:r>
                        <a:rPr b="1" lang="en" sz="950" u="none" cap="none" strike="noStrike">
                          <a:solidFill>
                            <a:srgbClr val="FFFFFF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Training data</a:t>
                      </a:r>
                      <a:endParaRPr sz="95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2B4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850"/>
                        <a:buFont typeface="Calibri"/>
                        <a:buNone/>
                      </a:pPr>
                      <a:r>
                        <a:rPr b="1" lang="en" sz="950" u="none" cap="none" strike="noStrike">
                          <a:solidFill>
                            <a:srgbClr val="FFFFFF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~PF-days</a:t>
                      </a:r>
                      <a:endParaRPr sz="95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2B46"/>
                    </a:solidFill>
                  </a:tcPr>
                </a:tc>
              </a:tr>
              <a:tr h="2194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900" u="none" cap="none" strike="noStrike">
                          <a:solidFill>
                            <a:srgbClr val="1A1A2E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AlexNet</a:t>
                      </a:r>
                      <a:endParaRPr sz="9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900" u="none" cap="none" strike="noStrike">
                          <a:solidFill>
                            <a:srgbClr val="1A1A2E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2012</a:t>
                      </a:r>
                      <a:endParaRPr sz="9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900" u="none" cap="none" strike="noStrike">
                          <a:solidFill>
                            <a:srgbClr val="1A1A2E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CNN</a:t>
                      </a:r>
                      <a:endParaRPr sz="9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900" u="none" cap="none" strike="noStrike">
                          <a:solidFill>
                            <a:srgbClr val="1A1A2E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60M</a:t>
                      </a:r>
                      <a:endParaRPr sz="9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900" u="none" cap="none" strike="noStrike">
                          <a:solidFill>
                            <a:srgbClr val="1A1A2E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1.2M imgs</a:t>
                      </a:r>
                      <a:endParaRPr sz="9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900" u="none" cap="none" strike="noStrike">
                          <a:solidFill>
                            <a:srgbClr val="1A1A2E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~0.01</a:t>
                      </a:r>
                      <a:endParaRPr sz="9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194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900" u="none" cap="none" strike="noStrike">
                          <a:solidFill>
                            <a:srgbClr val="1A1A2E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ResNet-152</a:t>
                      </a:r>
                      <a:endParaRPr sz="9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900" u="none" cap="none" strike="noStrike">
                          <a:solidFill>
                            <a:srgbClr val="1A1A2E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2015</a:t>
                      </a:r>
                      <a:endParaRPr sz="9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900" u="none" cap="none" strike="noStrike">
                          <a:solidFill>
                            <a:srgbClr val="1A1A2E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CNN</a:t>
                      </a:r>
                      <a:endParaRPr sz="9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900" u="none" cap="none" strike="noStrike">
                          <a:solidFill>
                            <a:srgbClr val="1A1A2E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60M</a:t>
                      </a:r>
                      <a:endParaRPr sz="9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900" u="none" cap="none" strike="noStrike">
                          <a:solidFill>
                            <a:srgbClr val="1A1A2E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1.2M imgs</a:t>
                      </a:r>
                      <a:endParaRPr sz="9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900" u="none" cap="none" strike="noStrike">
                          <a:solidFill>
                            <a:srgbClr val="1A1A2E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~0.05</a:t>
                      </a:r>
                      <a:endParaRPr sz="9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</a:tr>
              <a:tr h="2194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900" u="none" cap="none" strike="noStrike">
                          <a:solidFill>
                            <a:srgbClr val="1A1A2E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ViT-B/16</a:t>
                      </a:r>
                      <a:endParaRPr sz="9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900" u="none" cap="none" strike="noStrike">
                          <a:solidFill>
                            <a:srgbClr val="1A1A2E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2020</a:t>
                      </a:r>
                      <a:endParaRPr sz="9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900" u="none" cap="none" strike="noStrike">
                          <a:solidFill>
                            <a:srgbClr val="1A1A2E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ViT</a:t>
                      </a:r>
                      <a:endParaRPr sz="9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900" u="none" cap="none" strike="noStrike">
                          <a:solidFill>
                            <a:srgbClr val="1A1A2E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86M</a:t>
                      </a:r>
                      <a:endParaRPr sz="9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900" u="none" cap="none" strike="noStrike">
                          <a:solidFill>
                            <a:srgbClr val="1A1A2E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300M imgs</a:t>
                      </a:r>
                      <a:endParaRPr sz="9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900" u="none" cap="none" strike="noStrike">
                          <a:solidFill>
                            <a:srgbClr val="1A1A2E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~3</a:t>
                      </a:r>
                      <a:endParaRPr sz="9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194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900" u="none" cap="none" strike="noStrike">
                          <a:solidFill>
                            <a:srgbClr val="1A1A2E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ViT-L/16</a:t>
                      </a:r>
                      <a:endParaRPr sz="9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900" u="none" cap="none" strike="noStrike">
                          <a:solidFill>
                            <a:srgbClr val="1A1A2E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2020</a:t>
                      </a:r>
                      <a:endParaRPr sz="9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900" u="none" cap="none" strike="noStrike">
                          <a:solidFill>
                            <a:srgbClr val="1A1A2E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ViT</a:t>
                      </a:r>
                      <a:endParaRPr sz="9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900" u="none" cap="none" strike="noStrike">
                          <a:solidFill>
                            <a:srgbClr val="1A1A2E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307M</a:t>
                      </a:r>
                      <a:endParaRPr sz="9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900" u="none" cap="none" strike="noStrike">
                          <a:solidFill>
                            <a:srgbClr val="1A1A2E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300M imgs</a:t>
                      </a:r>
                      <a:endParaRPr sz="9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900" u="none" cap="none" strike="noStrike">
                          <a:solidFill>
                            <a:srgbClr val="1A1A2E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~10</a:t>
                      </a:r>
                      <a:endParaRPr sz="9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</a:tr>
              <a:tr h="2194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900" u="none" cap="none" strike="noStrike">
                          <a:solidFill>
                            <a:srgbClr val="1A1A2E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DINOv2-g</a:t>
                      </a:r>
                      <a:endParaRPr sz="9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900" u="none" cap="none" strike="noStrike">
                          <a:solidFill>
                            <a:srgbClr val="1A1A2E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2023</a:t>
                      </a:r>
                      <a:endParaRPr sz="9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900" u="none" cap="none" strike="noStrike">
                          <a:solidFill>
                            <a:srgbClr val="1A1A2E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ViT (SSL)</a:t>
                      </a:r>
                      <a:endParaRPr sz="9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900" u="none" cap="none" strike="noStrike">
                          <a:solidFill>
                            <a:srgbClr val="1A1A2E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1.1B</a:t>
                      </a:r>
                      <a:endParaRPr sz="9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900" u="none" cap="none" strike="noStrike">
                          <a:solidFill>
                            <a:srgbClr val="1A1A2E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142M imgs</a:t>
                      </a:r>
                      <a:endParaRPr sz="9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900" u="none" cap="none" strike="noStrike">
                          <a:solidFill>
                            <a:srgbClr val="1A1A2E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~500</a:t>
                      </a:r>
                      <a:endParaRPr sz="9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194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900" u="none" cap="none" strike="noStrike">
                          <a:solidFill>
                            <a:srgbClr val="1A1A2E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CLIP ViT-L/14</a:t>
                      </a:r>
                      <a:endParaRPr sz="9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E5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900" u="none" cap="none" strike="noStrike">
                          <a:solidFill>
                            <a:srgbClr val="1A1A2E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2021</a:t>
                      </a:r>
                      <a:endParaRPr sz="9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E5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900" u="none" cap="none" strike="noStrike">
                          <a:solidFill>
                            <a:srgbClr val="1A1A2E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Contr. VL</a:t>
                      </a:r>
                      <a:endParaRPr sz="9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E5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900" u="none" cap="none" strike="noStrike">
                          <a:solidFill>
                            <a:srgbClr val="1A1A2E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428M</a:t>
                      </a:r>
                      <a:endParaRPr sz="9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E5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900" u="none" cap="none" strike="noStrike">
                          <a:solidFill>
                            <a:srgbClr val="1A1A2E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400M pairs</a:t>
                      </a:r>
                      <a:endParaRPr sz="9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E5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900" u="none" cap="none" strike="noStrike">
                          <a:solidFill>
                            <a:srgbClr val="1A1A2E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~200</a:t>
                      </a:r>
                      <a:endParaRPr sz="9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E5F5"/>
                    </a:solidFill>
                  </a:tcPr>
                </a:tc>
              </a:tr>
              <a:tr h="2194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900" u="none" cap="none" strike="noStrike">
                          <a:solidFill>
                            <a:srgbClr val="1A1A2E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SigLIP-SO</a:t>
                      </a:r>
                      <a:endParaRPr sz="9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900" u="none" cap="none" strike="noStrike">
                          <a:solidFill>
                            <a:srgbClr val="1A1A2E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2023</a:t>
                      </a:r>
                      <a:endParaRPr sz="9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900" u="none" cap="none" strike="noStrike">
                          <a:solidFill>
                            <a:srgbClr val="1A1A2E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Contr. VL</a:t>
                      </a:r>
                      <a:endParaRPr sz="9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900" u="none" cap="none" strike="noStrike">
                          <a:solidFill>
                            <a:srgbClr val="1A1A2E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878M</a:t>
                      </a:r>
                      <a:endParaRPr sz="9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900" u="none" cap="none" strike="noStrike">
                          <a:solidFill>
                            <a:srgbClr val="1A1A2E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4B pairs</a:t>
                      </a:r>
                      <a:endParaRPr sz="9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900" u="none" cap="none" strike="noStrike">
                          <a:solidFill>
                            <a:srgbClr val="1A1A2E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~2,000</a:t>
                      </a:r>
                      <a:endParaRPr sz="9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</a:tr>
              <a:tr h="2194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900" u="none" cap="none" strike="noStrike">
                          <a:solidFill>
                            <a:srgbClr val="1A1A2E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LLaVA-1.5</a:t>
                      </a:r>
                      <a:endParaRPr sz="9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E5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900" u="none" cap="none" strike="noStrike">
                          <a:solidFill>
                            <a:srgbClr val="1A1A2E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2024</a:t>
                      </a:r>
                      <a:endParaRPr sz="9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E5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900" u="none" cap="none" strike="noStrike">
                          <a:solidFill>
                            <a:srgbClr val="1A1A2E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Gen. VLM</a:t>
                      </a:r>
                      <a:endParaRPr sz="9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E5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900" u="none" cap="none" strike="noStrike">
                          <a:solidFill>
                            <a:srgbClr val="1A1A2E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7–13B</a:t>
                      </a:r>
                      <a:endParaRPr sz="9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E5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900" u="none" cap="none" strike="noStrike">
                          <a:solidFill>
                            <a:srgbClr val="1A1A2E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1.2M instruct</a:t>
                      </a:r>
                      <a:endParaRPr sz="9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E5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900" u="none" cap="none" strike="noStrike">
                          <a:solidFill>
                            <a:srgbClr val="1A1A2E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~10 (FT)</a:t>
                      </a:r>
                      <a:endParaRPr sz="9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E5F5"/>
                    </a:solidFill>
                  </a:tcPr>
                </a:tc>
              </a:tr>
              <a:tr h="2194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900" u="none" cap="none" strike="noStrike">
                          <a:solidFill>
                            <a:srgbClr val="1A1A2E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PaLI-X</a:t>
                      </a:r>
                      <a:endParaRPr sz="9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900" u="none" cap="none" strike="noStrike">
                          <a:solidFill>
                            <a:srgbClr val="1A1A2E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2023</a:t>
                      </a:r>
                      <a:endParaRPr sz="9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900" u="none" cap="none" strike="noStrike">
                          <a:solidFill>
                            <a:srgbClr val="1A1A2E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Gen. VLM</a:t>
                      </a:r>
                      <a:endParaRPr sz="9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900" u="none" cap="none" strike="noStrike">
                          <a:solidFill>
                            <a:srgbClr val="1A1A2E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55B</a:t>
                      </a:r>
                      <a:endParaRPr sz="9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900" u="none" cap="none" strike="noStrike">
                          <a:solidFill>
                            <a:srgbClr val="1A1A2E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~10B pairs</a:t>
                      </a:r>
                      <a:endParaRPr sz="9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900" u="none" cap="none" strike="noStrike">
                          <a:solidFill>
                            <a:srgbClr val="1A1A2E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~30,000</a:t>
                      </a:r>
                      <a:endParaRPr sz="9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</a:tr>
              <a:tr h="2194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900" u="none" cap="none" strike="noStrike">
                          <a:solidFill>
                            <a:srgbClr val="1A1A2E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Qwen2-VL</a:t>
                      </a:r>
                      <a:endParaRPr sz="9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E5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900" u="none" cap="none" strike="noStrike">
                          <a:solidFill>
                            <a:srgbClr val="1A1A2E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2024</a:t>
                      </a:r>
                      <a:endParaRPr sz="9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E5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900" u="none" cap="none" strike="noStrike">
                          <a:solidFill>
                            <a:srgbClr val="1A1A2E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Gen. VLM</a:t>
                      </a:r>
                      <a:endParaRPr sz="9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E5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900" u="none" cap="none" strike="noStrike">
                          <a:solidFill>
                            <a:srgbClr val="1A1A2E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2–72B</a:t>
                      </a:r>
                      <a:endParaRPr sz="9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E5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900" u="none" cap="none" strike="noStrike">
                          <a:solidFill>
                            <a:srgbClr val="1A1A2E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undisclosed</a:t>
                      </a:r>
                      <a:endParaRPr sz="9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E5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900" u="none" cap="none" strike="noStrike">
                          <a:solidFill>
                            <a:srgbClr val="1A1A2E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~50,000+</a:t>
                      </a:r>
                      <a:endParaRPr sz="9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E5F5"/>
                    </a:solidFill>
                  </a:tcPr>
                </a:tc>
              </a:tr>
              <a:tr h="2194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900" u="none" cap="none" strike="noStrike">
                          <a:solidFill>
                            <a:srgbClr val="1A1A2E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GPT-4o</a:t>
                      </a:r>
                      <a:endParaRPr sz="9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900" u="none" cap="none" strike="noStrike">
                          <a:solidFill>
                            <a:srgbClr val="1A1A2E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2024</a:t>
                      </a:r>
                      <a:endParaRPr sz="9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900" u="none" cap="none" strike="noStrike">
                          <a:solidFill>
                            <a:srgbClr val="1A1A2E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Gen. VLM</a:t>
                      </a:r>
                      <a:endParaRPr sz="9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900" u="none" cap="none" strike="noStrike">
                          <a:solidFill>
                            <a:srgbClr val="1A1A2E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~1.8T (est)</a:t>
                      </a:r>
                      <a:endParaRPr sz="9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900" u="none" cap="none" strike="noStrike">
                          <a:solidFill>
                            <a:srgbClr val="1A1A2E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undisclosed</a:t>
                      </a:r>
                      <a:endParaRPr sz="9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900" u="none" cap="none" strike="noStrike">
                          <a:solidFill>
                            <a:srgbClr val="1A1A2E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~10⁶+</a:t>
                      </a:r>
                      <a:endParaRPr sz="900" u="none" cap="none" strike="noStrike"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721" name="Google Shape;721;p56"/>
          <p:cNvSpPr/>
          <p:nvPr/>
        </p:nvSpPr>
        <p:spPr>
          <a:xfrm>
            <a:off x="274320" y="4317548"/>
            <a:ext cx="183000" cy="137100"/>
          </a:xfrm>
          <a:prstGeom prst="rect">
            <a:avLst/>
          </a:prstGeom>
          <a:solidFill>
            <a:srgbClr val="F3E5F5"/>
          </a:solidFill>
          <a:ln cap="flat" cmpd="sng" w="9525">
            <a:solidFill>
              <a:srgbClr val="CE93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722" name="Google Shape;722;p56"/>
          <p:cNvSpPr/>
          <p:nvPr/>
        </p:nvSpPr>
        <p:spPr>
          <a:xfrm>
            <a:off x="502920" y="4290116"/>
            <a:ext cx="18288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750"/>
              <a:buFont typeface="Calibri"/>
              <a:buNone/>
            </a:pPr>
            <a:r>
              <a:rPr i="0" lang="en" sz="750" u="none" cap="none" strike="noStrike">
                <a:solidFill>
                  <a:srgbClr val="64748B"/>
                </a:solidFill>
                <a:latin typeface="Outfit"/>
                <a:ea typeface="Outfit"/>
                <a:cs typeface="Outfit"/>
                <a:sym typeface="Outfit"/>
              </a:rPr>
              <a:t>= vision-language model</a:t>
            </a:r>
            <a:endParaRPr i="0" sz="750" u="none" cap="none" strike="noStrike">
              <a:solidFill>
                <a:schemeClr val="dk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723" name="Google Shape;723;p56"/>
          <p:cNvSpPr/>
          <p:nvPr/>
        </p:nvSpPr>
        <p:spPr>
          <a:xfrm>
            <a:off x="274320" y="4482140"/>
            <a:ext cx="53034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700"/>
              <a:buFont typeface="Calibri"/>
              <a:buNone/>
            </a:pPr>
            <a:r>
              <a:rPr i="1" lang="en" sz="700" u="none" cap="none" strike="noStrike">
                <a:solidFill>
                  <a:srgbClr val="64748B"/>
                </a:solidFill>
                <a:latin typeface="Outfit"/>
                <a:ea typeface="Outfit"/>
                <a:cs typeface="Outfit"/>
                <a:sym typeface="Outfit"/>
              </a:rPr>
              <a:t>Compute estimates are approximate. FT = fine-tuning only (backbone pretrained elsewhere).</a:t>
            </a:r>
            <a:endParaRPr i="0" sz="700" u="none" cap="none" strike="noStrike">
              <a:solidFill>
                <a:schemeClr val="dk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724" name="Google Shape;724;p56"/>
          <p:cNvSpPr txBox="1"/>
          <p:nvPr>
            <p:ph type="title"/>
          </p:nvPr>
        </p:nvSpPr>
        <p:spPr>
          <a:xfrm>
            <a:off x="311700" y="228600"/>
            <a:ext cx="8520600" cy="61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From CNNs to VLMs — Model Scaling in Vision</a:t>
            </a:r>
            <a:endParaRPr/>
          </a:p>
        </p:txBody>
      </p:sp>
      <p:sp>
        <p:nvSpPr>
          <p:cNvPr id="725" name="Google Shape;725;p56"/>
          <p:cNvSpPr txBox="1"/>
          <p:nvPr>
            <p:ph idx="2" type="subTitle"/>
          </p:nvPr>
        </p:nvSpPr>
        <p:spPr>
          <a:xfrm>
            <a:off x="-3878" y="4726250"/>
            <a:ext cx="6356100" cy="411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Table generated by Claude.</a:t>
            </a:r>
            <a:endParaRPr/>
          </a:p>
        </p:txBody>
      </p:sp>
      <p:sp>
        <p:nvSpPr>
          <p:cNvPr id="726" name="Google Shape;726;p56"/>
          <p:cNvSpPr/>
          <p:nvPr/>
        </p:nvSpPr>
        <p:spPr>
          <a:xfrm>
            <a:off x="5504775" y="1554475"/>
            <a:ext cx="3356700" cy="93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Outfit"/>
                <a:ea typeface="Outfit"/>
                <a:cs typeface="Outfit"/>
                <a:sym typeface="Outfit"/>
              </a:rPr>
              <a:t>The scaling trajectory: </a:t>
            </a:r>
            <a:br>
              <a:rPr lang="en" sz="1600">
                <a:latin typeface="Outfit"/>
                <a:ea typeface="Outfit"/>
                <a:cs typeface="Outfit"/>
                <a:sym typeface="Outfit"/>
              </a:rPr>
            </a:br>
            <a:r>
              <a:rPr lang="en" sz="1600">
                <a:latin typeface="Outfit"/>
                <a:ea typeface="Outfit"/>
                <a:cs typeface="Outfit"/>
                <a:sym typeface="Outfit"/>
              </a:rPr>
              <a:t>1,000× every ~5 years</a:t>
            </a:r>
            <a:br>
              <a:rPr lang="en" sz="1600">
                <a:latin typeface="Outfit"/>
                <a:ea typeface="Outfit"/>
                <a:cs typeface="Outfit"/>
                <a:sym typeface="Outfit"/>
              </a:rPr>
            </a:br>
            <a:endParaRPr sz="1600">
              <a:latin typeface="Outfit"/>
              <a:ea typeface="Outfit"/>
              <a:cs typeface="Outfit"/>
              <a:sym typeface="Outfit"/>
            </a:endParaRPr>
          </a:p>
          <a:p>
            <a:pPr indent="-238759" lvl="0" marL="274320" marR="0" rtl="0" algn="l">
              <a:spcBef>
                <a:spcPts val="0"/>
              </a:spcBef>
              <a:spcAft>
                <a:spcPts val="0"/>
              </a:spcAft>
              <a:buSzPts val="1600"/>
              <a:buFont typeface="Outfit"/>
              <a:buChar char="●"/>
            </a:pPr>
            <a:r>
              <a:rPr b="1" lang="en" sz="1600">
                <a:latin typeface="Outfit"/>
                <a:ea typeface="Outfit"/>
                <a:cs typeface="Outfit"/>
                <a:sym typeface="Outfit"/>
              </a:rPr>
              <a:t>Train</a:t>
            </a:r>
            <a:r>
              <a:rPr lang="en" sz="1600">
                <a:latin typeface="Outfit"/>
                <a:ea typeface="Outfit"/>
                <a:cs typeface="Outfit"/>
                <a:sym typeface="Outfit"/>
              </a:rPr>
              <a:t>: ViTs, DINOv2, CLIP-scale</a:t>
            </a:r>
            <a:endParaRPr sz="1600">
              <a:latin typeface="Outfit"/>
              <a:ea typeface="Outfit"/>
              <a:cs typeface="Outfit"/>
              <a:sym typeface="Outfit"/>
            </a:endParaRPr>
          </a:p>
          <a:p>
            <a:pPr indent="-238759" lvl="0" marL="274320" marR="0" rtl="0" algn="l">
              <a:spcBef>
                <a:spcPts val="0"/>
              </a:spcBef>
              <a:spcAft>
                <a:spcPts val="0"/>
              </a:spcAft>
              <a:buSzPts val="1600"/>
              <a:buFont typeface="Outfit"/>
              <a:buChar char="●"/>
            </a:pPr>
            <a:r>
              <a:rPr b="1" lang="en" sz="1600">
                <a:latin typeface="Outfit"/>
                <a:ea typeface="Outfit"/>
                <a:cs typeface="Outfit"/>
                <a:sym typeface="Outfit"/>
              </a:rPr>
              <a:t>Fine-tune</a:t>
            </a:r>
            <a:r>
              <a:rPr lang="en" sz="1600">
                <a:latin typeface="Outfit"/>
                <a:ea typeface="Outfit"/>
                <a:cs typeface="Outfit"/>
                <a:sym typeface="Outfit"/>
              </a:rPr>
              <a:t>: LLaVA, Qwen2-VL</a:t>
            </a:r>
            <a:br>
              <a:rPr lang="en" sz="1600">
                <a:latin typeface="Outfit"/>
                <a:ea typeface="Outfit"/>
                <a:cs typeface="Outfit"/>
                <a:sym typeface="Outfit"/>
              </a:rPr>
            </a:br>
            <a:r>
              <a:rPr lang="en" sz="1600">
                <a:latin typeface="Outfit"/>
                <a:ea typeface="Outfit"/>
                <a:cs typeface="Outfit"/>
                <a:sym typeface="Outfit"/>
              </a:rPr>
              <a:t> (LoRA on 72B)</a:t>
            </a:r>
            <a:endParaRPr sz="1600">
              <a:latin typeface="Outfit"/>
              <a:ea typeface="Outfit"/>
              <a:cs typeface="Outfit"/>
              <a:sym typeface="Outfit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3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p57"/>
          <p:cNvSpPr/>
          <p:nvPr/>
        </p:nvSpPr>
        <p:spPr>
          <a:xfrm>
            <a:off x="640080" y="1121505"/>
            <a:ext cx="78639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46E5"/>
              </a:buClr>
              <a:buSzPts val="1500"/>
              <a:buFont typeface="Outfit"/>
              <a:buNone/>
            </a:pPr>
            <a:r>
              <a:rPr b="0" i="0" lang="en" sz="15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Do representations actually align across modalities?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3" name="Google Shape;733;p57"/>
          <p:cNvSpPr/>
          <p:nvPr/>
        </p:nvSpPr>
        <p:spPr>
          <a:xfrm>
            <a:off x="1188720" y="1853025"/>
            <a:ext cx="640200" cy="640200"/>
          </a:xfrm>
          <a:prstGeom prst="ellipse">
            <a:avLst/>
          </a:prstGeom>
          <a:solidFill>
            <a:srgbClr val="4F46E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4" name="Google Shape;734;p57"/>
          <p:cNvSpPr/>
          <p:nvPr/>
        </p:nvSpPr>
        <p:spPr>
          <a:xfrm>
            <a:off x="1188720" y="1853025"/>
            <a:ext cx="6402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Outfit"/>
              <a:buNone/>
            </a:pPr>
            <a:r>
              <a:rPr b="0" i="0" lang="en" sz="2200" u="none" cap="none" strike="noStrike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≈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5" name="Google Shape;735;p57"/>
          <p:cNvSpPr/>
          <p:nvPr/>
        </p:nvSpPr>
        <p:spPr>
          <a:xfrm>
            <a:off x="274320" y="2584545"/>
            <a:ext cx="25602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F46E5"/>
              </a:buClr>
              <a:buSzPts val="1300"/>
              <a:buFont typeface="Outfit"/>
              <a:buNone/>
            </a:pPr>
            <a:r>
              <a:rPr b="1" i="0" lang="en" sz="1300" u="none" cap="none" strike="noStrike">
                <a:solidFill>
                  <a:srgbClr val="4F46E5"/>
                </a:solidFill>
                <a:latin typeface="Outfit"/>
                <a:ea typeface="Outfit"/>
                <a:cs typeface="Outfit"/>
                <a:sym typeface="Outfit"/>
              </a:rPr>
              <a:t>Partial convergence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6" name="Google Shape;736;p57"/>
          <p:cNvSpPr/>
          <p:nvPr/>
        </p:nvSpPr>
        <p:spPr>
          <a:xfrm>
            <a:off x="411480" y="2950305"/>
            <a:ext cx="2286000" cy="1280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100"/>
              <a:buFont typeface="Outfit"/>
              <a:buNone/>
            </a:pPr>
            <a:r>
              <a:rPr b="0" i="0" lang="en" sz="11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Vision and language models share some representational structure — but not all. Alignment is real but incomplete.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7" name="Google Shape;737;p57"/>
          <p:cNvSpPr/>
          <p:nvPr/>
        </p:nvSpPr>
        <p:spPr>
          <a:xfrm>
            <a:off x="4023360" y="1853025"/>
            <a:ext cx="640200" cy="640200"/>
          </a:xfrm>
          <a:prstGeom prst="ellipse">
            <a:avLst/>
          </a:prstGeom>
          <a:solidFill>
            <a:srgbClr val="0891B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8" name="Google Shape;738;p57"/>
          <p:cNvSpPr/>
          <p:nvPr/>
        </p:nvSpPr>
        <p:spPr>
          <a:xfrm>
            <a:off x="4023360" y="1853025"/>
            <a:ext cx="6402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Outfit"/>
              <a:buNone/>
            </a:pPr>
            <a:r>
              <a:rPr b="0" i="0" lang="en" sz="2200" u="none" cap="none" strike="noStrike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~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9" name="Google Shape;739;p57"/>
          <p:cNvSpPr/>
          <p:nvPr/>
        </p:nvSpPr>
        <p:spPr>
          <a:xfrm>
            <a:off x="3108960" y="2584545"/>
            <a:ext cx="25602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891B2"/>
              </a:buClr>
              <a:buSzPts val="1300"/>
              <a:buFont typeface="Outfit"/>
              <a:buNone/>
            </a:pPr>
            <a:r>
              <a:rPr b="1" i="0" lang="en" sz="1300" u="none" cap="none" strike="noStrike">
                <a:solidFill>
                  <a:srgbClr val="0891B2"/>
                </a:solidFill>
                <a:latin typeface="Outfit"/>
                <a:ea typeface="Outfit"/>
                <a:cs typeface="Outfit"/>
                <a:sym typeface="Outfit"/>
              </a:rPr>
              <a:t>Modulated by usage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0" name="Google Shape;740;p57"/>
          <p:cNvSpPr/>
          <p:nvPr/>
        </p:nvSpPr>
        <p:spPr>
          <a:xfrm>
            <a:off x="3246120" y="2950305"/>
            <a:ext cx="2286000" cy="1280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100"/>
              <a:buFont typeface="Outfit"/>
              <a:buNone/>
            </a:pPr>
            <a:r>
              <a:rPr b="0" i="0" lang="en" sz="11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Alignment is stronger for: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100"/>
              <a:buFont typeface="Outfit"/>
              <a:buNone/>
            </a:pPr>
            <a:r>
              <a:rPr b="0" i="0" lang="en" sz="11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• High-frequency words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100"/>
              <a:buFont typeface="Outfit"/>
              <a:buNone/>
            </a:pPr>
            <a:r>
              <a:rPr b="0" i="0" lang="en" sz="11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• Low-polysemy concepts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100"/>
              <a:buFont typeface="Outfit"/>
              <a:buNone/>
            </a:pPr>
            <a:r>
              <a:rPr b="0" i="0" lang="en" sz="11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• Low-dispersion embeddings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100"/>
              <a:buFont typeface="Outfit"/>
              <a:buNone/>
            </a:pPr>
            <a:r>
              <a:rPr b="0" i="0" lang="en" sz="11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(Things the model "knows well")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1" name="Google Shape;741;p57"/>
          <p:cNvSpPr/>
          <p:nvPr/>
        </p:nvSpPr>
        <p:spPr>
          <a:xfrm>
            <a:off x="6858000" y="1853025"/>
            <a:ext cx="640200" cy="640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2" name="Google Shape;742;p57"/>
          <p:cNvSpPr/>
          <p:nvPr/>
        </p:nvSpPr>
        <p:spPr>
          <a:xfrm>
            <a:off x="6858000" y="1853025"/>
            <a:ext cx="6402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Outfit"/>
              <a:buNone/>
            </a:pPr>
            <a:r>
              <a:rPr b="0" i="0" lang="en" sz="2200" u="none" cap="none" strike="noStrike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⟷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3" name="Google Shape;743;p57"/>
          <p:cNvSpPr/>
          <p:nvPr/>
        </p:nvSpPr>
        <p:spPr>
          <a:xfrm>
            <a:off x="5943600" y="2584545"/>
            <a:ext cx="25602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C3AED"/>
              </a:buClr>
              <a:buSzPts val="1300"/>
              <a:buFont typeface="Outfit"/>
              <a:buNone/>
            </a:pPr>
            <a:r>
              <a:rPr b="1" i="0" lang="en" sz="1300" u="none" cap="none" strike="noStrike">
                <a:solidFill>
                  <a:srgbClr val="7C3AED"/>
                </a:solidFill>
                <a:latin typeface="Outfit"/>
                <a:ea typeface="Outfit"/>
                <a:cs typeface="Outfit"/>
                <a:sym typeface="Outfit"/>
              </a:rPr>
              <a:t>Challenges both extremes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4" name="Google Shape;744;p57"/>
          <p:cNvSpPr/>
          <p:nvPr/>
        </p:nvSpPr>
        <p:spPr>
          <a:xfrm>
            <a:off x="6080760" y="2950305"/>
            <a:ext cx="2286000" cy="1280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100"/>
              <a:buFont typeface="Outfit"/>
              <a:buNone/>
            </a:pPr>
            <a:r>
              <a:rPr b="0" i="0" lang="en" sz="11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Neither fully platonic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100"/>
              <a:buFont typeface="Outfit"/>
              <a:buNone/>
            </a:pPr>
            <a:r>
              <a:rPr b="0" i="0" lang="en" sz="11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("everything converges")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100"/>
              <a:buFont typeface="Outfit"/>
              <a:buNone/>
            </a:pPr>
            <a:r>
              <a:rPr b="0" i="0" lang="en" sz="11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nor stochastic parrots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100"/>
              <a:buFont typeface="Outfit"/>
              <a:buNone/>
            </a:pPr>
            <a:r>
              <a:rPr b="0" i="0" lang="en" sz="11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("just surface patterns")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100"/>
              <a:buFont typeface="Outfit"/>
              <a:buNone/>
            </a:pPr>
            <a:r>
              <a:rPr b="0" i="0" lang="en" sz="11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— the truth is in between.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5" name="Google Shape;745;p57"/>
          <p:cNvSpPr txBox="1"/>
          <p:nvPr>
            <p:ph type="title"/>
          </p:nvPr>
        </p:nvSpPr>
        <p:spPr>
          <a:xfrm>
            <a:off x="311700" y="228600"/>
            <a:ext cx="8520600" cy="61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Do vision and language share concepts?</a:t>
            </a:r>
            <a:endParaRPr/>
          </a:p>
        </p:txBody>
      </p:sp>
      <p:sp>
        <p:nvSpPr>
          <p:cNvPr id="746" name="Google Shape;746;p57"/>
          <p:cNvSpPr txBox="1"/>
          <p:nvPr>
            <p:ph idx="2" type="subTitle"/>
          </p:nvPr>
        </p:nvSpPr>
        <p:spPr>
          <a:xfrm>
            <a:off x="-3870" y="4726261"/>
            <a:ext cx="4046100" cy="411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Li et al </a:t>
            </a:r>
            <a:r>
              <a:rPr b="1" lang="en">
                <a:latin typeface="Zilla Slab"/>
                <a:ea typeface="Zilla Slab"/>
                <a:cs typeface="Zilla Slab"/>
                <a:sym typeface="Zilla Slab"/>
              </a:rPr>
              <a:t>TACL 2024</a:t>
            </a:r>
            <a:endParaRPr b="1">
              <a:latin typeface="Zilla Slab"/>
              <a:ea typeface="Zilla Slab"/>
              <a:cs typeface="Zilla Slab"/>
              <a:sym typeface="Zilla Slab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p58"/>
          <p:cNvSpPr txBox="1"/>
          <p:nvPr>
            <p:ph type="title"/>
          </p:nvPr>
        </p:nvSpPr>
        <p:spPr>
          <a:xfrm>
            <a:off x="914400" y="1737360"/>
            <a:ext cx="76809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Georgia"/>
              <a:buNone/>
            </a:pPr>
            <a:r>
              <a:rPr b="1" lang="en" sz="3200">
                <a:solidFill>
                  <a:srgbClr val="FFFFFF"/>
                </a:solidFill>
              </a:rPr>
              <a:t>Critical perspectives</a:t>
            </a:r>
            <a:endParaRPr b="1" sz="3200">
              <a:solidFill>
                <a:srgbClr val="FFFFFF"/>
              </a:solidFill>
            </a:endParaRPr>
          </a:p>
        </p:txBody>
      </p:sp>
      <p:sp>
        <p:nvSpPr>
          <p:cNvPr id="753" name="Google Shape;753;p58"/>
          <p:cNvSpPr txBox="1"/>
          <p:nvPr>
            <p:ph idx="1" type="body"/>
          </p:nvPr>
        </p:nvSpPr>
        <p:spPr>
          <a:xfrm>
            <a:off x="914400" y="2743200"/>
            <a:ext cx="7680900" cy="1097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rgbClr val="94A3B8"/>
              </a:buClr>
              <a:buSzPts val="1600"/>
              <a:buNone/>
            </a:pPr>
            <a:r>
              <a:rPr lang="en" sz="1600">
                <a:solidFill>
                  <a:srgbClr val="4F46E5"/>
                </a:solidFill>
              </a:rPr>
              <a:t>What do these systems actually "understand"?</a:t>
            </a:r>
            <a:endParaRPr sz="1600">
              <a:solidFill>
                <a:srgbClr val="4F46E5"/>
              </a:solidFill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58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Google Shape;759;p59"/>
          <p:cNvSpPr/>
          <p:nvPr/>
        </p:nvSpPr>
        <p:spPr>
          <a:xfrm>
            <a:off x="274320" y="1202909"/>
            <a:ext cx="8595300" cy="1005900"/>
          </a:xfrm>
          <a:prstGeom prst="rect">
            <a:avLst/>
          </a:prstGeom>
          <a:solidFill>
            <a:srgbClr val="F8FAFC"/>
          </a:solidFill>
          <a:ln cap="flat" cmpd="sng" w="12700">
            <a:solidFill>
              <a:srgbClr val="4F46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0" name="Google Shape;760;p59"/>
          <p:cNvSpPr/>
          <p:nvPr/>
        </p:nvSpPr>
        <p:spPr>
          <a:xfrm>
            <a:off x="457200" y="1248629"/>
            <a:ext cx="27432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46E5"/>
              </a:buClr>
              <a:buSzPts val="1200"/>
              <a:buFont typeface="Outfit"/>
              <a:buNone/>
            </a:pPr>
            <a:r>
              <a:rPr b="1" i="0" lang="en" sz="1200" u="none" cap="none" strike="noStrike">
                <a:solidFill>
                  <a:srgbClr val="4F46E5"/>
                </a:solidFill>
                <a:latin typeface="Outfit"/>
                <a:ea typeface="Outfit"/>
                <a:cs typeface="Outfit"/>
                <a:sym typeface="Outfit"/>
              </a:rPr>
              <a:t>Mahowald et al. (2024)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1" name="Google Shape;761;p59"/>
          <p:cNvSpPr/>
          <p:nvPr/>
        </p:nvSpPr>
        <p:spPr>
          <a:xfrm>
            <a:off x="457200" y="1568669"/>
            <a:ext cx="27432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46E5"/>
              </a:buClr>
              <a:buSzPts val="1200"/>
              <a:buFont typeface="Outfit"/>
              <a:buNone/>
            </a:pPr>
            <a:r>
              <a:rPr b="0" i="1" lang="en" sz="1200" u="none" cap="none" strike="noStrike">
                <a:solidFill>
                  <a:srgbClr val="4F46E5"/>
                </a:solidFill>
                <a:latin typeface="Outfit"/>
                <a:ea typeface="Outfit"/>
                <a:cs typeface="Outfit"/>
                <a:sym typeface="Outfit"/>
              </a:rPr>
              <a:t>Formal vs. functional competence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2" name="Google Shape;762;p59"/>
          <p:cNvSpPr/>
          <p:nvPr/>
        </p:nvSpPr>
        <p:spPr>
          <a:xfrm>
            <a:off x="3291840" y="1294349"/>
            <a:ext cx="5394900" cy="82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200"/>
              <a:buFont typeface="Outfit"/>
              <a:buNone/>
            </a:pPr>
            <a:r>
              <a:rPr b="0" i="0" lang="en" sz="12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LLMs master language form (grammar, fluency) but may lack functional competence (reasoning, planning, world knowledge). These are dissociable.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3" name="Google Shape;763;p59"/>
          <p:cNvSpPr/>
          <p:nvPr/>
        </p:nvSpPr>
        <p:spPr>
          <a:xfrm>
            <a:off x="274320" y="2391629"/>
            <a:ext cx="8595300" cy="1005900"/>
          </a:xfrm>
          <a:prstGeom prst="rect">
            <a:avLst/>
          </a:prstGeom>
          <a:solidFill>
            <a:srgbClr val="F8FAFC"/>
          </a:solidFill>
          <a:ln cap="flat" cmpd="sng" w="12700">
            <a:solidFill>
              <a:srgbClr val="0891B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4" name="Google Shape;764;p59"/>
          <p:cNvSpPr/>
          <p:nvPr/>
        </p:nvSpPr>
        <p:spPr>
          <a:xfrm>
            <a:off x="457200" y="2437349"/>
            <a:ext cx="27432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891B2"/>
              </a:buClr>
              <a:buSzPts val="1200"/>
              <a:buFont typeface="Outfit"/>
              <a:buNone/>
            </a:pPr>
            <a:r>
              <a:rPr b="1" i="0" lang="en" sz="1200" u="none" cap="none" strike="noStrike">
                <a:solidFill>
                  <a:srgbClr val="0891B2"/>
                </a:solidFill>
                <a:latin typeface="Outfit"/>
                <a:ea typeface="Outfit"/>
                <a:cs typeface="Outfit"/>
                <a:sym typeface="Outfit"/>
              </a:rPr>
              <a:t>Bender et al. (2021)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5" name="Google Shape;765;p59"/>
          <p:cNvSpPr/>
          <p:nvPr/>
        </p:nvSpPr>
        <p:spPr>
          <a:xfrm>
            <a:off x="457200" y="2757389"/>
            <a:ext cx="27432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891B2"/>
              </a:buClr>
              <a:buSzPts val="1200"/>
              <a:buFont typeface="Outfit"/>
              <a:buNone/>
            </a:pPr>
            <a:r>
              <a:rPr b="0" i="1" lang="en" sz="1200" u="none" cap="none" strike="noStrike">
                <a:solidFill>
                  <a:srgbClr val="0891B2"/>
                </a:solidFill>
                <a:latin typeface="Outfit"/>
                <a:ea typeface="Outfit"/>
                <a:cs typeface="Outfit"/>
                <a:sym typeface="Outfit"/>
              </a:rPr>
              <a:t>Stochastic parrots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6" name="Google Shape;766;p59"/>
          <p:cNvSpPr/>
          <p:nvPr/>
        </p:nvSpPr>
        <p:spPr>
          <a:xfrm>
            <a:off x="3291840" y="2483069"/>
            <a:ext cx="5394900" cy="82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200"/>
              <a:buFont typeface="Outfit"/>
              <a:buNone/>
            </a:pPr>
            <a:r>
              <a:rPr b="0" i="0" lang="en" sz="12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Systems trained only on form cannot learn meaning. Text-only training leaves fundamental gaps. Plus: environmental costs, bias amplification, illusion of understanding.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7" name="Google Shape;767;p59"/>
          <p:cNvSpPr/>
          <p:nvPr/>
        </p:nvSpPr>
        <p:spPr>
          <a:xfrm>
            <a:off x="274320" y="3580349"/>
            <a:ext cx="8595300" cy="1005900"/>
          </a:xfrm>
          <a:prstGeom prst="rect">
            <a:avLst/>
          </a:prstGeom>
          <a:solidFill>
            <a:srgbClr val="F8FAFC"/>
          </a:solidFill>
          <a:ln cap="flat" cmpd="sng" w="12700">
            <a:solidFill>
              <a:srgbClr val="7C3AE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8" name="Google Shape;768;p59"/>
          <p:cNvSpPr/>
          <p:nvPr/>
        </p:nvSpPr>
        <p:spPr>
          <a:xfrm>
            <a:off x="457200" y="3626069"/>
            <a:ext cx="27432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C3AED"/>
              </a:buClr>
              <a:buSzPts val="1200"/>
              <a:buFont typeface="Outfit"/>
              <a:buNone/>
            </a:pPr>
            <a:r>
              <a:rPr b="1" i="0" lang="en" sz="1200" u="none" cap="none" strike="noStrike">
                <a:solidFill>
                  <a:srgbClr val="7C3AED"/>
                </a:solidFill>
                <a:latin typeface="Outfit"/>
                <a:ea typeface="Outfit"/>
                <a:cs typeface="Outfit"/>
                <a:sym typeface="Outfit"/>
              </a:rPr>
              <a:t>Mitchell &amp; Krakauer (2023)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9" name="Google Shape;769;p59"/>
          <p:cNvSpPr/>
          <p:nvPr/>
        </p:nvSpPr>
        <p:spPr>
          <a:xfrm>
            <a:off x="457200" y="3946109"/>
            <a:ext cx="27432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C3AED"/>
              </a:buClr>
              <a:buSzPts val="1200"/>
              <a:buFont typeface="Outfit"/>
              <a:buNone/>
            </a:pPr>
            <a:r>
              <a:rPr b="0" i="1" lang="en" sz="1200" u="none" cap="none" strike="noStrike">
                <a:solidFill>
                  <a:srgbClr val="7C3AED"/>
                </a:solidFill>
                <a:latin typeface="Outfit"/>
                <a:ea typeface="Outfit"/>
                <a:cs typeface="Outfit"/>
                <a:sym typeface="Outfit"/>
              </a:rPr>
              <a:t>The debate over understanding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0" name="Google Shape;770;p59"/>
          <p:cNvSpPr/>
          <p:nvPr/>
        </p:nvSpPr>
        <p:spPr>
          <a:xfrm>
            <a:off x="3291840" y="3671789"/>
            <a:ext cx="5394900" cy="82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200"/>
              <a:buFont typeface="Outfit"/>
              <a:buNone/>
            </a:pPr>
            <a:r>
              <a:rPr b="0" i="0" lang="en" sz="12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Maps both sides: what would it even mean for an LLM to "understand"? Argues we need to operationalize the concept before we can test it.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1" name="Google Shape;771;p59"/>
          <p:cNvSpPr txBox="1"/>
          <p:nvPr>
            <p:ph type="title"/>
          </p:nvPr>
        </p:nvSpPr>
        <p:spPr>
          <a:xfrm>
            <a:off x="311700" y="228600"/>
            <a:ext cx="8520600" cy="61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understanding debate</a:t>
            </a:r>
            <a:endParaRPr/>
          </a:p>
        </p:txBody>
      </p:sp>
      <p:sp>
        <p:nvSpPr>
          <p:cNvPr id="772" name="Google Shape;772;p59"/>
          <p:cNvSpPr txBox="1"/>
          <p:nvPr>
            <p:ph idx="2" type="subTitle"/>
          </p:nvPr>
        </p:nvSpPr>
        <p:spPr>
          <a:xfrm>
            <a:off x="-3870" y="4726261"/>
            <a:ext cx="4046100" cy="411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77" name="Shape 7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" name="Google Shape;778;p60"/>
          <p:cNvSpPr/>
          <p:nvPr/>
        </p:nvSpPr>
        <p:spPr>
          <a:xfrm>
            <a:off x="274320" y="1407937"/>
            <a:ext cx="40233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6A34A"/>
              </a:buClr>
              <a:buSzPts val="1500"/>
              <a:buFont typeface="Outfit"/>
              <a:buNone/>
            </a:pPr>
            <a:r>
              <a:rPr b="1" i="0" lang="en" sz="1500" u="none" cap="none" strike="noStrike">
                <a:solidFill>
                  <a:srgbClr val="16A34A"/>
                </a:solidFill>
                <a:latin typeface="Outfit"/>
                <a:ea typeface="Outfit"/>
                <a:cs typeface="Outfit"/>
                <a:sym typeface="Outfit"/>
              </a:rPr>
              <a:t>What seems clear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9" name="Google Shape;779;p60"/>
          <p:cNvSpPr/>
          <p:nvPr/>
        </p:nvSpPr>
        <p:spPr>
          <a:xfrm>
            <a:off x="411480" y="1819417"/>
            <a:ext cx="37491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100"/>
              <a:buFont typeface="Outfit"/>
              <a:buNone/>
            </a:pPr>
            <a:r>
              <a:rPr b="0" i="0" lang="en" sz="11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✓ Scaling improves loss predictably (power laws)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0" name="Google Shape;780;p60"/>
          <p:cNvSpPr/>
          <p:nvPr/>
        </p:nvSpPr>
        <p:spPr>
          <a:xfrm>
            <a:off x="411480" y="2185177"/>
            <a:ext cx="37491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100"/>
              <a:buFont typeface="Outfit"/>
              <a:buNone/>
            </a:pPr>
            <a:r>
              <a:rPr b="0" i="0" lang="en" sz="11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✓ Pretrained representations transfer broadly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1" name="Google Shape;781;p60"/>
          <p:cNvSpPr/>
          <p:nvPr/>
        </p:nvSpPr>
        <p:spPr>
          <a:xfrm>
            <a:off x="411480" y="2550937"/>
            <a:ext cx="37491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100"/>
              <a:buFont typeface="Outfit"/>
              <a:buNone/>
            </a:pPr>
            <a:r>
              <a:rPr b="0" i="0" lang="en" sz="11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✓ In-context learning appears with scale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2" name="Google Shape;782;p60"/>
          <p:cNvSpPr/>
          <p:nvPr/>
        </p:nvSpPr>
        <p:spPr>
          <a:xfrm>
            <a:off x="411480" y="2916697"/>
            <a:ext cx="37491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100"/>
              <a:buFont typeface="Outfit"/>
              <a:buNone/>
            </a:pPr>
            <a:r>
              <a:rPr b="0" i="0" lang="en" sz="11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✓ Alignment (RLHF) can matter more than raw size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3" name="Google Shape;783;p60"/>
          <p:cNvSpPr/>
          <p:nvPr/>
        </p:nvSpPr>
        <p:spPr>
          <a:xfrm>
            <a:off x="411480" y="3282457"/>
            <a:ext cx="37491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100"/>
              <a:buFont typeface="Outfit"/>
              <a:buNone/>
            </a:pPr>
            <a:r>
              <a:rPr b="0" i="0" lang="en" sz="11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✓ Data/parameter balance matters (Chinchilla)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4" name="Google Shape;784;p60"/>
          <p:cNvSpPr/>
          <p:nvPr/>
        </p:nvSpPr>
        <p:spPr>
          <a:xfrm>
            <a:off x="411480" y="3648217"/>
            <a:ext cx="37491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100"/>
              <a:buFont typeface="Outfit"/>
              <a:buNone/>
            </a:pPr>
            <a:r>
              <a:rPr b="0" i="0" lang="en" sz="11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✓ Reasoning can emerge from pure RL (DeepSeek)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5" name="Google Shape;785;p60"/>
          <p:cNvSpPr/>
          <p:nvPr/>
        </p:nvSpPr>
        <p:spPr>
          <a:xfrm>
            <a:off x="411480" y="4013977"/>
            <a:ext cx="37491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100"/>
              <a:buFont typeface="Outfit"/>
              <a:buNone/>
            </a:pPr>
            <a:r>
              <a:rPr b="0" i="0" lang="en" sz="11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✓ Vision and language representations partially converge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786" name="Google Shape;786;p60"/>
          <p:cNvGrpSpPr/>
          <p:nvPr/>
        </p:nvGrpSpPr>
        <p:grpSpPr>
          <a:xfrm>
            <a:off x="4846320" y="1407937"/>
            <a:ext cx="4023300" cy="2926140"/>
            <a:chOff x="4846320" y="960120"/>
            <a:chExt cx="4023300" cy="2926140"/>
          </a:xfrm>
        </p:grpSpPr>
        <p:sp>
          <p:nvSpPr>
            <p:cNvPr id="787" name="Google Shape;787;p60"/>
            <p:cNvSpPr/>
            <p:nvPr/>
          </p:nvSpPr>
          <p:spPr>
            <a:xfrm>
              <a:off x="4846320" y="960120"/>
              <a:ext cx="4023300" cy="320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Clr>
                  <a:srgbClr val="D97706"/>
                </a:buClr>
                <a:buSzPts val="1500"/>
                <a:buFont typeface="Outfit"/>
                <a:buNone/>
              </a:pPr>
              <a:r>
                <a:rPr b="1" i="0" lang="en" sz="1500" u="none" cap="none" strike="noStrike">
                  <a:solidFill>
                    <a:srgbClr val="D97706"/>
                  </a:solidFill>
                  <a:latin typeface="Outfit"/>
                  <a:ea typeface="Outfit"/>
                  <a:cs typeface="Outfit"/>
                  <a:sym typeface="Outfit"/>
                </a:rPr>
                <a:t>What's still debated</a:t>
              </a:r>
              <a:endPara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88" name="Google Shape;788;p60"/>
            <p:cNvSpPr/>
            <p:nvPr/>
          </p:nvSpPr>
          <p:spPr>
            <a:xfrm>
              <a:off x="4983480" y="1371600"/>
              <a:ext cx="3749100" cy="320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75569"/>
                </a:buClr>
                <a:buSzPts val="1100"/>
                <a:buFont typeface="Outfit"/>
                <a:buNone/>
              </a:pPr>
              <a:r>
                <a:rPr b="0" i="0" lang="en" sz="1100" u="none" cap="none" strike="noStrike">
                  <a:solidFill>
                    <a:srgbClr val="475569"/>
                  </a:solidFill>
                  <a:latin typeface="Outfit"/>
                  <a:ea typeface="Outfit"/>
                  <a:cs typeface="Outfit"/>
                  <a:sym typeface="Outfit"/>
                </a:rPr>
                <a:t>? Are "emergent" abilities real or metric artifacts?</a:t>
              </a:r>
              <a:endPara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89" name="Google Shape;789;p60"/>
            <p:cNvSpPr/>
            <p:nvPr/>
          </p:nvSpPr>
          <p:spPr>
            <a:xfrm>
              <a:off x="4983480" y="1737360"/>
              <a:ext cx="3749100" cy="320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75569"/>
                </a:buClr>
                <a:buSzPts val="1100"/>
                <a:buFont typeface="Outfit"/>
                <a:buNone/>
              </a:pPr>
              <a:r>
                <a:rPr b="0" i="0" lang="en" sz="1100" u="none" cap="none" strike="noStrike">
                  <a:solidFill>
                    <a:srgbClr val="475569"/>
                  </a:solidFill>
                  <a:latin typeface="Outfit"/>
                  <a:ea typeface="Outfit"/>
                  <a:cs typeface="Outfit"/>
                  <a:sym typeface="Outfit"/>
                </a:rPr>
                <a:t>? What does ICL actually compute?</a:t>
              </a:r>
              <a:endPara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90" name="Google Shape;790;p60"/>
            <p:cNvSpPr/>
            <p:nvPr/>
          </p:nvSpPr>
          <p:spPr>
            <a:xfrm>
              <a:off x="4983480" y="2103120"/>
              <a:ext cx="3749100" cy="320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75569"/>
                </a:buClr>
                <a:buSzPts val="1100"/>
                <a:buFont typeface="Outfit"/>
                <a:buNone/>
              </a:pPr>
              <a:r>
                <a:rPr b="0" i="0" lang="en" sz="1100" u="none" cap="none" strike="noStrike">
                  <a:solidFill>
                    <a:srgbClr val="475569"/>
                  </a:solidFill>
                  <a:latin typeface="Outfit"/>
                  <a:ea typeface="Outfit"/>
                  <a:cs typeface="Outfit"/>
                  <a:sym typeface="Outfit"/>
                </a:rPr>
                <a:t>? Do LLMs "understand" or just pattern-match?</a:t>
              </a:r>
              <a:endPara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91" name="Google Shape;791;p60"/>
            <p:cNvSpPr/>
            <p:nvPr/>
          </p:nvSpPr>
          <p:spPr>
            <a:xfrm>
              <a:off x="4983480" y="2468880"/>
              <a:ext cx="3749100" cy="320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75569"/>
                </a:buClr>
                <a:buSzPts val="1100"/>
                <a:buFont typeface="Outfit"/>
                <a:buNone/>
              </a:pPr>
              <a:r>
                <a:rPr b="0" i="0" lang="en" sz="1100" u="none" cap="none" strike="noStrike">
                  <a:solidFill>
                    <a:srgbClr val="475569"/>
                  </a:solidFill>
                  <a:latin typeface="Outfit"/>
                  <a:ea typeface="Outfit"/>
                  <a:cs typeface="Outfit"/>
                  <a:sym typeface="Outfit"/>
                </a:rPr>
                <a:t>? Is convergence deep or superficial?</a:t>
              </a:r>
              <a:endPara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92" name="Google Shape;792;p60"/>
            <p:cNvSpPr/>
            <p:nvPr/>
          </p:nvSpPr>
          <p:spPr>
            <a:xfrm>
              <a:off x="4983480" y="2834640"/>
              <a:ext cx="3749100" cy="320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75569"/>
                </a:buClr>
                <a:buSzPts val="1100"/>
                <a:buFont typeface="Outfit"/>
                <a:buNone/>
              </a:pPr>
              <a:r>
                <a:rPr b="0" i="0" lang="en" sz="1100" u="none" cap="none" strike="noStrike">
                  <a:solidFill>
                    <a:srgbClr val="475569"/>
                  </a:solidFill>
                  <a:latin typeface="Outfit"/>
                  <a:ea typeface="Outfit"/>
                  <a:cs typeface="Outfit"/>
                  <a:sym typeface="Outfit"/>
                </a:rPr>
                <a:t>? Will scaling continue to produce new capabilities?</a:t>
              </a:r>
              <a:endPara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93" name="Google Shape;793;p60"/>
            <p:cNvSpPr/>
            <p:nvPr/>
          </p:nvSpPr>
          <p:spPr>
            <a:xfrm>
              <a:off x="4983480" y="3200400"/>
              <a:ext cx="3749100" cy="320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75569"/>
                </a:buClr>
                <a:buSzPts val="1100"/>
                <a:buFont typeface="Outfit"/>
                <a:buNone/>
              </a:pPr>
              <a:r>
                <a:rPr b="0" i="0" lang="en" sz="1100" u="none" cap="none" strike="noStrike">
                  <a:solidFill>
                    <a:srgbClr val="475569"/>
                  </a:solidFill>
                  <a:latin typeface="Outfit"/>
                  <a:ea typeface="Outfit"/>
                  <a:cs typeface="Outfit"/>
                  <a:sym typeface="Outfit"/>
                </a:rPr>
                <a:t>? Is form alone sufficient for meaning?</a:t>
              </a:r>
              <a:endPara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94" name="Google Shape;794;p60"/>
            <p:cNvSpPr/>
            <p:nvPr/>
          </p:nvSpPr>
          <p:spPr>
            <a:xfrm>
              <a:off x="4983480" y="3566160"/>
              <a:ext cx="3749100" cy="320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75569"/>
                </a:buClr>
                <a:buSzPts val="1100"/>
                <a:buFont typeface="Outfit"/>
                <a:buNone/>
              </a:pPr>
              <a:r>
                <a:rPr b="0" i="0" lang="en" sz="1100" u="none" cap="none" strike="noStrike">
                  <a:solidFill>
                    <a:srgbClr val="475569"/>
                  </a:solidFill>
                  <a:latin typeface="Outfit"/>
                  <a:ea typeface="Outfit"/>
                  <a:cs typeface="Outfit"/>
                  <a:sym typeface="Outfit"/>
                </a:rPr>
                <a:t>? What's missing that biology has?</a:t>
              </a:r>
              <a:endPara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795" name="Google Shape;795;p60"/>
          <p:cNvSpPr txBox="1"/>
          <p:nvPr>
            <p:ph type="title"/>
          </p:nvPr>
        </p:nvSpPr>
        <p:spPr>
          <a:xfrm>
            <a:off x="311700" y="228600"/>
            <a:ext cx="8520600" cy="61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</a:t>
            </a:r>
            <a:endParaRPr/>
          </a:p>
        </p:txBody>
      </p:sp>
      <p:sp>
        <p:nvSpPr>
          <p:cNvPr id="796" name="Google Shape;796;p60"/>
          <p:cNvSpPr txBox="1"/>
          <p:nvPr>
            <p:ph idx="2" type="subTitle"/>
          </p:nvPr>
        </p:nvSpPr>
        <p:spPr>
          <a:xfrm>
            <a:off x="-3870" y="4726261"/>
            <a:ext cx="4046100" cy="411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01" name="Shape 8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2" name="Google Shape;802;p61"/>
          <p:cNvSpPr/>
          <p:nvPr/>
        </p:nvSpPr>
        <p:spPr>
          <a:xfrm>
            <a:off x="182875" y="1695325"/>
            <a:ext cx="1920300" cy="1737300"/>
          </a:xfrm>
          <a:prstGeom prst="rect">
            <a:avLst/>
          </a:prstGeom>
          <a:solidFill>
            <a:srgbClr val="F8FAFC"/>
          </a:solidFill>
          <a:ln cap="flat" cmpd="sng" w="19050">
            <a:solidFill>
              <a:srgbClr val="4F46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3" name="Google Shape;803;p61"/>
          <p:cNvSpPr/>
          <p:nvPr/>
        </p:nvSpPr>
        <p:spPr>
          <a:xfrm>
            <a:off x="182880" y="1741056"/>
            <a:ext cx="19203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F46E5"/>
              </a:buClr>
              <a:buSzPts val="1400"/>
              <a:buFont typeface="Outfit"/>
              <a:buNone/>
            </a:pPr>
            <a:r>
              <a:rPr b="1" i="0" lang="en" sz="1400" u="none" cap="none" strike="noStrike">
                <a:solidFill>
                  <a:srgbClr val="4F46E5"/>
                </a:solidFill>
                <a:latin typeface="Outfit"/>
                <a:ea typeface="Outfit"/>
                <a:cs typeface="Outfit"/>
                <a:sym typeface="Outfit"/>
              </a:rPr>
              <a:t>Pretraining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F46E5"/>
              </a:buClr>
              <a:buSzPts val="1400"/>
              <a:buFont typeface="Outfit"/>
              <a:buNone/>
            </a:pPr>
            <a:r>
              <a:rPr b="1" i="0" lang="en" sz="1400" u="none" cap="none" strike="noStrike">
                <a:solidFill>
                  <a:srgbClr val="4F46E5"/>
                </a:solidFill>
                <a:latin typeface="Outfit"/>
                <a:ea typeface="Outfit"/>
                <a:cs typeface="Outfit"/>
                <a:sym typeface="Outfit"/>
              </a:rPr>
              <a:t>&amp; Transfer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4" name="Google Shape;804;p61"/>
          <p:cNvSpPr/>
          <p:nvPr/>
        </p:nvSpPr>
        <p:spPr>
          <a:xfrm>
            <a:off x="274325" y="2381125"/>
            <a:ext cx="1920300" cy="1737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Outfit"/>
              <a:buNone/>
            </a:pPr>
            <a:r>
              <a:rPr b="0" i="0" lang="en" sz="10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1. Brown et al. (</a:t>
            </a:r>
            <a:r>
              <a:rPr lang="en" sz="1000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GPT-3</a:t>
            </a:r>
            <a:r>
              <a:rPr b="0" i="0" lang="en" sz="10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Outfit"/>
              <a:buNone/>
            </a:pPr>
            <a:r>
              <a:rPr b="0" i="0" lang="en" sz="10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2. Ouyang et al. (</a:t>
            </a:r>
            <a:r>
              <a:rPr lang="en" sz="1000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InstructGPT</a:t>
            </a:r>
            <a:r>
              <a:rPr b="0" i="0" lang="en" sz="10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5" name="Google Shape;805;p61"/>
          <p:cNvSpPr/>
          <p:nvPr/>
        </p:nvSpPr>
        <p:spPr>
          <a:xfrm>
            <a:off x="2285993" y="1695325"/>
            <a:ext cx="2194500" cy="1737300"/>
          </a:xfrm>
          <a:prstGeom prst="rect">
            <a:avLst/>
          </a:prstGeom>
          <a:solidFill>
            <a:srgbClr val="F8FAFC"/>
          </a:solidFill>
          <a:ln cap="flat" cmpd="sng" w="19050">
            <a:solidFill>
              <a:srgbClr val="0891B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6" name="Google Shape;806;p61"/>
          <p:cNvSpPr/>
          <p:nvPr/>
        </p:nvSpPr>
        <p:spPr>
          <a:xfrm>
            <a:off x="2286000" y="1741056"/>
            <a:ext cx="21945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891B2"/>
              </a:buClr>
              <a:buSzPts val="1400"/>
              <a:buFont typeface="Outfit"/>
              <a:buNone/>
            </a:pPr>
            <a:r>
              <a:rPr b="1" i="0" lang="en" sz="1400" u="none" cap="none" strike="noStrike">
                <a:solidFill>
                  <a:srgbClr val="0891B2"/>
                </a:solidFill>
                <a:latin typeface="Outfit"/>
                <a:ea typeface="Outfit"/>
                <a:cs typeface="Outfit"/>
                <a:sym typeface="Outfit"/>
              </a:rPr>
              <a:t>ICL &amp;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891B2"/>
              </a:buClr>
              <a:buSzPts val="1400"/>
              <a:buFont typeface="Outfit"/>
              <a:buNone/>
            </a:pPr>
            <a:r>
              <a:rPr b="1" i="0" lang="en" sz="1400" u="none" cap="none" strike="noStrike">
                <a:solidFill>
                  <a:srgbClr val="0891B2"/>
                </a:solidFill>
                <a:latin typeface="Outfit"/>
                <a:ea typeface="Outfit"/>
                <a:cs typeface="Outfit"/>
                <a:sym typeface="Outfit"/>
              </a:rPr>
              <a:t>Reasoning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7" name="Google Shape;807;p61"/>
          <p:cNvSpPr/>
          <p:nvPr/>
        </p:nvSpPr>
        <p:spPr>
          <a:xfrm>
            <a:off x="2377440" y="2381136"/>
            <a:ext cx="2011800" cy="1737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Outfit"/>
              <a:buNone/>
            </a:pPr>
            <a:r>
              <a:rPr b="0" i="0" lang="en" sz="10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3. Min et al. (random labels)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Outfit"/>
              <a:buNone/>
            </a:pPr>
            <a:r>
              <a:rPr b="0" i="0" lang="en" sz="10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4. Russin et al. (IWL vs ICL)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Outfit"/>
              <a:buNone/>
            </a:pPr>
            <a:r>
              <a:rPr b="0" i="0" lang="en" sz="10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5. Wei (chain-of-thought)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Outfit"/>
              <a:buNone/>
            </a:pPr>
            <a:r>
              <a:rPr b="0" i="0" lang="en" sz="10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6. Guo et al. (DeepSeek</a:t>
            </a:r>
            <a:r>
              <a:rPr lang="en" sz="1000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8" name="Google Shape;808;p61"/>
          <p:cNvSpPr/>
          <p:nvPr/>
        </p:nvSpPr>
        <p:spPr>
          <a:xfrm>
            <a:off x="4663432" y="1695325"/>
            <a:ext cx="1920300" cy="1737300"/>
          </a:xfrm>
          <a:prstGeom prst="rect">
            <a:avLst/>
          </a:prstGeom>
          <a:solidFill>
            <a:srgbClr val="F8FAFC"/>
          </a:solidFill>
          <a:ln cap="flat" cmpd="sng" w="19050">
            <a:solidFill>
              <a:srgbClr val="D977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9" name="Google Shape;809;p61"/>
          <p:cNvSpPr/>
          <p:nvPr/>
        </p:nvSpPr>
        <p:spPr>
          <a:xfrm>
            <a:off x="4663440" y="1741056"/>
            <a:ext cx="19203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97706"/>
              </a:buClr>
              <a:buSzPts val="1400"/>
              <a:buFont typeface="Outfit"/>
              <a:buNone/>
            </a:pPr>
            <a:r>
              <a:rPr b="1" i="0" lang="en" sz="1400" u="none" cap="none" strike="noStrike">
                <a:solidFill>
                  <a:srgbClr val="D97706"/>
                </a:solidFill>
                <a:latin typeface="Outfit"/>
                <a:ea typeface="Outfit"/>
                <a:cs typeface="Outfit"/>
                <a:sym typeface="Outfit"/>
              </a:rPr>
              <a:t>Vision &amp;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97706"/>
              </a:buClr>
              <a:buSzPts val="1400"/>
              <a:buFont typeface="Outfit"/>
              <a:buNone/>
            </a:pPr>
            <a:r>
              <a:rPr b="1" i="0" lang="en" sz="1400" u="none" cap="none" strike="noStrike">
                <a:solidFill>
                  <a:srgbClr val="D97706"/>
                </a:solidFill>
                <a:latin typeface="Outfit"/>
                <a:ea typeface="Outfit"/>
                <a:cs typeface="Outfit"/>
                <a:sym typeface="Outfit"/>
              </a:rPr>
              <a:t>Language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0" name="Google Shape;810;p61"/>
          <p:cNvSpPr/>
          <p:nvPr/>
        </p:nvSpPr>
        <p:spPr>
          <a:xfrm>
            <a:off x="4754880" y="2381136"/>
            <a:ext cx="1737300" cy="1737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Outfit"/>
              <a:buNone/>
            </a:pPr>
            <a:r>
              <a:rPr b="0" i="0" lang="en" sz="10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7. Li et al. (alignment study)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Outfit"/>
              <a:buNone/>
            </a:pPr>
            <a:r>
              <a:rPr b="0" i="0" lang="en" sz="10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8. Liu et al. (LLaVA)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1" name="Google Shape;811;p61"/>
          <p:cNvSpPr/>
          <p:nvPr/>
        </p:nvSpPr>
        <p:spPr>
          <a:xfrm>
            <a:off x="6766550" y="1695325"/>
            <a:ext cx="2103000" cy="1737300"/>
          </a:xfrm>
          <a:prstGeom prst="rect">
            <a:avLst/>
          </a:prstGeom>
          <a:solidFill>
            <a:srgbClr val="F8FAFC"/>
          </a:solidFill>
          <a:ln cap="flat" cmpd="sng" w="19050">
            <a:solidFill>
              <a:srgbClr val="7C3AE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2" name="Google Shape;812;p61"/>
          <p:cNvSpPr/>
          <p:nvPr/>
        </p:nvSpPr>
        <p:spPr>
          <a:xfrm>
            <a:off x="6766560" y="1741056"/>
            <a:ext cx="21030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C3AED"/>
              </a:buClr>
              <a:buSzPts val="1400"/>
              <a:buFont typeface="Outfit"/>
              <a:buNone/>
            </a:pPr>
            <a:r>
              <a:rPr b="1" i="0" lang="en" sz="1400" u="none" cap="none" strike="noStrike">
                <a:solidFill>
                  <a:srgbClr val="7C3AED"/>
                </a:solidFill>
                <a:latin typeface="Outfit"/>
                <a:ea typeface="Outfit"/>
                <a:cs typeface="Outfit"/>
                <a:sym typeface="Outfit"/>
              </a:rPr>
              <a:t>Critical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C3AED"/>
              </a:buClr>
              <a:buSzPts val="1400"/>
              <a:buFont typeface="Outfit"/>
              <a:buNone/>
            </a:pPr>
            <a:r>
              <a:rPr b="1" i="0" lang="en" sz="1400" u="none" cap="none" strike="noStrike">
                <a:solidFill>
                  <a:srgbClr val="7C3AED"/>
                </a:solidFill>
                <a:latin typeface="Outfit"/>
                <a:ea typeface="Outfit"/>
                <a:cs typeface="Outfit"/>
                <a:sym typeface="Outfit"/>
              </a:rPr>
              <a:t>Perspectives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3" name="Google Shape;813;p61"/>
          <p:cNvSpPr/>
          <p:nvPr/>
        </p:nvSpPr>
        <p:spPr>
          <a:xfrm>
            <a:off x="6858000" y="2381125"/>
            <a:ext cx="2103000" cy="1737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Outfit"/>
              <a:buNone/>
            </a:pPr>
            <a:r>
              <a:rPr b="0" i="0" lang="en" sz="10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9. Mahowald et al. (competence)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Outfit"/>
              <a:buNone/>
            </a:pPr>
            <a:r>
              <a:rPr b="0" i="0" lang="en" sz="10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10. Bender et al. (parrots)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Outfit"/>
              <a:buNone/>
            </a:pPr>
            <a:r>
              <a:rPr b="0" i="0" lang="en" sz="1000" u="none" cap="none" strike="noStrike">
                <a:solidFill>
                  <a:srgbClr val="475569"/>
                </a:solidFill>
                <a:latin typeface="Outfit"/>
                <a:ea typeface="Outfit"/>
                <a:cs typeface="Outfit"/>
                <a:sym typeface="Outfit"/>
              </a:rPr>
              <a:t>11. Mitchell &amp; Krakauer (debate)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4" name="Google Shape;814;p61"/>
          <p:cNvSpPr txBox="1"/>
          <p:nvPr>
            <p:ph type="title"/>
          </p:nvPr>
        </p:nvSpPr>
        <p:spPr>
          <a:xfrm>
            <a:off x="311700" y="228600"/>
            <a:ext cx="8520600" cy="61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Thursday: lightning talks — 11 papers, 4 themes</a:t>
            </a:r>
            <a:endParaRPr/>
          </a:p>
        </p:txBody>
      </p:sp>
      <p:sp>
        <p:nvSpPr>
          <p:cNvPr id="815" name="Google Shape;815;p61"/>
          <p:cNvSpPr txBox="1"/>
          <p:nvPr>
            <p:ph idx="2" type="subTitle"/>
          </p:nvPr>
        </p:nvSpPr>
        <p:spPr>
          <a:xfrm>
            <a:off x="-3870" y="4726261"/>
            <a:ext cx="4046100" cy="411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9" name="Shape 8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0" name="Google Shape;820;p62"/>
          <p:cNvSpPr txBox="1"/>
          <p:nvPr>
            <p:ph type="title"/>
          </p:nvPr>
        </p:nvSpPr>
        <p:spPr>
          <a:xfrm>
            <a:off x="311700" y="228600"/>
            <a:ext cx="8520600" cy="61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</a:t>
            </a:r>
            <a:endParaRPr/>
          </a:p>
        </p:txBody>
      </p:sp>
      <p:sp>
        <p:nvSpPr>
          <p:cNvPr id="821" name="Google Shape;821;p62"/>
          <p:cNvSpPr txBox="1"/>
          <p:nvPr>
            <p:ph idx="1" type="body"/>
          </p:nvPr>
        </p:nvSpPr>
        <p:spPr>
          <a:xfrm>
            <a:off x="311700" y="1191850"/>
            <a:ext cx="8520600" cy="153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If you had to bet: in 10 years, will scaling alone get us to human-level reasoning, or will we need something fundamentally different? </a:t>
            </a:r>
            <a:br>
              <a:rPr lang="en"/>
            </a:br>
            <a:br>
              <a:rPr lang="en"/>
            </a:br>
            <a:r>
              <a:rPr lang="en"/>
              <a:t>Use</a:t>
            </a:r>
            <a:r>
              <a:rPr lang="en"/>
              <a:t> today's lecture to informs your answer…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utfi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