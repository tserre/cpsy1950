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6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y="5143500" cx="9144000"/>
  <p:notesSz cx="6858000" cy="9144000"/>
  <p:embeddedFontLst>
    <p:embeddedFont>
      <p:font typeface="Outfit"/>
      <p:regular r:id="rId13"/>
      <p:bold r:id="rId14"/>
    </p:embeddedFont>
    <p:embeddedFont>
      <p:font typeface="Zilla Slab Light"/>
      <p:bold r:id="rId15"/>
      <p:boldItalic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32F7DC2-BC93-442A-8895-92450A3939CA}">
  <a:tblStyle styleId="{C32F7DC2-BC93-442A-8895-92450A3939C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font" Target="fonts/Outfit-regular.fntdata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font" Target="fonts/ZillaSlabLight-bold.fntdata"/><Relationship Id="rId14" Type="http://schemas.openxmlformats.org/officeDocument/2006/relationships/font" Target="fonts/Outfit-bold.fntdata"/><Relationship Id="rId16" Type="http://schemas.openxmlformats.org/officeDocument/2006/relationships/font" Target="fonts/ZillaSlabLight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bc9671085c_1_459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g3bc9671085c_1_459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g3bc9671085c_1_459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bc9671085c_1_471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2" name="Google Shape;92;g3bc9671085c_1_471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g3bc9671085c_1_471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bc9671085c_1_465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g3bc9671085c_1_465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g3bc9671085c_1_465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bc9671085c_1_51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2" name="Google Shape;112;g3bc9671085c_1_512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g3bc9671085c_1_512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bc9671085c_1_519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0" name="Google Shape;120;g3bc9671085c_1_519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g3bc9671085c_1_519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bc9671085c_1_531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g3bc9671085c_1_531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g3bc9671085c_1_531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2286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91850"/>
            <a:ext cx="8520600" cy="359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683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  <a:defRPr sz="2200"/>
            </a:lvl1pPr>
            <a:lvl2pPr indent="-3683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  <a:defRPr sz="2200"/>
            </a:lvl2pPr>
            <a:lvl3pPr indent="-3683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  <a:defRPr sz="2200"/>
            </a:lvl3pPr>
            <a:lvl4pPr indent="-3683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  <a:defRPr sz="2200"/>
            </a:lvl4pPr>
            <a:lvl5pPr indent="-3683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  <a:defRPr sz="2200"/>
            </a:lvl5pPr>
            <a:lvl6pPr indent="-3683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  <a:defRPr sz="2200"/>
            </a:lvl6pPr>
            <a:lvl7pPr indent="-3683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  <a:defRPr sz="2200"/>
            </a:lvl7pPr>
            <a:lvl8pPr indent="-3683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  <a:defRPr sz="2200"/>
            </a:lvl8pPr>
            <a:lvl9pPr indent="-3683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  <a:defRPr sz="22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Google Shape;20;p4"/>
          <p:cNvSpPr txBox="1"/>
          <p:nvPr>
            <p:ph idx="2" type="subTitle"/>
          </p:nvPr>
        </p:nvSpPr>
        <p:spPr>
          <a:xfrm>
            <a:off x="-3870" y="4726261"/>
            <a:ext cx="4046100" cy="41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Font typeface="Zilla Slab Light"/>
              <a:buNone/>
              <a:defRPr i="1" sz="1200">
                <a:latin typeface="Zilla Slab Light"/>
                <a:ea typeface="Zilla Slab Light"/>
                <a:cs typeface="Zilla Slab Light"/>
                <a:sym typeface="Zilla Slab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Zilla Slab Light"/>
              <a:buNone/>
              <a:defRPr i="1" sz="1200">
                <a:latin typeface="Zilla Slab Light"/>
                <a:ea typeface="Zilla Slab Light"/>
                <a:cs typeface="Zilla Slab Light"/>
                <a:sym typeface="Zilla Slab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Zilla Slab Light"/>
              <a:buNone/>
              <a:defRPr i="1" sz="1200">
                <a:latin typeface="Zilla Slab Light"/>
                <a:ea typeface="Zilla Slab Light"/>
                <a:cs typeface="Zilla Slab Light"/>
                <a:sym typeface="Zilla Slab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Zilla Slab Light"/>
              <a:buNone/>
              <a:defRPr i="1" sz="1200">
                <a:latin typeface="Zilla Slab Light"/>
                <a:ea typeface="Zilla Slab Light"/>
                <a:cs typeface="Zilla Slab Light"/>
                <a:sym typeface="Zilla Slab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Zilla Slab Light"/>
              <a:buNone/>
              <a:defRPr i="1" sz="1200">
                <a:latin typeface="Zilla Slab Light"/>
                <a:ea typeface="Zilla Slab Light"/>
                <a:cs typeface="Zilla Slab Light"/>
                <a:sym typeface="Zilla Slab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Zilla Slab Light"/>
              <a:buNone/>
              <a:defRPr i="1" sz="1200">
                <a:latin typeface="Zilla Slab Light"/>
                <a:ea typeface="Zilla Slab Light"/>
                <a:cs typeface="Zilla Slab Light"/>
                <a:sym typeface="Zilla Slab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Zilla Slab Light"/>
              <a:buNone/>
              <a:defRPr i="1" sz="1200">
                <a:latin typeface="Zilla Slab Light"/>
                <a:ea typeface="Zilla Slab Light"/>
                <a:cs typeface="Zilla Slab Light"/>
                <a:sym typeface="Zilla Slab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Zilla Slab Light"/>
              <a:buNone/>
              <a:defRPr i="1" sz="1200">
                <a:latin typeface="Zilla Slab Light"/>
                <a:ea typeface="Zilla Slab Light"/>
                <a:cs typeface="Zilla Slab Light"/>
                <a:sym typeface="Zilla Slab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Zilla Slab Light"/>
              <a:buNone/>
              <a:defRPr i="1" sz="1200">
                <a:latin typeface="Zilla Slab Light"/>
                <a:ea typeface="Zilla Slab Light"/>
                <a:cs typeface="Zilla Slab Light"/>
                <a:sym typeface="Zilla Slab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title"/>
          </p:nvPr>
        </p:nvSpPr>
        <p:spPr>
          <a:xfrm>
            <a:off x="311700" y="2286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6" name="Google Shape;26;p5"/>
          <p:cNvSpPr txBox="1"/>
          <p:nvPr>
            <p:ph idx="3" type="subTitle"/>
          </p:nvPr>
        </p:nvSpPr>
        <p:spPr>
          <a:xfrm>
            <a:off x="65825" y="4866125"/>
            <a:ext cx="2358000" cy="19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Zilla Slab Light"/>
              <a:buNone/>
              <a:defRPr i="1" sz="1000">
                <a:latin typeface="Zilla Slab Light"/>
                <a:ea typeface="Zilla Slab Light"/>
                <a:cs typeface="Zilla Slab Light"/>
                <a:sym typeface="Zilla Slab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311700" y="2286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0" name="Google Shape;30;p6"/>
          <p:cNvSpPr txBox="1"/>
          <p:nvPr>
            <p:ph idx="1" type="subTitle"/>
          </p:nvPr>
        </p:nvSpPr>
        <p:spPr>
          <a:xfrm>
            <a:off x="65825" y="4866125"/>
            <a:ext cx="2358000" cy="19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Zilla Slab Light"/>
              <a:buNone/>
              <a:defRPr i="1" sz="1000">
                <a:latin typeface="Zilla Slab Light"/>
                <a:ea typeface="Zilla Slab Light"/>
                <a:cs typeface="Zilla Slab Light"/>
                <a:sym typeface="Zilla Slab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3" name="Google Shape;33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8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8" name="Google Shape;38;p8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9" name="Google Shape;39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9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2" name="Google Shape;4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6" name="Google Shape;46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2"/>
          <p:cNvSpPr txBox="1"/>
          <p:nvPr>
            <p:ph type="title"/>
          </p:nvPr>
        </p:nvSpPr>
        <p:spPr>
          <a:xfrm>
            <a:off x="457200" y="228600"/>
            <a:ext cx="8229600" cy="55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1" name="Google Shape;51;p12"/>
          <p:cNvSpPr txBox="1"/>
          <p:nvPr>
            <p:ph idx="1" type="body"/>
          </p:nvPr>
        </p:nvSpPr>
        <p:spPr>
          <a:xfrm>
            <a:off x="457200" y="1200150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indent="-342900" lvl="1" marL="9144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indent="-342900" lvl="2" marL="13716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indent="-342900" lvl="3" marL="18288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indent="-342900" lvl="4" marL="22860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indent="-342900" lvl="5" marL="27432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indent="-342900" lvl="6" marL="32004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indent="-342900" lvl="7" marL="36576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indent="-342900" lvl="8" marL="411480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/>
        </p:txBody>
      </p:sp>
      <p:sp>
        <p:nvSpPr>
          <p:cNvPr id="52" name="Google Shape;52;p12"/>
          <p:cNvSpPr txBox="1"/>
          <p:nvPr>
            <p:ph idx="10" type="dt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2"/>
          <p:cNvSpPr txBox="1"/>
          <p:nvPr>
            <p:ph idx="11" type="ftr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2">
  <p:cSld name="TITLE_AND_BODY_2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/>
          <p:nvPr>
            <p:ph type="title"/>
          </p:nvPr>
        </p:nvSpPr>
        <p:spPr>
          <a:xfrm>
            <a:off x="311700" y="23145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8350" lIns="108350" spcFirstLastPara="1" rIns="108350" wrap="square" tIns="10835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683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Outfit"/>
              <a:buChar char="●"/>
              <a:defRPr b="0" i="0" sz="2200" u="none" cap="none" strike="noStrike">
                <a:latin typeface="Outfit"/>
                <a:ea typeface="Outfit"/>
                <a:cs typeface="Outfit"/>
                <a:sym typeface="Outfit"/>
              </a:defRPr>
            </a:lvl1pPr>
            <a:lvl2pPr indent="-36830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Outfit"/>
              <a:buChar char="○"/>
              <a:defRPr b="0" i="0" sz="2200" u="none" cap="none" strike="noStrike">
                <a:latin typeface="Outfit"/>
                <a:ea typeface="Outfit"/>
                <a:cs typeface="Outfit"/>
                <a:sym typeface="Outfit"/>
              </a:defRPr>
            </a:lvl2pPr>
            <a:lvl3pPr indent="-36830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Outfit"/>
              <a:buChar char="■"/>
              <a:defRPr b="0" i="0" sz="2200" u="none" cap="none" strike="noStrike">
                <a:latin typeface="Outfit"/>
                <a:ea typeface="Outfit"/>
                <a:cs typeface="Outfit"/>
                <a:sym typeface="Outfit"/>
              </a:defRPr>
            </a:lvl3pPr>
            <a:lvl4pPr indent="-36830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Outfit"/>
              <a:buChar char="●"/>
              <a:defRPr b="0" i="0" sz="2200" u="none" cap="none" strike="noStrike">
                <a:latin typeface="Outfit"/>
                <a:ea typeface="Outfit"/>
                <a:cs typeface="Outfit"/>
                <a:sym typeface="Outfit"/>
              </a:defRPr>
            </a:lvl4pPr>
            <a:lvl5pPr indent="-36830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Outfit"/>
              <a:buChar char="○"/>
              <a:defRPr b="0" i="0" sz="2200" u="none" cap="none" strike="noStrike">
                <a:latin typeface="Outfit"/>
                <a:ea typeface="Outfit"/>
                <a:cs typeface="Outfit"/>
                <a:sym typeface="Outfit"/>
              </a:defRPr>
            </a:lvl5pPr>
            <a:lvl6pPr indent="-3683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Outfit"/>
              <a:buChar char="■"/>
              <a:defRPr b="0" i="0" sz="2200" u="none" cap="none" strike="noStrike">
                <a:latin typeface="Outfit"/>
                <a:ea typeface="Outfit"/>
                <a:cs typeface="Outfit"/>
                <a:sym typeface="Outfit"/>
              </a:defRPr>
            </a:lvl6pPr>
            <a:lvl7pPr indent="-3683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Outfit"/>
              <a:buChar char="●"/>
              <a:defRPr b="0" i="0" sz="2200" u="none" cap="none" strike="noStrike">
                <a:latin typeface="Outfit"/>
                <a:ea typeface="Outfit"/>
                <a:cs typeface="Outfit"/>
                <a:sym typeface="Outfit"/>
              </a:defRPr>
            </a:lvl7pPr>
            <a:lvl8pPr indent="-3683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Outfit"/>
              <a:buChar char="○"/>
              <a:defRPr b="0" i="0" sz="2200" u="none" cap="none" strike="noStrike">
                <a:latin typeface="Outfit"/>
                <a:ea typeface="Outfit"/>
                <a:cs typeface="Outfit"/>
                <a:sym typeface="Outfit"/>
              </a:defRPr>
            </a:lvl8pPr>
            <a:lvl9pPr indent="-3683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Outfit"/>
              <a:buChar char="■"/>
              <a:defRPr b="0" i="0" sz="2200" u="none" cap="none" strike="noStrike">
                <a:latin typeface="Outfit"/>
                <a:ea typeface="Outfit"/>
                <a:cs typeface="Outfit"/>
                <a:sym typeface="Outfit"/>
              </a:defRPr>
            </a:lvl9pPr>
          </a:lstStyle>
          <a:p/>
        </p:txBody>
      </p:sp>
      <p:sp>
        <p:nvSpPr>
          <p:cNvPr id="58" name="Google Shape;58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1">
    <p:bg>
      <p:bgPr>
        <a:solidFill>
          <a:srgbClr val="0F172A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/>
          <p:nvPr/>
        </p:nvSpPr>
        <p:spPr>
          <a:xfrm>
            <a:off x="0" y="4962822"/>
            <a:ext cx="9144000" cy="639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">
  <p:cSld name="CONTENT">
    <p:bg>
      <p:bgPr>
        <a:solidFill>
          <a:srgbClr val="FFFFFF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/>
          <p:nvPr/>
        </p:nvSpPr>
        <p:spPr>
          <a:xfrm>
            <a:off x="0" y="0"/>
            <a:ext cx="54900" cy="51435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15"/>
          <p:cNvSpPr txBox="1"/>
          <p:nvPr>
            <p:ph type="title"/>
          </p:nvPr>
        </p:nvSpPr>
        <p:spPr>
          <a:xfrm>
            <a:off x="548640" y="228600"/>
            <a:ext cx="80466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2800"/>
              <a:buNone/>
              <a:defRPr b="0" i="0" u="none" cap="none" strike="noStrike">
                <a:solidFill>
                  <a:srgbClr val="4F46E5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548640" y="1005840"/>
            <a:ext cx="8046600" cy="379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algn="l">
              <a:spcBef>
                <a:spcPts val="640"/>
              </a:spcBef>
              <a:spcAft>
                <a:spcPts val="0"/>
              </a:spcAft>
              <a:buSzPts val="2200"/>
              <a:buNone/>
              <a:defRPr i="0" sz="2200" u="none" cap="none" strike="noStrike"/>
            </a:lvl1pPr>
            <a:lvl2pPr indent="-368300" lvl="1" marL="914400" marR="0" algn="l">
              <a:spcBef>
                <a:spcPts val="1200"/>
              </a:spcBef>
              <a:spcAft>
                <a:spcPts val="0"/>
              </a:spcAft>
              <a:buSzPts val="2200"/>
              <a:buChar char="–"/>
              <a:defRPr i="0" sz="2200" u="none" cap="none" strike="noStrike"/>
            </a:lvl2pPr>
            <a:lvl3pPr indent="-368300" lvl="2" marL="1371600" marR="0" algn="l">
              <a:spcBef>
                <a:spcPts val="1200"/>
              </a:spcBef>
              <a:spcAft>
                <a:spcPts val="0"/>
              </a:spcAft>
              <a:buSzPts val="2200"/>
              <a:buChar char="•"/>
              <a:defRPr i="0" sz="2200" u="none" cap="none" strike="noStrike"/>
            </a:lvl3pPr>
            <a:lvl4pPr indent="-368300" lvl="3" marL="1828800" marR="0" algn="l">
              <a:spcBef>
                <a:spcPts val="1200"/>
              </a:spcBef>
              <a:spcAft>
                <a:spcPts val="0"/>
              </a:spcAft>
              <a:buSzPts val="2200"/>
              <a:buChar char="–"/>
              <a:defRPr i="0" sz="2200" u="none" cap="none" strike="noStrike"/>
            </a:lvl4pPr>
            <a:lvl5pPr indent="-368300" lvl="4" marL="2286000" marR="0" algn="l">
              <a:spcBef>
                <a:spcPts val="1200"/>
              </a:spcBef>
              <a:spcAft>
                <a:spcPts val="0"/>
              </a:spcAft>
              <a:buSzPts val="2200"/>
              <a:buChar char="»"/>
              <a:defRPr i="0" sz="2200" u="none" cap="none" strike="noStrike"/>
            </a:lvl5pPr>
            <a:lvl6pPr indent="-368300" lvl="5" marL="2743200" marR="0" algn="l">
              <a:spcBef>
                <a:spcPts val="1200"/>
              </a:spcBef>
              <a:spcAft>
                <a:spcPts val="0"/>
              </a:spcAft>
              <a:buSzPts val="2200"/>
              <a:buChar char="•"/>
              <a:defRPr i="0" sz="2200" u="none" cap="none" strike="noStrike"/>
            </a:lvl6pPr>
            <a:lvl7pPr indent="-368300" lvl="6" marL="3200400" marR="0" algn="l">
              <a:spcBef>
                <a:spcPts val="1200"/>
              </a:spcBef>
              <a:spcAft>
                <a:spcPts val="0"/>
              </a:spcAft>
              <a:buSzPts val="2200"/>
              <a:buChar char="•"/>
              <a:defRPr i="0" sz="2200" u="none" cap="none" strike="noStrike"/>
            </a:lvl7pPr>
            <a:lvl8pPr indent="-368300" lvl="7" marL="3657600" marR="0" algn="l">
              <a:spcBef>
                <a:spcPts val="1200"/>
              </a:spcBef>
              <a:spcAft>
                <a:spcPts val="0"/>
              </a:spcAft>
              <a:buSzPts val="2200"/>
              <a:buChar char="•"/>
              <a:defRPr i="0" sz="2200" u="none" cap="none" strike="noStrike"/>
            </a:lvl8pPr>
            <a:lvl9pPr indent="-368300" lvl="8" marL="4114800" marR="0" algn="l">
              <a:spcBef>
                <a:spcPts val="1200"/>
              </a:spcBef>
              <a:spcAft>
                <a:spcPts val="1200"/>
              </a:spcAft>
              <a:buSzPts val="2200"/>
              <a:buChar char="•"/>
              <a:defRPr i="0" sz="2200" u="none" cap="none" strike="noStrike"/>
            </a:lvl9pPr>
          </a:lstStyle>
          <a:p/>
        </p:txBody>
      </p:sp>
      <p:sp>
        <p:nvSpPr>
          <p:cNvPr id="66" name="Google Shape;66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">
  <p:cSld name="SECTION">
    <p:bg>
      <p:bgPr>
        <a:solidFill>
          <a:srgbClr val="0F172A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6"/>
          <p:cNvSpPr/>
          <p:nvPr/>
        </p:nvSpPr>
        <p:spPr>
          <a:xfrm>
            <a:off x="548640" y="1874520"/>
            <a:ext cx="54900" cy="13716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16"/>
          <p:cNvSpPr txBox="1"/>
          <p:nvPr>
            <p:ph type="title"/>
          </p:nvPr>
        </p:nvSpPr>
        <p:spPr>
          <a:xfrm>
            <a:off x="914400" y="1737360"/>
            <a:ext cx="76809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4400"/>
              <a:buNone/>
              <a:defRPr b="0" i="0" sz="4400" u="none" cap="none" strike="noStrike">
                <a:solidFill>
                  <a:srgbClr val="4F46E5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utfit"/>
              <a:buNone/>
              <a:defRPr sz="1800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utfit"/>
              <a:buNone/>
              <a:defRPr sz="1800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utfit"/>
              <a:buNone/>
              <a:defRPr sz="1800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utfit"/>
              <a:buNone/>
              <a:defRPr sz="1800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utfit"/>
              <a:buNone/>
              <a:defRPr sz="1800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utfit"/>
              <a:buNone/>
              <a:defRPr sz="1800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utfit"/>
              <a:buNone/>
              <a:defRPr sz="1800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utfit"/>
              <a:buNone/>
              <a:defRPr sz="1800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>
            <a:off x="914400" y="2743200"/>
            <a:ext cx="76809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i="0" sz="2200" u="none" cap="none" strike="noStrike">
                <a:solidFill>
                  <a:schemeClr val="lt1"/>
                </a:solidFill>
              </a:defRPr>
            </a:lvl1pPr>
            <a:lvl2pPr indent="-368300" lvl="1" marL="9144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Char char="–"/>
              <a:defRPr i="0" sz="2200" u="none" cap="none" strike="noStrike">
                <a:solidFill>
                  <a:schemeClr val="lt1"/>
                </a:solidFill>
              </a:defRPr>
            </a:lvl2pPr>
            <a:lvl3pPr indent="-368300" lvl="2" marL="13716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Char char="•"/>
              <a:defRPr i="0" sz="2200" u="none" cap="none" strike="noStrike">
                <a:solidFill>
                  <a:schemeClr val="lt1"/>
                </a:solidFill>
              </a:defRPr>
            </a:lvl3pPr>
            <a:lvl4pPr indent="-368300" lvl="3" marL="18288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Char char="–"/>
              <a:defRPr i="0" sz="2200" u="none" cap="none" strike="noStrike">
                <a:solidFill>
                  <a:schemeClr val="lt1"/>
                </a:solidFill>
              </a:defRPr>
            </a:lvl4pPr>
            <a:lvl5pPr indent="-368300" lvl="4" marL="22860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Char char="»"/>
              <a:defRPr i="0" sz="2200" u="none" cap="none" strike="noStrike">
                <a:solidFill>
                  <a:schemeClr val="lt1"/>
                </a:solidFill>
              </a:defRPr>
            </a:lvl5pPr>
            <a:lvl6pPr indent="-368300" lvl="5" marL="27432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Char char="•"/>
              <a:defRPr i="0" sz="2200" u="none" cap="none" strike="noStrike">
                <a:solidFill>
                  <a:schemeClr val="lt1"/>
                </a:solidFill>
              </a:defRPr>
            </a:lvl6pPr>
            <a:lvl7pPr indent="-368300" lvl="6" marL="32004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Char char="•"/>
              <a:defRPr i="0" sz="2200" u="none" cap="none" strike="noStrike">
                <a:solidFill>
                  <a:schemeClr val="lt1"/>
                </a:solidFill>
              </a:defRPr>
            </a:lvl7pPr>
            <a:lvl8pPr indent="-368300" lvl="7" marL="36576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Char char="•"/>
              <a:defRPr i="0" sz="2200" u="none" cap="none" strike="noStrike">
                <a:solidFill>
                  <a:schemeClr val="lt1"/>
                </a:solidFill>
              </a:defRPr>
            </a:lvl8pPr>
            <a:lvl9pPr indent="-368300" lvl="8" marL="4114800" marR="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>
                <a:schemeClr val="lt1"/>
              </a:buClr>
              <a:buSzPts val="2200"/>
              <a:buChar char="•"/>
              <a:defRPr i="0" sz="2200" u="none" cap="none" strike="noStrike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ESTION">
  <p:cSld name="QUESTION">
    <p:bg>
      <p:bgPr>
        <a:solidFill>
          <a:srgbClr val="0F172A"/>
        </a:solidFill>
      </p:bgPr>
    </p:bg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idx="1" type="body"/>
          </p:nvPr>
        </p:nvSpPr>
        <p:spPr>
          <a:xfrm>
            <a:off x="914400" y="1508760"/>
            <a:ext cx="7315200" cy="23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i="0" sz="3200" u="none" cap="none" strike="noStrike">
                <a:solidFill>
                  <a:schemeClr val="lt1"/>
                </a:solidFill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800"/>
              <a:buChar char="–"/>
              <a:defRPr i="0" sz="2800" u="none" cap="none" strike="noStrike">
                <a:solidFill>
                  <a:schemeClr val="lt1"/>
                </a:solidFill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i="0" sz="2400" u="none" cap="none" strike="noStrike">
                <a:solidFill>
                  <a:schemeClr val="lt1"/>
                </a:solidFill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00"/>
              <a:buChar char="–"/>
              <a:defRPr i="0" sz="2000" u="none" cap="none" strike="noStrike">
                <a:solidFill>
                  <a:schemeClr val="lt1"/>
                </a:solidFill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00"/>
              <a:buChar char="»"/>
              <a:defRPr i="0" sz="2000" u="none" cap="none" strike="noStrike">
                <a:solidFill>
                  <a:schemeClr val="lt1"/>
                </a:solidFill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 i="0" sz="2000" u="none" cap="none" strike="noStrike">
                <a:solidFill>
                  <a:schemeClr val="lt1"/>
                </a:solidFill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 i="0" sz="2000" u="none" cap="none" strike="noStrike">
                <a:solidFill>
                  <a:schemeClr val="lt1"/>
                </a:solidFill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 i="0" sz="2000" u="none" cap="none" strike="noStrike">
                <a:solidFill>
                  <a:schemeClr val="lt1"/>
                </a:solidFill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>
                <a:schemeClr val="lt1"/>
              </a:buClr>
              <a:buSzPts val="2000"/>
              <a:buChar char="•"/>
              <a:defRPr i="0" sz="2000" u="none" cap="none" strike="noStrike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4" name="Google Shape;74;p17"/>
          <p:cNvSpPr txBox="1"/>
          <p:nvPr>
            <p:ph idx="2" type="body"/>
          </p:nvPr>
        </p:nvSpPr>
        <p:spPr>
          <a:xfrm>
            <a:off x="914400" y="3977640"/>
            <a:ext cx="73152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algn="l">
              <a:spcBef>
                <a:spcPts val="64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i="0" sz="2200" u="none" cap="none" strike="noStrike">
                <a:solidFill>
                  <a:schemeClr val="lt1"/>
                </a:solidFill>
              </a:defRPr>
            </a:lvl1pPr>
            <a:lvl2pPr indent="-368300" lvl="1" marL="914400" marR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Char char="–"/>
              <a:defRPr i="0" sz="2200" u="none" cap="none" strike="noStrike">
                <a:solidFill>
                  <a:schemeClr val="lt1"/>
                </a:solidFill>
              </a:defRPr>
            </a:lvl2pPr>
            <a:lvl3pPr indent="-3683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Char char="•"/>
              <a:defRPr i="0" sz="2200" u="none" cap="none" strike="noStrike">
                <a:solidFill>
                  <a:schemeClr val="lt1"/>
                </a:solidFill>
              </a:defRPr>
            </a:lvl3pPr>
            <a:lvl4pPr indent="-36830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Char char="–"/>
              <a:defRPr i="0" sz="2200" u="none" cap="none" strike="noStrike">
                <a:solidFill>
                  <a:schemeClr val="lt1"/>
                </a:solidFill>
              </a:defRPr>
            </a:lvl4pPr>
            <a:lvl5pPr indent="-36830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Char char="»"/>
              <a:defRPr i="0" sz="2200" u="none" cap="none" strike="noStrike">
                <a:solidFill>
                  <a:schemeClr val="lt1"/>
                </a:solidFill>
              </a:defRPr>
            </a:lvl5pPr>
            <a:lvl6pPr indent="-36830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Char char="•"/>
              <a:defRPr i="0" sz="2200" u="none" cap="none" strike="noStrike">
                <a:solidFill>
                  <a:schemeClr val="lt1"/>
                </a:solidFill>
              </a:defRPr>
            </a:lvl6pPr>
            <a:lvl7pPr indent="-36830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Char char="•"/>
              <a:defRPr i="0" sz="2200" u="none" cap="none" strike="noStrike">
                <a:solidFill>
                  <a:schemeClr val="lt1"/>
                </a:solidFill>
              </a:defRPr>
            </a:lvl7pPr>
            <a:lvl8pPr indent="-36830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Char char="•"/>
              <a:defRPr i="0" sz="2200" u="none" cap="none" strike="noStrike">
                <a:solidFill>
                  <a:schemeClr val="lt1"/>
                </a:solidFill>
              </a:defRPr>
            </a:lvl8pPr>
            <a:lvl9pPr indent="-36830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lt1"/>
              </a:buClr>
              <a:buSzPts val="2200"/>
              <a:buChar char="•"/>
              <a:defRPr i="0" sz="2200" u="none" cap="none" strike="noStrike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5" name="Google Shape;75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1">
  <p:cSld name="TITLE_AND_BODY_3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76175" lIns="76175" spcFirstLastPara="1" rIns="76175" wrap="square" tIns="761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8" name="Google Shape;78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4275" lIns="64275" spcFirstLastPara="1" rIns="64275" wrap="square" tIns="64275">
            <a:noAutofit/>
          </a:bodyPr>
          <a:lstStyle>
            <a:lvl1pPr indent="-3683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00"/>
              <a:buChar char="●"/>
              <a:defRPr i="0" sz="2200" u="none" cap="none" strike="noStrike">
                <a:solidFill>
                  <a:srgbClr val="334155"/>
                </a:solidFill>
              </a:defRPr>
            </a:lvl1pPr>
            <a:lvl2pPr indent="-36830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00"/>
              <a:buChar char="○"/>
              <a:defRPr i="0" sz="2200" u="none" cap="none" strike="noStrike">
                <a:solidFill>
                  <a:srgbClr val="334155"/>
                </a:solidFill>
              </a:defRPr>
            </a:lvl2pPr>
            <a:lvl3pPr indent="-36830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00"/>
              <a:buChar char="■"/>
              <a:defRPr i="0" sz="2200" u="none" cap="none" strike="noStrike">
                <a:solidFill>
                  <a:srgbClr val="334155"/>
                </a:solidFill>
              </a:defRPr>
            </a:lvl3pPr>
            <a:lvl4pPr indent="-36830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00"/>
              <a:buChar char="●"/>
              <a:defRPr i="0" sz="2200" u="none" cap="none" strike="noStrike">
                <a:solidFill>
                  <a:srgbClr val="334155"/>
                </a:solidFill>
              </a:defRPr>
            </a:lvl4pPr>
            <a:lvl5pPr indent="-36830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00"/>
              <a:buChar char="○"/>
              <a:defRPr i="0" sz="2200" u="none" cap="none" strike="noStrike">
                <a:solidFill>
                  <a:srgbClr val="334155"/>
                </a:solidFill>
              </a:defRPr>
            </a:lvl5pPr>
            <a:lvl6pPr indent="-3683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00"/>
              <a:buChar char="■"/>
              <a:defRPr i="0" sz="2200" u="none" cap="none" strike="noStrike">
                <a:solidFill>
                  <a:srgbClr val="334155"/>
                </a:solidFill>
              </a:defRPr>
            </a:lvl6pPr>
            <a:lvl7pPr indent="-3683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00"/>
              <a:buChar char="●"/>
              <a:defRPr i="0" sz="2200" u="none" cap="none" strike="noStrike">
                <a:solidFill>
                  <a:srgbClr val="334155"/>
                </a:solidFill>
              </a:defRPr>
            </a:lvl7pPr>
            <a:lvl8pPr indent="-3683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00"/>
              <a:buChar char="○"/>
              <a:defRPr i="0" sz="2200" u="none" cap="none" strike="noStrike">
                <a:solidFill>
                  <a:srgbClr val="334155"/>
                </a:solidFill>
              </a:defRPr>
            </a:lvl8pPr>
            <a:lvl9pPr indent="-3683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00"/>
              <a:buChar char="■"/>
              <a:defRPr i="0" sz="2200" u="none" cap="none" strike="noStrike">
                <a:solidFill>
                  <a:srgbClr val="334155"/>
                </a:solidFill>
              </a:defRPr>
            </a:lvl9pPr>
          </a:lstStyle>
          <a:p/>
        </p:txBody>
      </p:sp>
      <p:sp>
        <p:nvSpPr>
          <p:cNvPr id="79" name="Google Shape;79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 2">
  <p:cSld name="CUSTOM_2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 1">
  <p:cSld name="CUSTOM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21" Type="http://schemas.openxmlformats.org/officeDocument/2006/relationships/theme" Target="../theme/theme1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2800"/>
              <a:buFont typeface="Outfit"/>
              <a:buNone/>
              <a:defRPr b="1" sz="2800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800"/>
              <a:buFont typeface="Outfit"/>
              <a:buChar char="●"/>
              <a:defRPr sz="1800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400"/>
              <a:buFont typeface="Outfit"/>
              <a:buChar char="○"/>
              <a:defRPr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400"/>
              <a:buFont typeface="Outfit"/>
              <a:buChar char="■"/>
              <a:defRPr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400"/>
              <a:buFont typeface="Outfit"/>
              <a:buChar char="●"/>
              <a:defRPr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400"/>
              <a:buFont typeface="Outfit"/>
              <a:buChar char="○"/>
              <a:defRPr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400"/>
              <a:buFont typeface="Outfit"/>
              <a:buChar char="■"/>
              <a:defRPr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400"/>
              <a:buFont typeface="Outfit"/>
              <a:buChar char="●"/>
              <a:defRPr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400"/>
              <a:buFont typeface="Outfit"/>
              <a:buChar char="○"/>
              <a:defRPr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400"/>
              <a:buFont typeface="Outfit"/>
              <a:buChar char="■"/>
              <a:defRPr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://jalammar.github.io" TargetMode="External"/><Relationship Id="rId4" Type="http://schemas.openxmlformats.org/officeDocument/2006/relationships/hyperlink" Target="http://lilianweng.github.io" TargetMode="External"/><Relationship Id="rId5" Type="http://schemas.openxmlformats.org/officeDocument/2006/relationships/hyperlink" Target="http://distill.pub/" TargetMode="External"/><Relationship Id="rId6" Type="http://schemas.openxmlformats.org/officeDocument/2006/relationships/hyperlink" Target="http://ruder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2"/>
          <p:cNvSpPr txBox="1"/>
          <p:nvPr>
            <p:ph type="title"/>
          </p:nvPr>
        </p:nvSpPr>
        <p:spPr>
          <a:xfrm>
            <a:off x="914400" y="1737360"/>
            <a:ext cx="76809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orgia"/>
              <a:buNone/>
            </a:pPr>
            <a:r>
              <a:rPr b="1" lang="en" sz="3200">
                <a:solidFill>
                  <a:srgbClr val="FFFFFF"/>
                </a:solidFill>
              </a:rPr>
              <a:t>Thursday: Lightning Talks</a:t>
            </a:r>
            <a:endParaRPr sz="3200"/>
          </a:p>
        </p:txBody>
      </p:sp>
      <p:sp>
        <p:nvSpPr>
          <p:cNvPr id="89" name="Google Shape;89;p22"/>
          <p:cNvSpPr txBox="1"/>
          <p:nvPr>
            <p:ph idx="1" type="body"/>
          </p:nvPr>
        </p:nvSpPr>
        <p:spPr>
          <a:xfrm>
            <a:off x="914400" y="2743200"/>
            <a:ext cx="76809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94A3B8"/>
              </a:buClr>
              <a:buSzPts val="1600"/>
              <a:buNone/>
            </a:pPr>
            <a:r>
              <a:rPr lang="en" sz="1600">
                <a:solidFill>
                  <a:srgbClr val="4F46E5"/>
                </a:solidFill>
              </a:rPr>
              <a:t>15 papers — Architectures, datasets &amp; training objectives</a:t>
            </a:r>
            <a:endParaRPr sz="1600">
              <a:solidFill>
                <a:srgbClr val="4F46E5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3"/>
          <p:cNvSpPr txBox="1"/>
          <p:nvPr>
            <p:ph type="title"/>
          </p:nvPr>
        </p:nvSpPr>
        <p:spPr>
          <a:xfrm>
            <a:off x="311700" y="228600"/>
            <a:ext cx="41232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800"/>
              <a:buFont typeface="Georgia"/>
              <a:buNone/>
            </a:pPr>
            <a:r>
              <a:rPr lang="en"/>
              <a:t>Lightning talks</a:t>
            </a:r>
            <a:endParaRPr/>
          </a:p>
        </p:txBody>
      </p:sp>
      <p:graphicFrame>
        <p:nvGraphicFramePr>
          <p:cNvPr id="96" name="Google Shape;96;p23"/>
          <p:cNvGraphicFramePr/>
          <p:nvPr/>
        </p:nvGraphicFramePr>
        <p:xfrm>
          <a:off x="457200" y="106011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{C32F7DC2-BC93-442A-8895-92450A3939CA}</a:tableStyleId>
              </a:tblPr>
              <a:tblGrid>
                <a:gridCol w="320050"/>
                <a:gridCol w="1554475"/>
                <a:gridCol w="2103125"/>
              </a:tblGrid>
              <a:tr h="2926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FFFFFF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#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FFFFFF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Paper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FFFFFF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Key Idea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891B2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1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AlexNet (2012)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CNN that launched the deep learning era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2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ResNet (2016)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Deep networks with skip connections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3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Transformer (2017)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Attention-based architecture </a:t>
                      </a: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for sequences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4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BERT (2019)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Pretrained language model (masked prediction)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5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GPT-2 (2019)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Pretrained language model (next-word prediction)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6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ViT (2021)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Transformer applied to vision (patches as tokens)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97" name="Google Shape;97;p23"/>
          <p:cNvSpPr/>
          <p:nvPr/>
        </p:nvSpPr>
        <p:spPr>
          <a:xfrm>
            <a:off x="457200" y="831511"/>
            <a:ext cx="3977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0891B2"/>
                </a:solidFill>
                <a:latin typeface="Outfit"/>
                <a:ea typeface="Outfit"/>
                <a:cs typeface="Outfit"/>
                <a:sym typeface="Outfit"/>
              </a:rPr>
              <a:t>ARCHITECTURES / MILESTONES</a:t>
            </a:r>
            <a:endParaRPr i="0" sz="1000" u="none" cap="none" strike="noStrik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aphicFrame>
        <p:nvGraphicFramePr>
          <p:cNvPr id="98" name="Google Shape;98;p23"/>
          <p:cNvGraphicFramePr/>
          <p:nvPr/>
        </p:nvGraphicFramePr>
        <p:xfrm>
          <a:off x="4709160" y="43533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{C32F7DC2-BC93-442A-8895-92450A3939CA}</a:tableStyleId>
              </a:tblPr>
              <a:tblGrid>
                <a:gridCol w="411475"/>
                <a:gridCol w="1331700"/>
                <a:gridCol w="2234450"/>
              </a:tblGrid>
              <a:tr h="2926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FFFFFF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#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FFFFFF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Paper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FFFFFF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Key Idea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C3AED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7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ILSVRC/ImageNet (2015)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The benchmark that shaped vision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8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Habitat (2019)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Simulated 3D environments for AI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9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T5 / C4 (2020)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Text-to-text framework + web corpus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10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The Pile (2021)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Large, diverse text dataset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11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LAION-5B (2022)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Massive image–text dataset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99" name="Google Shape;99;p23"/>
          <p:cNvSpPr/>
          <p:nvPr/>
        </p:nvSpPr>
        <p:spPr>
          <a:xfrm>
            <a:off x="4709160" y="206735"/>
            <a:ext cx="3977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7C3AED"/>
                </a:solidFill>
                <a:latin typeface="Outfit"/>
                <a:ea typeface="Outfit"/>
                <a:cs typeface="Outfit"/>
                <a:sym typeface="Outfit"/>
              </a:rPr>
              <a:t>DATASETS</a:t>
            </a:r>
            <a:endParaRPr i="0" sz="1000" u="none" cap="none" strike="noStrik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00" name="Google Shape;100;p23"/>
          <p:cNvSpPr txBox="1"/>
          <p:nvPr>
            <p:ph idx="2" type="subTitle"/>
          </p:nvPr>
        </p:nvSpPr>
        <p:spPr>
          <a:xfrm>
            <a:off x="-3870" y="4726261"/>
            <a:ext cx="4046100" cy="41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101" name="Google Shape;101;p23"/>
          <p:cNvGraphicFramePr/>
          <p:nvPr/>
        </p:nvGraphicFramePr>
        <p:xfrm>
          <a:off x="4709140" y="300820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{C32F7DC2-BC93-442A-8895-92450A3939CA}</a:tableStyleId>
              </a:tblPr>
              <a:tblGrid>
                <a:gridCol w="411275"/>
                <a:gridCol w="1331900"/>
                <a:gridCol w="2234525"/>
              </a:tblGrid>
              <a:tr h="2372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FFFFFF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#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FFFFFF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Paper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" sz="1100">
                          <a:solidFill>
                            <a:srgbClr val="FFFFFF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Key idea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7706"/>
                    </a:solidFill>
                  </a:tcPr>
                </a:tc>
              </a:tr>
              <a:tr h="3704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3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12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3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SimCLR (2020)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3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Contrastive: pull augmented views together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49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3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13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3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CLIP (2021)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3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Align images and text descriptions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704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3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14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3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DINO (2021)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3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Self-distillation: student learns from teacher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704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3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15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3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MAE (2022)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3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Masked autoencoder: predict missing patches</a:t>
                      </a:r>
                      <a:endParaRPr sz="11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02" name="Google Shape;102;p23"/>
          <p:cNvSpPr/>
          <p:nvPr/>
        </p:nvSpPr>
        <p:spPr>
          <a:xfrm>
            <a:off x="4701715" y="2753519"/>
            <a:ext cx="3977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1000"/>
              <a:buFont typeface="Calibri"/>
              <a:buNone/>
            </a:pPr>
            <a:r>
              <a:rPr b="1" lang="en" sz="1000">
                <a:solidFill>
                  <a:srgbClr val="D97706"/>
                </a:solidFill>
                <a:latin typeface="Outfit"/>
                <a:ea typeface="Outfit"/>
                <a:cs typeface="Outfit"/>
                <a:sym typeface="Outfit"/>
              </a:rPr>
              <a:t>ADDITIONAL TRAINING OBJECTIVES</a:t>
            </a:r>
            <a:endParaRPr i="0" sz="1000" u="none" cap="none" strike="noStrike">
              <a:solidFill>
                <a:srgbClr val="D9770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4"/>
          <p:cNvSpPr txBox="1"/>
          <p:nvPr>
            <p:ph type="title"/>
          </p:nvPr>
        </p:nvSpPr>
        <p:spPr>
          <a:xfrm>
            <a:off x="311700" y="228600"/>
            <a:ext cx="8520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800"/>
              <a:buFont typeface="Georgia"/>
              <a:buNone/>
            </a:pPr>
            <a:r>
              <a:rPr lang="en"/>
              <a:t>How to listen to lightning talks</a:t>
            </a:r>
            <a:endParaRPr/>
          </a:p>
        </p:txBody>
      </p:sp>
      <p:sp>
        <p:nvSpPr>
          <p:cNvPr id="109" name="Google Shape;109;p24"/>
          <p:cNvSpPr txBox="1"/>
          <p:nvPr>
            <p:ph idx="1" type="body"/>
          </p:nvPr>
        </p:nvSpPr>
        <p:spPr>
          <a:xfrm>
            <a:off x="311700" y="1191850"/>
            <a:ext cx="8520600" cy="381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320"/>
              </a:spcBef>
              <a:spcAft>
                <a:spcPts val="0"/>
              </a:spcAft>
              <a:buClr>
                <a:srgbClr val="64748B"/>
              </a:buClr>
              <a:buSzPts val="1600"/>
              <a:buNone/>
            </a:pPr>
            <a:r>
              <a:rPr b="1" lang="en" sz="1600"/>
              <a:t>The three levers</a:t>
            </a:r>
            <a:endParaRPr b="1" sz="1600"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Which lever did this paper pull — training objective, data, or architecture? What stayed the same?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What trade-off did this choice introduce? What did they gain, and what might they have lost?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rgbClr val="64748B"/>
              </a:buClr>
              <a:buSzPts val="1600"/>
              <a:buNone/>
            </a:pPr>
            <a:r>
              <a:rPr b="1" lang="en" sz="1600"/>
              <a:t>Field impact</a:t>
            </a:r>
            <a:endParaRPr b="1" sz="1600"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What could you do after this paper that you couldn't do before?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rgbClr val="64748B"/>
              </a:buClr>
              <a:buSzPts val="1600"/>
              <a:buNone/>
            </a:pPr>
            <a:r>
              <a:rPr b="1" lang="en" sz="1600"/>
              <a:t>Neuroscience lens</a:t>
            </a:r>
            <a:endParaRPr b="1" sz="1600"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How biologically plausible is this approach? Consider the learning signal, the data diet, and the computational motifs.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Does this paper's success tell us something about biological intelligence, or just about engineering? Not every AI advance is a clue about the brain — which is this, and why?</a:t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5"/>
          <p:cNvSpPr txBox="1"/>
          <p:nvPr>
            <p:ph type="title"/>
          </p:nvPr>
        </p:nvSpPr>
        <p:spPr>
          <a:xfrm>
            <a:off x="311700" y="228600"/>
            <a:ext cx="8520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400"/>
              <a:buFont typeface="Georgia"/>
              <a:buNone/>
            </a:pPr>
            <a:r>
              <a:rPr lang="en" sz="2400"/>
              <a:t>Quick Glossary</a:t>
            </a:r>
            <a:endParaRPr sz="2400"/>
          </a:p>
        </p:txBody>
      </p:sp>
      <p:graphicFrame>
        <p:nvGraphicFramePr>
          <p:cNvPr id="116" name="Google Shape;116;p25"/>
          <p:cNvGraphicFramePr/>
          <p:nvPr/>
        </p:nvGraphicFramePr>
        <p:xfrm>
          <a:off x="548640" y="100584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{C32F7DC2-BC93-442A-8895-92450A3939CA}</a:tableStyleId>
              </a:tblPr>
              <a:tblGrid>
                <a:gridCol w="2194550"/>
                <a:gridCol w="5852150"/>
              </a:tblGrid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" sz="1300" u="none" cap="none" strike="noStrike">
                          <a:solidFill>
                            <a:srgbClr val="FFFFFF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Term</a:t>
                      </a:r>
                      <a:endParaRPr sz="13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" sz="1300" u="none" cap="none" strike="noStrike">
                          <a:solidFill>
                            <a:srgbClr val="FFFFFF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Plain-Language Definition</a:t>
                      </a:r>
                      <a:endParaRPr sz="13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" sz="13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Objective function</a:t>
                      </a:r>
                      <a:endParaRPr sz="13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300"/>
                        <a:buFont typeface="Calibri"/>
                        <a:buNone/>
                      </a:pPr>
                      <a:r>
                        <a:rPr lang="en" sz="13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The formula that scores how well the model is doing (the "rubric")</a:t>
                      </a:r>
                      <a:endParaRPr sz="13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" sz="13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Representation</a:t>
                      </a:r>
                      <a:endParaRPr sz="13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300"/>
                        <a:buFont typeface="Calibri"/>
                        <a:buNone/>
                      </a:pPr>
                      <a:r>
                        <a:rPr lang="en" sz="13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The internal "code" a model builds for its inputs (like a compressed description)</a:t>
                      </a:r>
                      <a:endParaRPr sz="13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" sz="13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Pretraining</a:t>
                      </a:r>
                      <a:endParaRPr sz="13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300"/>
                        <a:buFont typeface="Calibri"/>
                        <a:buNone/>
                      </a:pPr>
                      <a:r>
                        <a:rPr lang="en" sz="13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Initial training on large data before specializing for a specific task</a:t>
                      </a:r>
                      <a:endParaRPr sz="13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" sz="13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Fine-tuning</a:t>
                      </a:r>
                      <a:endParaRPr sz="13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300"/>
                        <a:buFont typeface="Calibri"/>
                        <a:buNone/>
                      </a:pPr>
                      <a:r>
                        <a:rPr lang="en" sz="13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Adapting a pretrained model for a new, specific task</a:t>
                      </a:r>
                      <a:endParaRPr sz="13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" sz="13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Foundation model</a:t>
                      </a:r>
                      <a:endParaRPr sz="13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300"/>
                        <a:buFont typeface="Calibri"/>
                        <a:buNone/>
                      </a:pPr>
                      <a:r>
                        <a:rPr lang="en" sz="13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A pretrained model designed to be adapted for many different tasks</a:t>
                      </a:r>
                      <a:endParaRPr sz="13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" sz="13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Transfer learning</a:t>
                      </a:r>
                      <a:endParaRPr sz="13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300"/>
                        <a:buFont typeface="Calibri"/>
                        <a:buNone/>
                      </a:pPr>
                      <a:r>
                        <a:rPr lang="en" sz="13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Using what was learned on one task to help with another</a:t>
                      </a:r>
                      <a:endParaRPr sz="13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" sz="13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Embedding</a:t>
                      </a:r>
                      <a:endParaRPr sz="13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300"/>
                        <a:buFont typeface="Calibri"/>
                        <a:buNone/>
                      </a:pPr>
                      <a:r>
                        <a:rPr lang="en" sz="1300" u="none" cap="none" strike="noStrike">
                          <a:solidFill>
                            <a:srgbClr val="334155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A vector (list of numbers) that represents an input in the model's internal space</a:t>
                      </a:r>
                      <a:endParaRPr sz="13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17" name="Google Shape;117;p25"/>
          <p:cNvSpPr txBox="1"/>
          <p:nvPr>
            <p:ph idx="2" type="subTitle"/>
          </p:nvPr>
        </p:nvSpPr>
        <p:spPr>
          <a:xfrm>
            <a:off x="-3870" y="4726261"/>
            <a:ext cx="4046100" cy="41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6"/>
          <p:cNvSpPr txBox="1"/>
          <p:nvPr>
            <p:ph type="title"/>
          </p:nvPr>
        </p:nvSpPr>
        <p:spPr>
          <a:xfrm>
            <a:off x="311700" y="228600"/>
            <a:ext cx="8520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400"/>
              <a:buFont typeface="Georgia"/>
              <a:buNone/>
            </a:pPr>
            <a:r>
              <a:rPr lang="en" sz="2400"/>
              <a:t>What is a "representation"?</a:t>
            </a:r>
            <a:endParaRPr sz="2400"/>
          </a:p>
        </p:txBody>
      </p:sp>
      <p:sp>
        <p:nvSpPr>
          <p:cNvPr id="124" name="Google Shape;124;p26"/>
          <p:cNvSpPr txBox="1"/>
          <p:nvPr>
            <p:ph idx="1" type="body"/>
          </p:nvPr>
        </p:nvSpPr>
        <p:spPr>
          <a:xfrm>
            <a:off x="311700" y="1191850"/>
            <a:ext cx="8520600" cy="3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600"/>
              <a:buNone/>
            </a:pPr>
            <a:r>
              <a:rPr b="1" lang="en" sz="1600">
                <a:solidFill>
                  <a:srgbClr val="334155"/>
                </a:solidFill>
              </a:rPr>
              <a:t>Analogy: </a:t>
            </a:r>
            <a:r>
              <a:rPr lang="en" sz="1600">
                <a:solidFill>
                  <a:srgbClr val="334155"/>
                </a:solidFill>
              </a:rPr>
              <a:t>How would you describe a face to someone who can't see it?</a:t>
            </a:r>
            <a:endParaRPr sz="1600"/>
          </a:p>
          <a:p>
            <a:pPr indent="-342900" lvl="0" marL="342900" rtl="0" algn="l">
              <a:spcBef>
                <a:spcPts val="320"/>
              </a:spcBef>
              <a:spcAft>
                <a:spcPts val="0"/>
              </a:spcAft>
              <a:buClr>
                <a:srgbClr val="334155"/>
              </a:buClr>
              <a:buSzPts val="1600"/>
              <a:buChar char="•"/>
            </a:pPr>
            <a:r>
              <a:rPr lang="en" sz="1600">
                <a:solidFill>
                  <a:srgbClr val="334155"/>
                </a:solidFill>
              </a:rPr>
              <a:t>You'd pick features: eye color, nose shape, hair style...</a:t>
            </a:r>
            <a:endParaRPr sz="1600"/>
          </a:p>
          <a:p>
            <a:pPr indent="0" lvl="0" marL="0" rtl="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spcBef>
                <a:spcPts val="320"/>
              </a:spcBef>
              <a:spcAft>
                <a:spcPts val="0"/>
              </a:spcAft>
              <a:buClr>
                <a:srgbClr val="334155"/>
              </a:buClr>
              <a:buSzPts val="1600"/>
              <a:buNone/>
            </a:pPr>
            <a:r>
              <a:rPr b="1" lang="en" sz="1600">
                <a:solidFill>
                  <a:srgbClr val="334155"/>
                </a:solidFill>
              </a:rPr>
              <a:t>A representation is the model's internal "description" of its input.</a:t>
            </a:r>
            <a:endParaRPr sz="1600"/>
          </a:p>
          <a:p>
            <a:pPr indent="0" lvl="0" marL="0" rtl="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spcBef>
                <a:spcPts val="320"/>
              </a:spcBef>
              <a:spcAft>
                <a:spcPts val="0"/>
              </a:spcAft>
              <a:buClr>
                <a:srgbClr val="334155"/>
              </a:buClr>
              <a:buSzPts val="1600"/>
              <a:buNone/>
            </a:pPr>
            <a:r>
              <a:rPr lang="en" sz="1600">
                <a:solidFill>
                  <a:srgbClr val="334155"/>
                </a:solidFill>
              </a:rPr>
              <a:t>Different training goals → different descriptions:</a:t>
            </a:r>
            <a:endParaRPr sz="1600"/>
          </a:p>
          <a:p>
            <a:pPr indent="-342900" lvl="0" marL="342900" rtl="0" algn="l">
              <a:spcBef>
                <a:spcPts val="320"/>
              </a:spcBef>
              <a:spcAft>
                <a:spcPts val="0"/>
              </a:spcAft>
              <a:buClr>
                <a:srgbClr val="334155"/>
              </a:buClr>
              <a:buSzPts val="1600"/>
              <a:buChar char="•"/>
            </a:pPr>
            <a:r>
              <a:rPr lang="en" sz="1600">
                <a:solidFill>
                  <a:srgbClr val="334155"/>
                </a:solidFill>
              </a:rPr>
              <a:t>Supervised → features useful for the labeled categories</a:t>
            </a:r>
            <a:endParaRPr sz="1600"/>
          </a:p>
          <a:p>
            <a:pPr indent="-342900" lvl="0" marL="342900" rtl="0" algn="l">
              <a:spcBef>
                <a:spcPts val="320"/>
              </a:spcBef>
              <a:spcAft>
                <a:spcPts val="0"/>
              </a:spcAft>
              <a:buClr>
                <a:srgbClr val="334155"/>
              </a:buClr>
              <a:buSzPts val="1600"/>
              <a:buChar char="•"/>
            </a:pPr>
            <a:r>
              <a:rPr lang="en" sz="1600">
                <a:solidFill>
                  <a:srgbClr val="334155"/>
                </a:solidFill>
              </a:rPr>
              <a:t>Self-supervised → features that capture the general structure of the data</a:t>
            </a:r>
            <a:endParaRPr sz="1600"/>
          </a:p>
          <a:p>
            <a:pPr indent="0" lvl="0" marL="0" rtl="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spcBef>
                <a:spcPts val="320"/>
              </a:spcBef>
              <a:spcAft>
                <a:spcPts val="1200"/>
              </a:spcAft>
              <a:buClr>
                <a:srgbClr val="0E7490"/>
              </a:buClr>
              <a:buSzPts val="1600"/>
              <a:buNone/>
            </a:pPr>
            <a:r>
              <a:rPr b="1" lang="en" sz="1600">
                <a:solidFill>
                  <a:srgbClr val="0E7490"/>
                </a:solidFill>
              </a:rPr>
              <a:t>Neuroscience: </a:t>
            </a:r>
            <a:r>
              <a:rPr lang="en" sz="1600">
                <a:solidFill>
                  <a:srgbClr val="0E7490"/>
                </a:solidFill>
              </a:rPr>
              <a:t>brains build representations too — neural population codes encode information about the world in patterns of activity.</a:t>
            </a:r>
            <a:endParaRPr sz="1600"/>
          </a:p>
        </p:txBody>
      </p:sp>
      <p:sp>
        <p:nvSpPr>
          <p:cNvPr id="125" name="Google Shape;125;p26"/>
          <p:cNvSpPr txBox="1"/>
          <p:nvPr>
            <p:ph idx="2" type="subTitle"/>
          </p:nvPr>
        </p:nvSpPr>
        <p:spPr>
          <a:xfrm>
            <a:off x="-3870" y="4726261"/>
            <a:ext cx="4046100" cy="41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7"/>
          <p:cNvSpPr txBox="1"/>
          <p:nvPr>
            <p:ph type="title"/>
          </p:nvPr>
        </p:nvSpPr>
        <p:spPr>
          <a:xfrm>
            <a:off x="311700" y="228600"/>
            <a:ext cx="8520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400"/>
              <a:buFont typeface="Georgia"/>
              <a:buNone/>
            </a:pPr>
            <a:r>
              <a:rPr lang="en" sz="2400"/>
              <a:t>Further reading &amp; resources</a:t>
            </a:r>
            <a:endParaRPr sz="2400"/>
          </a:p>
        </p:txBody>
      </p:sp>
      <p:sp>
        <p:nvSpPr>
          <p:cNvPr id="132" name="Google Shape;132;p27"/>
          <p:cNvSpPr txBox="1"/>
          <p:nvPr>
            <p:ph idx="1" type="body"/>
          </p:nvPr>
        </p:nvSpPr>
        <p:spPr>
          <a:xfrm>
            <a:off x="311700" y="1191850"/>
            <a:ext cx="8520600" cy="20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320"/>
              </a:spcBef>
              <a:spcAft>
                <a:spcPts val="0"/>
              </a:spcAft>
              <a:buClr>
                <a:srgbClr val="334155"/>
              </a:buClr>
              <a:buSzPts val="1600"/>
              <a:buNone/>
            </a:pPr>
            <a:r>
              <a:rPr b="1" lang="en" sz="16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Visual explainers (great for intuition):</a:t>
            </a:r>
            <a:endParaRPr sz="1600"/>
          </a:p>
          <a:p>
            <a:pPr indent="-342900" lvl="0" marL="342900" rtl="0" algn="l">
              <a:spcBef>
                <a:spcPts val="320"/>
              </a:spcBef>
              <a:spcAft>
                <a:spcPts val="0"/>
              </a:spcAft>
              <a:buClr>
                <a:srgbClr val="334155"/>
              </a:buClr>
              <a:buSzPts val="1600"/>
              <a:buChar char="•"/>
            </a:pPr>
            <a:r>
              <a:rPr lang="en" sz="16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Jay Alammar's illustrated guides — </a:t>
            </a:r>
            <a:r>
              <a:rPr lang="en" sz="1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jalammar.github.io</a:t>
            </a:r>
            <a:endParaRPr sz="1600"/>
          </a:p>
          <a:p>
            <a:pPr indent="0" lvl="0" marL="0" rtl="0" algn="l">
              <a:spcBef>
                <a:spcPts val="320"/>
              </a:spcBef>
              <a:spcAft>
                <a:spcPts val="0"/>
              </a:spcAft>
              <a:buClr>
                <a:srgbClr val="334155"/>
              </a:buClr>
              <a:buSzPts val="1600"/>
              <a:buNone/>
            </a:pPr>
            <a:r>
              <a:t/>
            </a:r>
            <a:endParaRPr b="1" sz="1600">
              <a:solidFill>
                <a:srgbClr val="334155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320"/>
              </a:spcBef>
              <a:spcAft>
                <a:spcPts val="0"/>
              </a:spcAft>
              <a:buClr>
                <a:srgbClr val="334155"/>
              </a:buClr>
              <a:buSzPts val="1600"/>
              <a:buNone/>
            </a:pPr>
            <a:r>
              <a:rPr b="1" lang="en" sz="16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Deeper dives (optional):</a:t>
            </a:r>
            <a:endParaRPr sz="1600"/>
          </a:p>
          <a:p>
            <a:pPr indent="-342900" lvl="0" marL="342900" rtl="0" algn="l">
              <a:spcBef>
                <a:spcPts val="320"/>
              </a:spcBef>
              <a:spcAft>
                <a:spcPts val="0"/>
              </a:spcAft>
              <a:buClr>
                <a:srgbClr val="334155"/>
              </a:buClr>
              <a:buSzPts val="1600"/>
              <a:buChar char="•"/>
            </a:pPr>
            <a:r>
              <a:rPr lang="en" sz="16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Lillian Weng's blog — </a:t>
            </a:r>
            <a:r>
              <a:rPr lang="en" sz="1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lilianweng.github.io</a:t>
            </a:r>
            <a:endParaRPr sz="1600"/>
          </a:p>
          <a:p>
            <a:pPr indent="-342900" lvl="0" marL="342900" rtl="0" algn="l">
              <a:spcBef>
                <a:spcPts val="320"/>
              </a:spcBef>
              <a:spcAft>
                <a:spcPts val="0"/>
              </a:spcAft>
              <a:buClr>
                <a:srgbClr val="334155"/>
              </a:buClr>
              <a:buSzPts val="1600"/>
              <a:buChar char="•"/>
            </a:pPr>
            <a:r>
              <a:rPr lang="en" sz="1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Distill.pub</a:t>
            </a:r>
            <a:r>
              <a:rPr lang="en" sz="16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 — archived but excellent interactive articles</a:t>
            </a:r>
            <a:endParaRPr sz="1600"/>
          </a:p>
          <a:p>
            <a:pPr indent="-342900" lvl="0" marL="342900" rtl="0" algn="l">
              <a:spcBef>
                <a:spcPts val="320"/>
              </a:spcBef>
              <a:spcAft>
                <a:spcPts val="1200"/>
              </a:spcAft>
              <a:buClr>
                <a:srgbClr val="334155"/>
              </a:buClr>
              <a:buSzPts val="1600"/>
              <a:buChar char="•"/>
            </a:pPr>
            <a:r>
              <a:rPr lang="en" sz="16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Sebastian Ruder — </a:t>
            </a:r>
            <a:r>
              <a:rPr lang="en" sz="1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ruder.io</a:t>
            </a:r>
            <a:r>
              <a:rPr lang="en" sz="16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 (NLP-focused overviews)</a:t>
            </a:r>
            <a:endParaRPr sz="1600"/>
          </a:p>
        </p:txBody>
      </p:sp>
      <p:sp>
        <p:nvSpPr>
          <p:cNvPr id="133" name="Google Shape;133;p27"/>
          <p:cNvSpPr txBox="1"/>
          <p:nvPr>
            <p:ph idx="2" type="subTitle"/>
          </p:nvPr>
        </p:nvSpPr>
        <p:spPr>
          <a:xfrm>
            <a:off x="-3870" y="4726261"/>
            <a:ext cx="4046100" cy="41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utfi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