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Outfit"/>
      <p:regular r:id="rId41"/>
      <p:bold r:id="rId42"/>
    </p:embeddedFont>
    <p:embeddedFont>
      <p:font typeface="Zilla Slab Light"/>
      <p:bold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Outfit-bold.fntdata"/><Relationship Id="rId41" Type="http://schemas.openxmlformats.org/officeDocument/2006/relationships/font" Target="fonts/Outfit-regular.fntdata"/><Relationship Id="rId22" Type="http://schemas.openxmlformats.org/officeDocument/2006/relationships/slide" Target="slides/slide17.xml"/><Relationship Id="rId44" Type="http://schemas.openxmlformats.org/officeDocument/2006/relationships/font" Target="fonts/ZillaSlabLight-boldItalic.fntdata"/><Relationship Id="rId21" Type="http://schemas.openxmlformats.org/officeDocument/2006/relationships/slide" Target="slides/slide16.xml"/><Relationship Id="rId43" Type="http://schemas.openxmlformats.org/officeDocument/2006/relationships/font" Target="fonts/ZillaSlabLight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a02b10607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ba02b10607_0_3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a02b10607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ba02b10607_0_3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a02b10607_3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ba02b10607_3_1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a02b10607_3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ba02b10607_3_19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a02b10607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ba02b10607_0_3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a02b10607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ba02b10607_0_5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a02b10607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ba02b10607_0_3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a02b10607_3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a02b10607_3_1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a02b10607_3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ba02b10607_3_1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a02b10607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a02b10607_0_3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a02b10607_3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a02b10607_3_1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a02b10607_3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ba02b10607_3_16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a02b10607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a02b10607_0_3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a02b10607_3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ba02b10607_3_1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a02b10607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ba02b10607_0_3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a02b10607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ba02b10607_0_3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a02b10607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ba02b10607_0_4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a02b10607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ba02b10607_0_4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a02b10607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ba02b10607_0_4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a02b10607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ba02b10607_0_4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a02b10607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ba02b10607_0_4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a02b10607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ba02b10607_0_4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a02b10607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ba02b10607_0_4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a02b10607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ba02b10607_0_4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a02b10607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ba02b10607_0_46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a02b10607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ba02b10607_0_4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a02b10607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ba02b10607_0_4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a02b10607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ba02b10607_0_4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a02b10607_3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a02b10607_3_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a02b10607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ba02b10607_0_4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a02b10607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ba02b10607_3_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a02b10607_3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ba02b10607_3_1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a02b10607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ba02b10607_3_1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a02b10607_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ba02b10607_3_1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683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683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Zilla Slab Light"/>
              <a:buNone/>
              <a:defRPr i="1" sz="1200">
                <a:latin typeface="Zilla Slab Light"/>
                <a:ea typeface="Zilla Slab Light"/>
                <a:cs typeface="Zilla Slab Light"/>
                <a:sym typeface="Zilla Slab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Zilla Slab Light"/>
              <a:buNone/>
              <a:defRPr i="1" sz="1200">
                <a:latin typeface="Zilla Slab Light"/>
                <a:ea typeface="Zilla Slab Light"/>
                <a:cs typeface="Zilla Slab Light"/>
                <a:sym typeface="Zill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Zilla Slab Light"/>
              <a:buNone/>
              <a:defRPr i="1" sz="1200">
                <a:latin typeface="Zilla Slab Light"/>
                <a:ea typeface="Zilla Slab Light"/>
                <a:cs typeface="Zilla Slab Light"/>
                <a:sym typeface="Zill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Zilla Slab Light"/>
              <a:buNone/>
              <a:defRPr i="1" sz="1200">
                <a:latin typeface="Zilla Slab Light"/>
                <a:ea typeface="Zilla Slab Light"/>
                <a:cs typeface="Zilla Slab Light"/>
                <a:sym typeface="Zill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Zilla Slab Light"/>
              <a:buNone/>
              <a:defRPr i="1" sz="1200">
                <a:latin typeface="Zilla Slab Light"/>
                <a:ea typeface="Zilla Slab Light"/>
                <a:cs typeface="Zilla Slab Light"/>
                <a:sym typeface="Zill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Zilla Slab Light"/>
              <a:buNone/>
              <a:defRPr i="1" sz="1200">
                <a:latin typeface="Zilla Slab Light"/>
                <a:ea typeface="Zilla Slab Light"/>
                <a:cs typeface="Zilla Slab Light"/>
                <a:sym typeface="Zill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Zilla Slab Light"/>
              <a:buNone/>
              <a:defRPr i="1" sz="1200">
                <a:latin typeface="Zilla Slab Light"/>
                <a:ea typeface="Zilla Slab Light"/>
                <a:cs typeface="Zilla Slab Light"/>
                <a:sym typeface="Zill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Zilla Slab Light"/>
              <a:buNone/>
              <a:defRPr i="1" sz="1200">
                <a:latin typeface="Zilla Slab Light"/>
                <a:ea typeface="Zilla Slab Light"/>
                <a:cs typeface="Zilla Slab Light"/>
                <a:sym typeface="Zill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Zilla Slab Light"/>
              <a:buNone/>
              <a:defRPr i="1" sz="1200">
                <a:latin typeface="Zilla Slab Light"/>
                <a:ea typeface="Zilla Slab Light"/>
                <a:cs typeface="Zilla Slab Light"/>
                <a:sym typeface="Zilla Slab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3" type="subTitle"/>
          </p:nvPr>
        </p:nvSpPr>
        <p:spPr>
          <a:xfrm>
            <a:off x="65825" y="4866125"/>
            <a:ext cx="2358000" cy="1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Zilla Slab Light"/>
              <a:buNone/>
              <a:defRPr i="1" sz="1000">
                <a:latin typeface="Zilla Slab Light"/>
                <a:ea typeface="Zilla Slab Light"/>
                <a:cs typeface="Zilla Slab Light"/>
                <a:sym typeface="Zilla Slab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65825" y="4866125"/>
            <a:ext cx="2358000" cy="1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Zilla Slab Light"/>
              <a:buNone/>
              <a:defRPr i="1" sz="1000">
                <a:latin typeface="Zilla Slab Light"/>
                <a:ea typeface="Zilla Slab Light"/>
                <a:cs typeface="Zilla Slab Light"/>
                <a:sym typeface="Zilla Slab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800"/>
              <a:buFont typeface="Outfit"/>
              <a:buNone/>
              <a:defRPr b="1" sz="2800">
                <a:solidFill>
                  <a:srgbClr val="4F46E5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Outfit"/>
              <a:buChar char="●"/>
              <a:defRPr sz="1800"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Outfit"/>
              <a:buChar char="○"/>
              <a:defRPr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Outfit"/>
              <a:buChar char="■"/>
              <a:defRPr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Outfit"/>
              <a:buChar char="●"/>
              <a:defRPr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Outfit"/>
              <a:buChar char="○"/>
              <a:defRPr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Outfit"/>
              <a:buChar char="■"/>
              <a:defRPr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Outfit"/>
              <a:buChar char="●"/>
              <a:defRPr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Outfit"/>
              <a:buChar char="○"/>
              <a:defRPr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Outfit"/>
              <a:buChar char="■"/>
              <a:defRPr>
                <a:solidFill>
                  <a:srgbClr val="475569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8" y="-174812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CPSY 1950 — Deep Learning in Brains, Minds &amp; Machines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191473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Kickoff • Spring 2026</a:t>
            </a:r>
            <a:endParaRPr/>
          </a:p>
        </p:txBody>
      </p:sp>
      <p:pic>
        <p:nvPicPr>
          <p:cNvPr id="61" name="Google Shape;61;p13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8838" y="2601378"/>
            <a:ext cx="2257526" cy="225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What is this course about?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371600"/>
            <a:ext cx="85206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NeuroAI: bridging artificial and biological intelligence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What it would take to build human-like AI </a:t>
            </a:r>
            <a:br>
              <a:rPr lang="en" sz="2400"/>
            </a:br>
            <a:r>
              <a:rPr lang="en" sz="2400"/>
              <a:t>(perception, learning, reasoning)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How to evaluate “human-likeness” using behavioral signatures and neural measurements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How to communicate and critique research (conf. style)</a:t>
            </a:r>
            <a:endParaRPr sz="2400"/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4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High-level topics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W2: asynchronous bootcamp (foundations)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W3: the three levers of AI (architecture, data, </a:t>
            </a:r>
            <a:r>
              <a:rPr lang="en" sz="2400"/>
              <a:t>objective</a:t>
            </a:r>
            <a:r>
              <a:rPr lang="en" sz="2400"/>
              <a:t>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W4: </a:t>
            </a:r>
            <a:r>
              <a:rPr lang="en" sz="2400"/>
              <a:t>scaling and emerging capabilities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W5: representation-level interpretability (features, SAEs)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W6: mechanistic interpretability (circuits, causal evidence)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W7: neural alignment and model-to-brain mapping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W8: behavioral and cognitive alignment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W9: toward brain-like AI—training &amp; mechanisms </a:t>
            </a:r>
            <a:endParaRPr sz="2400"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5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Prerequisites and preparation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No hard prerequisites, but we engage with primary research papers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Recommended: prior ML/deep learning course (or strong quantitative background)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Comfort with basic algebra: vectors, matrices, linear mappings, and basic probability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Neuroscience background is helpful but less important than quantitative skills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Week 2 bootcamp provides on-ramps (and required refreshers for some students)</a:t>
            </a:r>
            <a:endParaRPr/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6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Is this course a substitute for Machine Learning?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No. This course is not a replacement for an ML/deep learning course.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We focus on high-level principles, evaluation, and scientific reasoning in NeuroAI.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You will read primary papers and learn how to interpret evidence and limitations.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We will not cover </a:t>
            </a:r>
            <a:r>
              <a:rPr lang="en"/>
              <a:t>any</a:t>
            </a:r>
            <a:r>
              <a:rPr lang="en" sz="2200"/>
              <a:t> math/derivations or train models.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If you want a full technical ML foundation, take a dedicated ML/DL course.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If you want to connect AI to brains/minds and think critically about claims, this course is for you</a:t>
            </a:r>
            <a:r>
              <a:rPr lang="en"/>
              <a:t> 😊</a:t>
            </a:r>
            <a:endParaRPr/>
          </a:p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7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Skills you will practice (i)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371600"/>
            <a:ext cx="85206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Reading primary research papers (claims, evidence, limitations)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Short oral communication (3-minute lightning talks)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Scientific critique (confounds, controls, alternative explanations)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Synthesis (connecting ideas across papers and weeks)</a:t>
            </a:r>
            <a:endParaRPr sz="2400"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Skills you will practice (ii)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Project design</a:t>
            </a:r>
            <a:r>
              <a:rPr lang="en" sz="2400"/>
              <a:t> (</a:t>
            </a:r>
            <a:r>
              <a:rPr lang="en" sz="2400"/>
              <a:t>turn a model claim into a testable question</a:t>
            </a:r>
            <a:r>
              <a:rPr lang="en" sz="2400"/>
              <a:t>)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Evaluation</a:t>
            </a:r>
            <a:r>
              <a:rPr lang="en" sz="2400"/>
              <a:t> (</a:t>
            </a:r>
            <a:r>
              <a:rPr lang="en" sz="2400"/>
              <a:t>run tests with appropriate metrics and controls</a:t>
            </a:r>
            <a:r>
              <a:rPr lang="en" sz="2400"/>
              <a:t>)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Interpretation (analyze results; state limitations and confounds)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Poster communication (present project findings in a mini-conference)</a:t>
            </a:r>
            <a:endParaRPr sz="2400"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9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Weekly rhythm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Tuesday: lecture (core ideas and framing)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Thursday: lightning talks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After spring break: project studio + project poster mini-conference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Guest lectures near the end (current trends in NeuroAI)</a:t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What you submit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Weekly: short response/activity on 1–2 papers </a:t>
            </a:r>
            <a:br>
              <a:rPr lang="en" sz="2400"/>
            </a:br>
            <a:r>
              <a:rPr lang="en" sz="2400"/>
              <a:t>(due </a:t>
            </a:r>
            <a:r>
              <a:rPr b="1" lang="en" sz="2400"/>
              <a:t>Tues. 2pm</a:t>
            </a:r>
            <a:r>
              <a:rPr lang="en" sz="2400"/>
              <a:t> before class</a:t>
            </a:r>
            <a:r>
              <a:rPr lang="en" sz="2400"/>
              <a:t>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Brief in-class reading checks to support consistent preparation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Weekly: short post-Thurs. follow-up tied to lightning talks</a:t>
            </a:r>
            <a:br>
              <a:rPr lang="en" sz="2400"/>
            </a:br>
            <a:r>
              <a:rPr lang="en" sz="2400"/>
              <a:t>(due </a:t>
            </a:r>
            <a:r>
              <a:rPr b="1" lang="en" sz="2400"/>
              <a:t>Sun. 2pm</a:t>
            </a:r>
            <a:r>
              <a:rPr lang="en" sz="2400"/>
              <a:t>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Lightning talks: 3 pres. per student across the semester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Project poster: one poster presentation per group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Final exam: in-person (May 12, 9:00am)</a:t>
            </a:r>
            <a:endParaRPr/>
          </a:p>
        </p:txBody>
      </p:sp>
      <p:sp>
        <p:nvSpPr>
          <p:cNvPr id="124" name="Google Shape;1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21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Reading checks: why we do them</a:t>
            </a:r>
            <a:endParaRPr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To confirm engagement with the paper beyond the written response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Short (2–4 minutes) and low-stakes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Typical questions: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What was the main experiment setup (input/output)?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What metric did they report?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Name one control/ablation (or missing control).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What does Figure X show in one sentence?</a:t>
            </a:r>
            <a:endParaRPr/>
          </a:p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2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Lightning talks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417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0"/>
              <a:buChar char="●"/>
            </a:pPr>
            <a:r>
              <a:rPr lang="en" sz="2420"/>
              <a:t>3</a:t>
            </a:r>
            <a:r>
              <a:rPr lang="en" sz="2420"/>
              <a:t>-minute spotlight presentations </a:t>
            </a:r>
            <a:endParaRPr sz="2420"/>
          </a:p>
          <a:p>
            <a:pPr indent="-34417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20"/>
              <a:buChar char="●"/>
            </a:pPr>
            <a:r>
              <a:rPr lang="en" sz="2420"/>
              <a:t>Goal: communicate the core idea, evidence, and limitations</a:t>
            </a:r>
            <a:endParaRPr sz="2420"/>
          </a:p>
          <a:p>
            <a:pPr indent="-34417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20"/>
              <a:buChar char="●"/>
            </a:pPr>
            <a:r>
              <a:rPr lang="en" sz="2420"/>
              <a:t>Class value: ~mini-conference gives a broad overview of the topic (~15 papers/presentations in one session)</a:t>
            </a:r>
            <a:endParaRPr sz="2420"/>
          </a:p>
          <a:p>
            <a:pPr indent="-34417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20"/>
              <a:buChar char="●"/>
            </a:pPr>
            <a:r>
              <a:rPr lang="en" sz="2420"/>
              <a:t>(Rotating) groups: typically 3 students per group </a:t>
            </a:r>
            <a:br>
              <a:rPr lang="en" sz="2420"/>
            </a:br>
            <a:r>
              <a:rPr lang="en" sz="2420"/>
              <a:t>(~34 groups total, including one group of 4)</a:t>
            </a:r>
            <a:endParaRPr sz="2420"/>
          </a:p>
          <a:p>
            <a:pPr indent="-344170" lvl="0" marL="3429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420"/>
              <a:buChar char="●"/>
            </a:pPr>
            <a:r>
              <a:rPr lang="en" sz="2420"/>
              <a:t>Each student will give 3 presentations over the semester</a:t>
            </a:r>
            <a:endParaRPr sz="2420"/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3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Lightning talks: Heilmeier framing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What problem is the paper tackling? (1 line)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What is the key idea / approach? (the “new thing”)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What is the strongest evidence? (1–2 figures/results)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What are the main risks/limitations? (confounds, missing controls, scope)</a:t>
            </a:r>
            <a:endParaRPr sz="2400"/>
          </a:p>
        </p:txBody>
      </p:sp>
      <p:sp>
        <p:nvSpPr>
          <p:cNvPr id="148" name="Google Shape;14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4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Lightning talks: slide template (suggested)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Title: paper + one-line takeaway (the claim)</a:t>
            </a:r>
            <a:endParaRPr sz="2400"/>
          </a:p>
          <a:p>
            <a:pPr indent="-3556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Context: what problem/state of field?</a:t>
            </a:r>
            <a:endParaRPr sz="2400"/>
          </a:p>
          <a:p>
            <a:pPr indent="-3556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Evidence: 1–2 key figures (or schematic + one result)</a:t>
            </a:r>
            <a:endParaRPr sz="2400"/>
          </a:p>
          <a:p>
            <a:pPr indent="-3556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Caveat: main limitation/confound</a:t>
            </a:r>
            <a:endParaRPr sz="2400"/>
          </a:p>
          <a:p>
            <a:pPr indent="-3556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Next: extra evidence to strengthen/challenge claim</a:t>
            </a:r>
            <a:endParaRPr sz="2400"/>
          </a:p>
          <a:p>
            <a:pPr indent="-3556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i="1" lang="en" sz="2400"/>
              <a:t>Keep it readable for a mixed audience (CS + neuro)</a:t>
            </a:r>
            <a:endParaRPr i="1" sz="2400"/>
          </a:p>
        </p:txBody>
      </p:sp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5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7142"/>
              <a:buFont typeface="Calibri"/>
              <a:buNone/>
            </a:pPr>
            <a:r>
              <a:rPr lang="en"/>
              <a:t>After spring break: project + poster mini-conference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Apply what you’ve learned by designing and running a small evaluation study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Evaluate foundation/frontier models against human cog and behavior (and, where applicable, neural evidence)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Run or analyze tests using provided resources/tools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Present results in a project poster mini-conference</a:t>
            </a:r>
            <a:endParaRPr sz="2400"/>
          </a:p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6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Project mini-conference (posters)</a:t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After spring break: run a small evaluation/test (no graded coding)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Goal: produce evidence + interpret it carefully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Poster: question • method • results • caveats • next experiment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Peer feedback: each student provides constructive comments/questions</a:t>
            </a:r>
            <a:endParaRPr/>
          </a:p>
        </p:txBody>
      </p:sp>
      <p:sp>
        <p:nvSpPr>
          <p:cNvPr id="172" name="Google Shape;17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27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Grading overview</a:t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Final exam: 20%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Weekly work: 40% (reading responses, follow-ups, short assignments, project poster)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Lightning talks: 20%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Participation: 20% (in-class + Ed)</a:t>
            </a:r>
            <a:endParaRPr/>
          </a:p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8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Attendance and late policy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Attendance expected at every class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Late work: follow stated deadlines on course website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Extensions/absences: contact instructor early; documentation may be requested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Lecture capture may be available for final-exam study only (not a substitute for attending)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Many in-class activities and reading checks require in-person participation</a:t>
            </a:r>
            <a:endParaRPr/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9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Participation pathways (including for shy students)</a:t>
            </a:r>
            <a:endParaRPr/>
          </a:p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In-class: ask questions, contribute to synthesis, small-group discussion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Async: Ed posts (question/critique/connection) + replies to peers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Paper radar: share relevant papers using a short template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We value thoughtful engagement over airtime</a:t>
            </a:r>
            <a:endParaRPr/>
          </a:p>
        </p:txBody>
      </p:sp>
      <p:sp>
        <p:nvSpPr>
          <p:cNvPr id="196" name="Google Shape;19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0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GenAI policy: the principle</a:t>
            </a:r>
            <a:endParaRPr/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This course is about practicing critical reading and scientific thinking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Most grades reward doing the work and demonstrating engagement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Polishing writing with GenAI offers little benefit and can undermine learning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Use GenAI to complement learning—not replace it</a:t>
            </a:r>
            <a:endParaRPr/>
          </a:p>
        </p:txBody>
      </p:sp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1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GenAI: allowed uses (examples)</a:t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Clarify terms you don't understand (methods, math, jargon)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Ask for alternative explanations of a figure/result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Brainstorm confounds or follow-up experiments (you choose the final)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Generate study questions or a reading checklist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Initial pointers to related literature (verify with proper tools)</a:t>
            </a:r>
            <a:endParaRPr/>
          </a:p>
        </p:txBody>
      </p:sp>
      <p:sp>
        <p:nvSpPr>
          <p:cNvPr id="212" name="Google Shape;21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32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GenAI: not allowed (unless explicitly permitted)</a:t>
            </a:r>
            <a:endParaRPr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Writing or substantially rewriting your response papers or follow-ups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Generating lightning talk content in place of your own understanding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Using GenAI during in-class reading checks or the final exam</a:t>
            </a:r>
            <a:endParaRPr/>
          </a:p>
        </p:txBody>
      </p:sp>
      <p:sp>
        <p:nvSpPr>
          <p:cNvPr id="220" name="Google Shape;22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33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7142"/>
              <a:buFont typeface="Calibri"/>
              <a:buNone/>
            </a:pPr>
            <a:r>
              <a:rPr lang="en"/>
              <a:t>GenAI use statement (mandatory for every submission)</a:t>
            </a:r>
            <a:endParaRPr/>
          </a:p>
        </p:txBody>
      </p:sp>
      <p:sp>
        <p:nvSpPr>
          <p:cNvPr id="227" name="Google Shape;227;p34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Every submission will include a short “GenAI use statement.” as a required field (or include it at the end of your submission). Choose one:</a:t>
            </a:r>
            <a:endParaRPr sz="2400"/>
          </a:p>
          <a:p>
            <a:pPr indent="-3810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No GenAI used: “No GenAI used for this submission.”</a:t>
            </a:r>
            <a:endParaRPr sz="2400"/>
          </a:p>
          <a:p>
            <a:pPr indent="-381000" lvl="1" marL="9144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GenAI used (allowed): “GenAI used: [tool]. Purpose: [1 sentence describing how you used it].”</a:t>
            </a:r>
            <a:endParaRPr sz="2400"/>
          </a:p>
        </p:txBody>
      </p:sp>
      <p:sp>
        <p:nvSpPr>
          <p:cNvPr id="228" name="Google Shape;22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4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Academic integrity (quick reminders)</a:t>
            </a:r>
            <a:endParaRPr/>
          </a:p>
        </p:txBody>
      </p:sp>
      <p:sp>
        <p:nvSpPr>
          <p:cNvPr id="235" name="Google Shape;235;p35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Do not copy/paste text from papers or the internet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Cite sources when using others' ideas, figures, or wording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If unsure, ask—misunderstanding is not a defense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Course materials are copyrighted; do not redistribute</a:t>
            </a:r>
            <a:endParaRPr/>
          </a:p>
        </p:txBody>
      </p:sp>
      <p:sp>
        <p:nvSpPr>
          <p:cNvPr id="236" name="Google Shape;23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35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Where to find everything</a:t>
            </a:r>
            <a:endParaRPr/>
          </a:p>
        </p:txBody>
      </p:sp>
      <p:sp>
        <p:nvSpPr>
          <p:cNvPr id="243" name="Google Shape;243;p36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Course website: schedule, readings, slides, assignments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Ed Discussion: main point of contact for questions and announcements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If your question might help someone else, post it on Ed for everyone’s benefit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/>
              <a:t>Students registered for the course should be auto-enrolled in Ed</a:t>
            </a:r>
            <a:endParaRPr/>
          </a:p>
        </p:txBody>
      </p:sp>
      <p:sp>
        <p:nvSpPr>
          <p:cNvPr id="244" name="Google Shape;24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36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Key dates (Spring 2026)</a:t>
            </a:r>
            <a:endParaRPr/>
          </a:p>
        </p:txBody>
      </p:sp>
      <p:sp>
        <p:nvSpPr>
          <p:cNvPr id="251" name="Google Shape;251;p37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Bootcamp (async replacing class): Tue 1/27 and Thu 1/29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Spring break: Tue 3/24 and Thu 3/26 (no class)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Project studio: Tue 3/31 and Thu 4/2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Project poster mini-conference: Tue 4/7 and Thu 4/9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Guest lectures: Tue 4/14, Thu 4/16, Tue 4/21, Thu 4/23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Final exam: Tue 5/12 at 9:00am</a:t>
            </a:r>
            <a:endParaRPr/>
          </a:p>
        </p:txBody>
      </p:sp>
      <p:sp>
        <p:nvSpPr>
          <p:cNvPr id="252" name="Google Shape;25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37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Project (after spring break): what you will do</a:t>
            </a:r>
            <a:endParaRPr/>
          </a:p>
        </p:txBody>
      </p:sp>
      <p:sp>
        <p:nvSpPr>
          <p:cNvPr id="259" name="Google Shape;259;p38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Goal: run a small evaluation/test and interpret the evidence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No graded coding; use provided resources and workflows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Deliverable: a poster (question • method • results • caveats • next experiment)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Poster mini-conference: present and receive peer feedback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This builds skills for critical evaluation of AI claims</a:t>
            </a:r>
            <a:endParaRPr/>
          </a:p>
        </p:txBody>
      </p:sp>
      <p:sp>
        <p:nvSpPr>
          <p:cNvPr id="260" name="Google Shape;26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38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Policies: late work and extensions</a:t>
            </a:r>
            <a:endParaRPr/>
          </a:p>
        </p:txBody>
      </p:sp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Late work: </a:t>
            </a:r>
            <a:r>
              <a:rPr lang="en"/>
              <a:t>2</a:t>
            </a:r>
            <a:r>
              <a:rPr lang="en" sz="2200"/>
              <a:t>0% off for each day an assignment is late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" sz="2200"/>
              <a:t>Applies to weekly submissions, lightning deliverables, and project milestones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Extensions: request as early as possible (see syllabus for documentation rules)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Regrading: follow the syllabus procedure (clear justification required)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No extra credit (focus on steady engagement)</a:t>
            </a:r>
            <a:endParaRPr/>
          </a:p>
        </p:txBody>
      </p:sp>
      <p:sp>
        <p:nvSpPr>
          <p:cNvPr id="268" name="Google Shape;26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9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Policies: laptops and attention</a:t>
            </a:r>
            <a:endParaRPr/>
          </a:p>
        </p:txBody>
      </p:sp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Laptops in class are discouraged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" sz="2200"/>
              <a:t>It’s easy to get distracted; screens also distract others behind you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Slides are posted—no need to copy everything down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Paper notes are encouraged; ask questions and participate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If you need a device for accommodations, that’s always OK</a:t>
            </a:r>
            <a:endParaRPr/>
          </a:p>
        </p:txBody>
      </p:sp>
      <p:sp>
        <p:nvSpPr>
          <p:cNvPr id="276" name="Google Shape;27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40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How to read papers in this course</a:t>
            </a:r>
            <a:endParaRPr/>
          </a:p>
        </p:txBody>
      </p:sp>
      <p:sp>
        <p:nvSpPr>
          <p:cNvPr id="283" name="Google Shape;283;p41"/>
          <p:cNvSpPr txBox="1"/>
          <p:nvPr>
            <p:ph idx="1" type="body"/>
          </p:nvPr>
        </p:nvSpPr>
        <p:spPr>
          <a:xfrm>
            <a:off x="311700" y="1371600"/>
            <a:ext cx="8520600" cy="27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Goal: get the big idea and evaluate the evidence—don’t get lost in details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Read coarse → fine:</a:t>
            </a:r>
            <a:endParaRPr/>
          </a:p>
          <a:p>
            <a:pPr indent="-368300" lvl="1" marL="9144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" sz="2200"/>
              <a:t>Abstract + intro: What problem? What claim?</a:t>
            </a:r>
            <a:endParaRPr/>
          </a:p>
          <a:p>
            <a:pPr indent="-368300" lvl="1" marL="9144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" sz="2200"/>
              <a:t>Figures + captions: What is the evidence?</a:t>
            </a:r>
            <a:endParaRPr/>
          </a:p>
          <a:p>
            <a:pPr indent="-368300" lvl="1" marL="9144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" sz="2200"/>
              <a:t>Methods: only what you need to judge the evidence</a:t>
            </a:r>
            <a:endParaRPr/>
          </a:p>
          <a:p>
            <a:pPr indent="-368300" lvl="1" marL="9144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" sz="2200"/>
              <a:t>Discussion/limits: confounds, assumptions, what’s missing</a:t>
            </a:r>
            <a:endParaRPr/>
          </a:p>
        </p:txBody>
      </p:sp>
      <p:sp>
        <p:nvSpPr>
          <p:cNvPr id="284" name="Google Shape;28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41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How to read papers in this course</a:t>
            </a:r>
            <a:endParaRPr/>
          </a:p>
        </p:txBody>
      </p:sp>
      <p:sp>
        <p:nvSpPr>
          <p:cNvPr id="291" name="Google Shape;291;p42"/>
          <p:cNvSpPr txBox="1"/>
          <p:nvPr>
            <p:ph idx="1" type="body"/>
          </p:nvPr>
        </p:nvSpPr>
        <p:spPr>
          <a:xfrm>
            <a:off x="311700" y="1371600"/>
            <a:ext cx="85206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For long reviews: skim structure + key figures; focus on takeaways and debates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Be ready for high-level method questions (setup, metrics, controls, validity)</a:t>
            </a:r>
            <a:endParaRPr/>
          </a:p>
        </p:txBody>
      </p:sp>
      <p:sp>
        <p:nvSpPr>
          <p:cNvPr id="292" name="Google Shape;29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42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Study groups (strongly encouraged)</a:t>
            </a:r>
            <a:endParaRPr/>
          </a:p>
        </p:txBody>
      </p:sp>
      <p:sp>
        <p:nvSpPr>
          <p:cNvPr id="299" name="Google Shape;299;p43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Form a small study group (2–5 people) early—mix backgrounds if possible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Use Ed to find partners and coordinate meeting times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" sz="2200"/>
              <a:t>If you prefer solo study, you can still participate via Ed discussion threads</a:t>
            </a:r>
            <a:endParaRPr/>
          </a:p>
        </p:txBody>
      </p:sp>
      <p:sp>
        <p:nvSpPr>
          <p:cNvPr id="300" name="Google Shape;30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43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Communication + next steps</a:t>
            </a:r>
            <a:endParaRPr/>
          </a:p>
        </p:txBody>
      </p:sp>
      <p:sp>
        <p:nvSpPr>
          <p:cNvPr id="307" name="Google Shape;307;p44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Course website: schedule, readings, slides, assignments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Ed: questions, discussion, participation!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Next: complete Week 2 bootcamp; come ready for Week 3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Bring questions!</a:t>
            </a:r>
            <a:endParaRPr/>
          </a:p>
        </p:txBody>
      </p:sp>
      <p:sp>
        <p:nvSpPr>
          <p:cNvPr id="308" name="Google Shape;30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44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Week 2 bootcamp (asynchronous)</a:t>
            </a:r>
            <a:endParaRPr/>
          </a:p>
        </p:txBody>
      </p:sp>
      <p:sp>
        <p:nvSpPr>
          <p:cNvPr id="315" name="Google Shape;315;p45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Replaces Tue/Thu class meetings that week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Required Core (all students): Marr’s Levels of Analysis + high-level brain-organization overview</a:t>
            </a:r>
            <a:endParaRPr sz="2400"/>
          </a:p>
        </p:txBody>
      </p:sp>
      <p:sp>
        <p:nvSpPr>
          <p:cNvPr id="316" name="Google Shape;31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5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Week 2 bootcamp (asynchronous)</a:t>
            </a:r>
            <a:endParaRPr/>
          </a:p>
        </p:txBody>
      </p:sp>
      <p:sp>
        <p:nvSpPr>
          <p:cNvPr id="323" name="Google Shape;323;p46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Conditional Track A (Cog neuro): Required only if you have not taken 1–2 courses in neuro/cogn neuro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Conditional Track B (Linear algebra): Required only if vectors/matrices/linear transformations feel rusty</a:t>
            </a:r>
            <a:endParaRPr sz="2400"/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400"/>
              <a:buChar char="●"/>
            </a:pPr>
            <a:r>
              <a:rPr lang="en" sz="2400"/>
              <a:t>Conditional Track C (Deep learning intuition): Required only if gradient descent/backprop are unfamiliar</a:t>
            </a:r>
            <a:endParaRPr sz="2400"/>
          </a:p>
        </p:txBody>
      </p:sp>
      <p:sp>
        <p:nvSpPr>
          <p:cNvPr id="324" name="Google Shape;32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6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Note on Spring 2026</a:t>
            </a:r>
            <a:endParaRPr/>
          </a:p>
        </p:txBody>
      </p:sp>
      <p:sp>
        <p:nvSpPr>
          <p:cNvPr id="331" name="Google Shape;331;p47"/>
          <p:cNvSpPr txBox="1"/>
          <p:nvPr>
            <p:ph idx="1" type="body"/>
          </p:nvPr>
        </p:nvSpPr>
        <p:spPr>
          <a:xfrm>
            <a:off x="311700" y="13716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/>
              <a:t>This course was substantially revamped for Spring 2026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/>
              <a:t>Think of it as a live experiment: we’ll iterate as we go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/>
              <a:t>NeuroAI is moving fast — we may update readings, guests, and activities during the semester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"/>
              <a:t>The course website is the source of truth for the latest materials and schedule</a:t>
            </a:r>
            <a:endParaRPr/>
          </a:p>
          <a:p>
            <a:pPr indent="-3429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"/>
              <a:t>Thanks in advance for your flexibility and patience as we refine the course together</a:t>
            </a:r>
            <a:endParaRPr/>
          </a:p>
        </p:txBody>
      </p:sp>
      <p:sp>
        <p:nvSpPr>
          <p:cNvPr id="332" name="Google Shape;33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47"/>
          <p:cNvSpPr txBox="1"/>
          <p:nvPr>
            <p:ph idx="2" type="subTitle"/>
          </p:nvPr>
        </p:nvSpPr>
        <p:spPr>
          <a:xfrm>
            <a:off x="-3870" y="4726261"/>
            <a:ext cx="4046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utfi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