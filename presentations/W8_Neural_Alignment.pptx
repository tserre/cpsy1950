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12"/>
    <p:sldId id="260" r:id="rId19"/>
    <p:sldId id="261" r:id="rId5"/>
    <p:sldId id="262" r:id="rId20"/>
    <p:sldId id="263" r:id="rId13"/>
    <p:sldId id="264" r:id="rId35"/>
    <p:sldId id="265" r:id="rId36"/>
    <p:sldId id="266" r:id="rId37"/>
    <p:sldId id="267" r:id="rId38"/>
    <p:sldId id="268" r:id="rId39"/>
    <p:sldId id="269" r:id="rId40"/>
    <p:sldId id="270" r:id="rId21"/>
    <p:sldId id="271" r:id="rId22"/>
    <p:sldId id="272" r:id="rId14"/>
    <p:sldId id="273" r:id="rId23"/>
    <p:sldId id="274" r:id="rId41"/>
    <p:sldId id="275" r:id="rId24"/>
    <p:sldId id="276" r:id="rId25"/>
    <p:sldId id="277" r:id="rId42"/>
    <p:sldId id="278" r:id="rId15"/>
    <p:sldId id="279" r:id="rId26"/>
    <p:sldId id="280" r:id="rId43"/>
    <p:sldId id="281" r:id="rId27"/>
    <p:sldId id="282" r:id="rId6"/>
    <p:sldId id="283" r:id="rId16"/>
    <p:sldId id="284" r:id="rId28"/>
    <p:sldId id="285" r:id="rId46"/>
    <p:sldId id="286" r:id="rId44"/>
    <p:sldId id="287" r:id="rId17"/>
    <p:sldId id="288" r:id="rId45"/>
    <p:sldId id="289" r:id="rId30"/>
    <p:sldId id="290" r:id="rId31"/>
    <p:sldId id="291" r:id="rId32"/>
    <p:sldId id="292" r:id="rId18"/>
    <p:sldId id="293" r:id="rId33"/>
    <p:sldId id="294" r:id="rId34"/>
    <p:sldId id="295" r:id="rId29"/>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welcome back, quick recap of where we left off last week with architecttic choices. Today: how do we actually TEST whether a model matches the brain? This is the empirical backbone of computational neuroscience/neuroAI.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of 13. We've covered architectures, objectives, data. Now the question becomes: once you have a model, how do you know if it's any good as a model of the brain? That's what today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for today. Going to cover a LOT — this is all background you need for Thursday's lightning talks. Don't worry about memorizing everything, focus on the logic behind each method. Will post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SLIDE — Doerig et al. desiderata table/figure. Point out the multiple levels of comparison. Most models only do 1-2 of these well. The field is working toward hitting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Head-to-head comparison: RSA vs encoding models. Both valid, different strengths. Encoding: directly predictive, can leverage rich feature spaces, but depends on linear mapping assumption. RSA: more abstract, doesn't assume linear readout, easier to compare across measurement modalities, but throws away some info. In practice, results often agree. Some papers use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compare? Not just academic — this is how we test theories. If your model of V1 doesn't predict V1 responses, your theory is wrong. Period. NeuroAI goes both ways: brain insights improve AI, AI models help us understand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 neural recording methods. Need to understand what data we're working with before we can talk about how to compare. Each method has different tradeoffs. No perfect method — always trading something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models section. This is probably the most important framework to understand. Core idea: can you predict brain activity FROM model features? If yes → the model captures something the brain cares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RSA section — Representational Similarity Analysis. Kriegeskorte et al. 2008. Different philosophy from encoding: instead of predicting responses directly, compare the GEOMETRY of representations. Two systems are similar if they find the same stimuli similar/different.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section — the "flip side" of encoding. Encoding: predict brain from model. Decoding: predict stimulus (or model features) from brain. If you can decode category info from V1 → that info is present in V1 activity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Stats section — the boring-but-crucial stuff. All these methods need proper statistical evaluation. Easy to fool yourself with brain data. Small N, high dimensionality, lots of multiple comparisons. This section = how not to get fooled.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Bigger picture section — where is the field going? We've covered the tools, now zoom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Doerig et al. 2023 — neuroconnectionist research programme. Key desiderata for what makes a good computational model of the brain. Multi-level: behavior, neural responses, learning dynamics. Not enough to just match accuracy — need to match HOW processing happens. [FIGURE: swap in the actual desiderata figure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"alignment" actually mean? Not that the model IS the brain. It's a quantitative measure of similarity between internal representations. High alignment = the model organizes information similarly to how neurons do. Can measure at different levels: single neuron, population,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comparison table — helps students see the tradeoffs at a glance. Key insight: no single method does everything. That's why multimodal approaches and computational models are so important — they help bridge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method for which question? The method constrains what you can study. If you care about millisecond timing → EEG/MEG/ephys. If you care about where in the brain → fMRI. If you want single-neuron detail → ephys/2-photon. If you want large populations → Neuropixels/calcium imaging. Many of the lightning talk papers use fMRI or ephys — keep these tradeoffs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 predict brain from model. You take features from a DNN layer, fit a linear mapping to neural responses, test on held-out data. The R² tells you how well the model "explains" that brain region. Higher R² = better alignment. Simple concept, powerful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walkthrough. 1) Show images to both the model and the brain. 2) Extract activations from a specific DNN layer. 3) Fit linear regression: brain_response = W × model_features + b. 4) Evaluate on held-out stimuli using correlation or R². Key: the linear constraint is important — we're testing whether the info is explicitly available in the representation, not whether some complex transform could extract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encoding tell us? Layer-by-layer analysis reveals a correspondence: early DNN layers → early visual cortex, deep layers → IT cortex. This was a huge finding (Yamins et al. 2014, Khaligh-Razavi &amp; Kriegeskorte 2014). Not perfect — gaps remain — but surprisingly good for models not trained on brain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RSA core idea: forget the actual neural firing rates. Instead ask: which stimuli produce similar patterns? Build a matrix of all pairwise similarities → the Representational Dissimilarity Matrix (RDM). Compare RDMs between brain and model. Elegant because it abstracts away the units — can compare across totally different measurement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RDMs — multiple ways. Spearman correlation between vectorized upper triangles is most common. Can also use Kendall's tau (rank-based, more robust). Statistical testing with permutation tests or bootstrap. Can compare multiple models at once — which model's RDM best matches the brain's?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framework: take brain activity patterns, train a classifier or regression to predict what stimulus was shown (or what the subject was thinking/doing). Popular because intuitive — "can we read out X from brain region Y?" But careful: decodability ≠ representation. Just because you CAN decode something doesn't mean the brain USES that info in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Lightning talks preview — Thursday you'll present on these papers. Each uses some combination of the methods we discussed today. As you listen to each talk, try to identify: what neural data? what comparison method? what's the main finding? I'll be looking for that in the Q&amp;A. Have fun with these — they're all cool recent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Cross-validation — don't test on your training data! Sounds obvious but the details matter. K-fold: split data into K parts, train on K-1, test on 1, rotate. Leave-one-out: extreme version. For neural data: be careful about temporal autocorrelation — consecutive timepoints are correlated, so random splits can leak info. Use block cross-validation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Bootstrapping — resampling method for confidence intervals. Sample with replacement from your data, recompute your statistic, repeat 1000+ times, get a distribution. Useful when you can't assume normality (you usually can't with neural data). Also: permutation tests — shuffle labels, recompute, build null distribution. p-value = fraction of null values ≥ your observed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pitfalls to warn students about. Double dipping (using same data to select and test). Multiple comparisons (testing 50k voxels = lots of false positives → need FDR or cluster correction). Overfitting with too many features relative to observations. Circular analysis (Kriegeskorte et al. 2009). Not reporting noise ceiling. Confounds in stimulus sets (low-level features driving "high-level"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Brain-Score (Schrimpf et al.) — attempt to create a unified benchmark. Score models on how well they predict neural + behavioral data across multiple brain regions and tasks. Like ImageNet for neuroAI. Controversial but useful. Shows that task-optimized DNNs are decent but not great brain models. Gap is closing but real differences remain. Current best models explain ~60-70% of IT noise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accuracy — alignment isn't everything. Models can predict well for wrong reasons. Need to also check: does the model fail in the same ways as the brain? Does it have similar biases? Similar learning dynamics? This connects back to Doerig's desiderata. The field is moving toward more nuanced comparisons beyond just R²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fMRI — the workhorse of human neuroscience. Measures BOLD signal (blood oxygen). Pros: whole-brain, decent spatial res (~1-3mm). Cons: slow (TR ~1-2s), indirect measure of neural activity, expensive, participants must stay still. Good for: mapping which brain regions respond to what. [FIGURE: example fMRI activation map or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EEG/MEG — electrical/magnetic signals from scalp. Pros: millisecond temporal resolution, relatively cheap (EEG), portable. Cons: poor spatial resolution (EEG smeared by skull), limited to cortical sources. Good for: tracking timing of processing, oscillations. MEG slightly better spatial but very expensive. [FIGURE: EEG cap + example ERP waveform]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Single-unit / multi-unit electrophysiology — the gold standard for understanding individual neurons. Electrode in the brain records action potentials. Pros: single-neuron resolution, millisecond timing. Cons: invasive (mostly animals), limited number of neurons, can't easily do whole-brain. Classic method behind all the tuning curve work. [FIGURE: recording setup + spike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ECoG (electrocorticography) — electrode grids placed directly on cortical surface. Only in epilepsy patients pre-surgery. Pros: great temporal res + better spatial than EEG. Cons: limited coverage (where electrodes happen to be), rare patient population, ethical constraints. [FIGURE: ECoG grid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Two-photon calcium imaging — optical method, mostly in mice. Fluorescent indicator lights up when neurons fire. Pros: can image hundreds-thousands of neurons simultaneously, see their spatial layout. Cons: slow indicator dynamics (~100ms), limited depth, requires surgery + cranial window, mostly rodents. [FIGURE: two-photon FOV with labeled neurons]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Neuropixels — game changer for electrophysiology. Long silicon probes with hundreds of recording sites. Can record from thousands of neurons across brain regions simultaneously. Revolutionizing systems neuro in mice + starting in humans. Bridge between single-unit and population-level analysis. [FIGURE: Neuropixels probe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 encoding model pipeline diagram. Show: stimuli → DNN → extract features from layer L → linear regression → predicted neural response → compare to actual. [CREATE DIAGRAM or use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 layer-to-region mapping. Classic result showing DNN layers aligned with visual hierarchy. [FIGURE: the Yamins-style layer mapping or a Brain-Score-style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 Building RDMs. For N stimuli, compute NxN matrix of pairwise distances (1 - correlation, typically). Each cell = how different are the responses to stimulus i vs j. Do this for the brain data AND for each model layer. The structure of the RDM IS the representation. [CREATE DIAGRAM: stimuli → responses → RDM]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 BCI / speech decoding example. Show that decoding isn't just academic — real clinical applications. Willett et al. (brain-to-text), speech neuroprosthetics. These use decoding frameworks with neural networks. [FIGURE: BCI speech decoding pipeline or result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 noise ceiling concept. The noise ceiling is the theoretical maximum performance any model could achieve given the noise in the data. If your model hits R² = 0.3 and the noise ceiling is 0.35, that's actually amazing (86% of explainable variance). Without the noise ceiling, R² = 0.3 looks mediocre. Always compute and report the noise ceiling. [CREATE DIAGRAM: showing noise ceiling as upper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Encoding tells you what the brain represents. Decoding tells you what info is AVAILABLE. Encoding is theory-driven (need a model). Decoding is data-driven (just need labels). Both useful, different questions. The lightning talks use a mix — pay attention to which framework each paper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PSY_TITLE">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0" y="36576"/>
            <a:ext cx="9144000" cy="3858768"/>
          </a:xfrm>
          <a:prstGeom prst="rect">
            <a:avLst/>
          </a:prstGeom>
          <a:noFill/>
          <a:ln/>
        </p:spPr>
        <p:txBody>
          <a:bodyPr wrap="square" rtlCol="0"/>
          <a:lstStyle>
            <a:lvl1pPr algn="ctr" indent="0" marL="0">
              <a:buNone/>
              <a:defRPr lang="en-US" sz="3800" b="1" dirty="0">
                <a:solidFill>
                  <a:srgbClr val="FFFFFF"/>
                </a:solidFill>
                <a:latin typeface="Outfit" pitchFamily="34" charset="0"/>
                <a:ea typeface="Outfit" pitchFamily="34" charset="-122"/>
                <a:cs typeface="Outfit" pitchFamily="34" charset="-120"/>
              </a:defRPr>
            </a:lvl1pPr>
          </a:lstStyle>
          <a:p>
            <a:pPr algn="ctr" indent="0" marL="0">
              <a:buNone/>
            </a:pPr>
            <a:r>
              <a:rPr lang="en-US" sz="3800" b="1" dirty="0">
                <a:solidFill>
                  <a:srgbClr val="FFFFFF"/>
                </a:solidFill>
                <a:latin typeface="Outfit" pitchFamily="34" charset="0"/>
                <a:ea typeface="Outfit" pitchFamily="34" charset="-122"/>
                <a:cs typeface="Outfit" pitchFamily="34" charset="-120"/>
              </a:rPr>
              <a:t>(Lecture title)</a:t>
            </a:r>
            <a:endParaRPr lang="en-US" sz="3800" dirty="0"/>
          </a:p>
        </p:txBody>
      </p:sp>
      <p:sp>
        <p:nvSpPr>
          <p:cNvPr id="3" name="Text 0"/>
          <p:cNvSpPr/>
          <p:nvPr>
            <p:ph idx="101" type="body" hasCustomPrompt="1"/>
          </p:nvPr>
        </p:nvSpPr>
        <p:spPr>
          <a:xfrm>
            <a:off x="914400" y="3977640"/>
            <a:ext cx="7315200" cy="822960"/>
          </a:xfrm>
          <a:prstGeom prst="rect">
            <a:avLst/>
          </a:prstGeom>
          <a:noFill/>
          <a:ln/>
        </p:spPr>
        <p:txBody>
          <a:bodyPr wrap="square" rtlCol="0"/>
          <a:lstStyle>
            <a:lvl1pPr algn="ctr" indent="0" marL="0">
              <a:buNone/>
              <a:defRPr lang="en-US" sz="2000" dirty="0">
                <a:solidFill>
                  <a:srgbClr val="334155"/>
                </a:solidFill>
                <a:latin typeface="Outfit" pitchFamily="34" charset="0"/>
                <a:ea typeface="Outfit" pitchFamily="34" charset="-122"/>
                <a:cs typeface="Outfit" pitchFamily="34" charset="-120"/>
              </a:defRPr>
            </a:lvl1pPr>
          </a:lstStyle>
          <a:p>
            <a:pPr algn="ctr" indent="0" marL="0">
              <a:buNone/>
            </a:pPr>
            <a:r>
              <a:rPr lang="en-US" sz="2000" dirty="0">
                <a:solidFill>
                  <a:srgbClr val="334155"/>
                </a:solidFill>
                <a:latin typeface="Outfit" pitchFamily="34" charset="0"/>
                <a:ea typeface="Outfit" pitchFamily="34" charset="-122"/>
                <a:cs typeface="Outfit" pitchFamily="34" charset="-120"/>
              </a:rPr>
              <a:t>(Tagline or guiding question)</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PSY_SECTION">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77240" y="1554480"/>
            <a:ext cx="36576" cy="1645920"/>
          </a:xfrm>
          <a:prstGeom prst="rect">
            <a:avLst/>
          </a:prstGeom>
          <a:solidFill>
            <a:srgbClr val="4F46E5"/>
          </a:solidFill>
          <a:ln/>
        </p:spPr>
      </p:sp>
      <p:sp>
        <p:nvSpPr>
          <p:cNvPr id="3" name="Text 1"/>
          <p:cNvSpPr/>
          <p:nvPr>
            <p:ph idx="101" type="title" hasCustomPrompt="1"/>
          </p:nvPr>
        </p:nvSpPr>
        <p:spPr>
          <a:xfrm>
            <a:off x="1005840" y="1554480"/>
            <a:ext cx="7315200" cy="914400"/>
          </a:xfrm>
          <a:prstGeom prst="rect">
            <a:avLst/>
          </a:prstGeom>
          <a:noFill/>
          <a:ln/>
        </p:spPr>
        <p:txBody>
          <a:bodyPr wrap="square" rtlCol="0"/>
          <a:lstStyle>
            <a:lvl1pPr algn="l" indent="0" marL="0">
              <a:buNone/>
              <a:defRPr lang="en-US" sz="3600" b="1" dirty="0">
                <a:solidFill>
                  <a:srgbClr val="FFFFFF"/>
                </a:solidFill>
                <a:latin typeface="Outfit" pitchFamily="34" charset="0"/>
                <a:ea typeface="Outfit" pitchFamily="34" charset="-122"/>
                <a:cs typeface="Outfit" pitchFamily="34" charset="-120"/>
              </a:defRPr>
            </a:lvl1pPr>
          </a:lstStyle>
          <a:p>
            <a:pPr algn="l" indent="0" marL="0">
              <a:buNone/>
            </a:pPr>
            <a:r>
              <a:rPr lang="en-US" sz="3600" b="1" dirty="0">
                <a:solidFill>
                  <a:srgbClr val="FFFFFF"/>
                </a:solidFill>
                <a:latin typeface="Outfit" pitchFamily="34" charset="0"/>
                <a:ea typeface="Outfit" pitchFamily="34" charset="-122"/>
                <a:cs typeface="Outfit" pitchFamily="34" charset="-120"/>
              </a:rPr>
              <a:t>(Section title)</a:t>
            </a:r>
            <a:endParaRPr lang="en-US" sz="3600" dirty="0"/>
          </a:p>
        </p:txBody>
      </p:sp>
      <p:sp>
        <p:nvSpPr>
          <p:cNvPr id="4" name="Text 1"/>
          <p:cNvSpPr/>
          <p:nvPr>
            <p:ph idx="102" type="body" hasCustomPrompt="1"/>
          </p:nvPr>
        </p:nvSpPr>
        <p:spPr>
          <a:xfrm>
            <a:off x="1005840" y="2560320"/>
            <a:ext cx="7315200" cy="548640"/>
          </a:xfrm>
          <a:prstGeom prst="rect">
            <a:avLst/>
          </a:prstGeom>
          <a:noFill/>
          <a:ln/>
        </p:spPr>
        <p:txBody>
          <a:bodyPr wrap="square" rtlCol="0"/>
          <a:lstStyle>
            <a:lvl1pPr algn="l" indent="0" marL="0">
              <a:buNone/>
              <a:defRPr lang="en-US" sz="1800" dirty="0">
                <a:solidFill>
                  <a:srgbClr val="4F46E5"/>
                </a:solidFill>
                <a:latin typeface="Outfit" pitchFamily="34" charset="0"/>
                <a:ea typeface="Outfit" pitchFamily="34" charset="-122"/>
                <a:cs typeface="Outfit" pitchFamily="34" charset="-120"/>
              </a:defRPr>
            </a:lvl1pPr>
          </a:lstStyle>
          <a:p>
            <a:pPr algn="l" indent="0" marL="0">
              <a:buNone/>
            </a:pPr>
            <a:r>
              <a:rPr lang="en-US" sz="1800" dirty="0">
                <a:solidFill>
                  <a:srgbClr val="4F46E5"/>
                </a:solidFill>
                <a:latin typeface="Outfit" pitchFamily="34" charset="0"/>
                <a:ea typeface="Outfit" pitchFamily="34" charset="-122"/>
                <a:cs typeface="Outfit" pitchFamily="34" charset="-120"/>
              </a:rPr>
              <a:t>(Guiding question or subtitle)</a:t>
            </a: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PSY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rtlCol="0"/>
          <a:lstStyle>
            <a:lvl1pPr algn="ctr" indent="0" marL="0">
              <a:buNone/>
              <a:defRPr lang="en-US" sz="2800" b="1" dirty="0">
                <a:solidFill>
                  <a:srgbClr val="4F46E5"/>
                </a:solidFill>
                <a:latin typeface="Outfit" pitchFamily="34" charset="0"/>
                <a:ea typeface="Outfit" pitchFamily="34" charset="-122"/>
                <a:cs typeface="Outfit" pitchFamily="34" charset="-120"/>
              </a:defRPr>
            </a:lvl1pPr>
          </a:lstStyle>
          <a:p>
            <a:pPr algn="ctr" indent="0" marL="0">
              <a:buNone/>
            </a:pPr>
            <a:r>
              <a:rPr lang="en-US" sz="2800" b="1" dirty="0">
                <a:solidFill>
                  <a:srgbClr val="4F46E5"/>
                </a:solidFill>
                <a:latin typeface="Outfit" pitchFamily="34" charset="0"/>
                <a:ea typeface="Outfit" pitchFamily="34" charset="-122"/>
                <a:cs typeface="Outfit" pitchFamily="34" charset="-120"/>
              </a:rPr>
              <a:t>(Slide title)</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rtlCol="0"/>
          <a:lstStyle>
            <a:lvl1pPr algn="l" indent="0" marL="0">
              <a:lnSpc>
                <a:spcPct val="115000"/>
              </a:lnSpc>
              <a:buNone/>
              <a:defRPr lang="en-US" sz="1600" dirty="0">
                <a:solidFill>
                  <a:srgbClr val="334155"/>
                </a:solidFill>
                <a:latin typeface="Outfit" pitchFamily="34" charset="0"/>
                <a:ea typeface="Outfit" pitchFamily="34" charset="-122"/>
                <a:cs typeface="Outfit" pitchFamily="34" charset="-120"/>
              </a:defRPr>
            </a:lvl1pPr>
          </a:lstStyle>
          <a:p>
            <a:pPr algn="l" indent="0" marL="0">
              <a:lnSpc>
                <a:spcPct val="115000"/>
              </a:lnSpc>
              <a:buNone/>
            </a:pPr>
            <a:r>
              <a:rPr lang="en-US" sz="1600" dirty="0">
                <a:solidFill>
                  <a:srgbClr val="334155"/>
                </a:solidFill>
                <a:latin typeface="Outfit" pitchFamily="34" charset="0"/>
                <a:ea typeface="Outfit" pitchFamily="34" charset="-122"/>
                <a:cs typeface="Outfit" pitchFamily="34" charset="-120"/>
              </a:rPr>
              <a:t>(Body content)</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rtlCol="0"/>
          <a:lstStyle>
            <a:lvl1pPr algn="l" indent="0" marL="0">
              <a:buNone/>
              <a:defRPr lang="en-US" sz="1200" i="1" dirty="0">
                <a:solidFill>
                  <a:srgbClr val="334155"/>
                </a:solidFill>
                <a:latin typeface="Zilla Slab Light" pitchFamily="34" charset="0"/>
                <a:ea typeface="Zilla Slab Light" pitchFamily="34" charset="-122"/>
                <a:cs typeface="Zilla Slab Light" pitchFamily="34" charset="-120"/>
              </a:defRPr>
            </a:lvl1pPr>
          </a:lstStyle>
          <a:p>
            <a:pPr algn="l" indent="0" marL="0">
              <a:buNone/>
            </a:pPr>
            <a:endParaRPr lang="en-US" sz="1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PSY_FIG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62D50"/>
          </a:solidFill>
          <a:ln/>
        </p:spPr>
      </p:sp>
      <p:sp>
        <p:nvSpPr>
          <p:cNvPr id="3" name="Text 1"/>
          <p:cNvSpPr/>
          <p:nvPr>
            <p:ph idx="101" type="body" hasCustomPrompt="1"/>
          </p:nvPr>
        </p:nvSpPr>
        <p:spPr>
          <a:xfrm>
            <a:off x="457200" y="73152"/>
            <a:ext cx="8229600" cy="457200"/>
          </a:xfrm>
          <a:prstGeom prst="rect">
            <a:avLst/>
          </a:prstGeom>
          <a:noFill/>
          <a:ln/>
        </p:spPr>
        <p:txBody>
          <a:bodyPr wrap="square" rtlCol="0"/>
          <a:lstStyle>
            <a:lvl1pPr algn="l" indent="0" marL="0">
              <a:buNone/>
              <a:defRPr lang="en-US" sz="1600" b="1" dirty="0">
                <a:solidFill>
                  <a:srgbClr val="FFFFFF"/>
                </a:solidFill>
                <a:latin typeface="Outfit" pitchFamily="34" charset="0"/>
                <a:ea typeface="Outfit" pitchFamily="34" charset="-122"/>
                <a:cs typeface="Outfit" pitchFamily="34" charset="-120"/>
              </a:defRPr>
            </a:lvl1pPr>
          </a:lstStyle>
          <a:p>
            <a:pPr algn="l" indent="0" marL="0">
              <a:buNone/>
            </a:pPr>
            <a:r>
              <a:rPr lang="en-US" sz="1600" b="1" dirty="0">
                <a:solidFill>
                  <a:srgbClr val="FFFFFF"/>
                </a:solidFill>
                <a:latin typeface="Outfit" pitchFamily="34" charset="0"/>
                <a:ea typeface="Outfit" pitchFamily="34" charset="-122"/>
                <a:cs typeface="Outfit" pitchFamily="34" charset="-120"/>
              </a:rPr>
              <a:t>(Author et al. (Year) — Figure N)</a:t>
            </a:r>
            <a:endParaRPr lang="en-US" sz="1600" dirty="0"/>
          </a:p>
        </p:txBody>
      </p:sp>
      <p:sp>
        <p:nvSpPr>
          <p:cNvPr id="4" name="Text 1"/>
          <p:cNvSpPr/>
          <p:nvPr>
            <p:ph idx="102" type="title" hasCustomPrompt="1"/>
          </p:nvPr>
        </p:nvSpPr>
        <p:spPr>
          <a:xfrm>
            <a:off x="310896" y="777240"/>
            <a:ext cx="8522208" cy="411480"/>
          </a:xfrm>
          <a:prstGeom prst="rect">
            <a:avLst/>
          </a:prstGeom>
          <a:noFill/>
          <a:ln/>
        </p:spPr>
        <p:txBody>
          <a:bodyPr wrap="square" rtlCol="0"/>
          <a:lstStyle>
            <a:lvl1pPr algn="ctr" indent="0" marL="0">
              <a:buNone/>
              <a:defRPr lang="en-US" sz="2000" b="1" dirty="0">
                <a:solidFill>
                  <a:srgbClr val="334155"/>
                </a:solidFill>
                <a:latin typeface="Outfit" pitchFamily="34" charset="0"/>
                <a:ea typeface="Outfit" pitchFamily="34" charset="-122"/>
                <a:cs typeface="Outfit" pitchFamily="34" charset="-120"/>
              </a:defRPr>
            </a:lvl1pPr>
          </a:lstStyle>
          <a:p>
            <a:pPr algn="ctr" indent="0" marL="0">
              <a:buNone/>
            </a:pPr>
            <a:r>
              <a:rPr lang="en-US" sz="2000" b="1" dirty="0">
                <a:solidFill>
                  <a:srgbClr val="334155"/>
                </a:solidFill>
                <a:latin typeface="Outfit" pitchFamily="34" charset="0"/>
                <a:ea typeface="Outfit" pitchFamily="34" charset="-122"/>
                <a:cs typeface="Outfit" pitchFamily="34" charset="-120"/>
              </a:rPr>
              <a:t>(Figure title)</a:t>
            </a:r>
            <a:endParaRPr lang="en-US" sz="2000" dirty="0"/>
          </a:p>
        </p:txBody>
      </p:sp>
      <p:sp>
        <p:nvSpPr>
          <p:cNvPr id="5" name="Text 1"/>
          <p:cNvSpPr/>
          <p:nvPr>
            <p:ph idx="103" type="body" hasCustomPrompt="1"/>
          </p:nvPr>
        </p:nvSpPr>
        <p:spPr>
          <a:xfrm>
            <a:off x="914400" y="1234440"/>
            <a:ext cx="7315200" cy="3291840"/>
          </a:xfrm>
          <a:prstGeom prst="rect">
            <a:avLst/>
          </a:prstGeom>
          <a:noFill/>
          <a:ln/>
        </p:spPr>
        <p:txBody>
          <a:bodyPr wrap="square" rtlCol="0"/>
          <a:lstStyle>
            <a:lvl1pPr algn="ctr" indent="0" marL="0">
              <a:buNone/>
              <a:defRPr lang="en-US" sz="1400" dirty="0">
                <a:solidFill>
                  <a:srgbClr val="64748B"/>
                </a:solidFill>
                <a:latin typeface="Calibri" pitchFamily="34" charset="0"/>
                <a:ea typeface="Calibri" pitchFamily="34" charset="-122"/>
                <a:cs typeface="Calibri" pitchFamily="34" charset="-120"/>
              </a:defRPr>
            </a:lvl1pPr>
          </a:lstStyle>
          <a:p>
            <a:pPr algn="ctr" indent="0" marL="0">
              <a:buNone/>
            </a:pPr>
            <a:r>
              <a:rPr lang="en-US" sz="1400" dirty="0">
                <a:solidFill>
                  <a:srgbClr val="64748B"/>
                </a:solidFill>
                <a:latin typeface="Calibri" pitchFamily="34" charset="0"/>
                <a:ea typeface="Calibri" pitchFamily="34" charset="-122"/>
                <a:cs typeface="Calibri" pitchFamily="34" charset="-120"/>
              </a:rPr>
              <a:t>(Place figure image here)</a:t>
            </a:r>
            <a:endParaRPr 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PSY_TWO_CO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rtlCol="0"/>
          <a:lstStyle>
            <a:lvl1pPr algn="ctr" indent="0" marL="0">
              <a:buNone/>
              <a:defRPr lang="en-US" sz="2800" b="1" dirty="0">
                <a:solidFill>
                  <a:srgbClr val="4F46E5"/>
                </a:solidFill>
                <a:latin typeface="Outfit" pitchFamily="34" charset="0"/>
                <a:ea typeface="Outfit" pitchFamily="34" charset="-122"/>
                <a:cs typeface="Outfit" pitchFamily="34" charset="-120"/>
              </a:defRPr>
            </a:lvl1pPr>
          </a:lstStyle>
          <a:p>
            <a:pPr algn="ctr" indent="0" marL="0">
              <a:buNone/>
            </a:pPr>
            <a:r>
              <a:rPr lang="en-US" sz="2800" b="1" dirty="0">
                <a:solidFill>
                  <a:srgbClr val="4F46E5"/>
                </a:solidFill>
                <a:latin typeface="Outfit" pitchFamily="34" charset="0"/>
                <a:ea typeface="Outfit" pitchFamily="34" charset="-122"/>
                <a:cs typeface="Outfit" pitchFamily="34" charset="-120"/>
              </a:rPr>
              <a:t>(Slide title)</a:t>
            </a:r>
            <a:endParaRPr lang="en-US" sz="2800" dirty="0"/>
          </a:p>
        </p:txBody>
      </p:sp>
      <p:sp>
        <p:nvSpPr>
          <p:cNvPr id="3" name="Text 0"/>
          <p:cNvSpPr/>
          <p:nvPr>
            <p:ph idx="101" type="body" hasCustomPrompt="1"/>
          </p:nvPr>
        </p:nvSpPr>
        <p:spPr>
          <a:xfrm>
            <a:off x="310896" y="1188720"/>
            <a:ext cx="3977640" cy="3291840"/>
          </a:xfrm>
          <a:prstGeom prst="rect">
            <a:avLst/>
          </a:prstGeom>
          <a:noFill/>
          <a:ln/>
        </p:spPr>
        <p:txBody>
          <a:bodyPr wrap="square" rtlCol="0"/>
          <a:lstStyle>
            <a:lvl1pPr algn="l" indent="0" marL="0">
              <a:lnSpc>
                <a:spcPct val="115000"/>
              </a:lnSpc>
              <a:buNone/>
              <a:defRPr lang="en-US" sz="1600" dirty="0">
                <a:solidFill>
                  <a:srgbClr val="334155"/>
                </a:solidFill>
                <a:latin typeface="Outfit" pitchFamily="34" charset="0"/>
                <a:ea typeface="Outfit" pitchFamily="34" charset="-122"/>
                <a:cs typeface="Outfit" pitchFamily="34" charset="-120"/>
              </a:defRPr>
            </a:lvl1pPr>
          </a:lstStyle>
          <a:p>
            <a:pPr algn="l" indent="0" marL="0">
              <a:lnSpc>
                <a:spcPct val="115000"/>
              </a:lnSpc>
              <a:buNone/>
            </a:pPr>
            <a:r>
              <a:rPr lang="en-US" sz="1600" dirty="0">
                <a:solidFill>
                  <a:srgbClr val="334155"/>
                </a:solidFill>
                <a:latin typeface="Outfit" pitchFamily="34" charset="0"/>
                <a:ea typeface="Outfit" pitchFamily="34" charset="-122"/>
                <a:cs typeface="Outfit" pitchFamily="34" charset="-120"/>
              </a:rPr>
              <a:t>(Left column)</a:t>
            </a:r>
            <a:endParaRPr lang="en-US" sz="1600" dirty="0"/>
          </a:p>
        </p:txBody>
      </p:sp>
      <p:sp>
        <p:nvSpPr>
          <p:cNvPr id="4" name="Text 0"/>
          <p:cNvSpPr/>
          <p:nvPr>
            <p:ph idx="102" type="body" hasCustomPrompt="1"/>
          </p:nvPr>
        </p:nvSpPr>
        <p:spPr>
          <a:xfrm>
            <a:off x="4663440" y="1188720"/>
            <a:ext cx="3977640" cy="3291840"/>
          </a:xfrm>
          <a:prstGeom prst="rect">
            <a:avLst/>
          </a:prstGeom>
          <a:noFill/>
          <a:ln/>
        </p:spPr>
        <p:txBody>
          <a:bodyPr wrap="square" rtlCol="0"/>
          <a:lstStyle>
            <a:lvl1pPr algn="l" indent="0" marL="0">
              <a:lnSpc>
                <a:spcPct val="115000"/>
              </a:lnSpc>
              <a:buNone/>
              <a:defRPr lang="en-US" sz="1600" dirty="0">
                <a:solidFill>
                  <a:srgbClr val="334155"/>
                </a:solidFill>
                <a:latin typeface="Outfit" pitchFamily="34" charset="0"/>
                <a:ea typeface="Outfit" pitchFamily="34" charset="-122"/>
                <a:cs typeface="Outfit" pitchFamily="34" charset="-120"/>
              </a:defRPr>
            </a:lvl1pPr>
          </a:lstStyle>
          <a:p>
            <a:pPr algn="l" indent="0" marL="0">
              <a:lnSpc>
                <a:spcPct val="115000"/>
              </a:lnSpc>
              <a:buNone/>
            </a:pPr>
            <a:r>
              <a:rPr lang="en-US" sz="1600" dirty="0">
                <a:solidFill>
                  <a:srgbClr val="334155"/>
                </a:solidFill>
                <a:latin typeface="Outfit" pitchFamily="34" charset="0"/>
                <a:ea typeface="Outfit" pitchFamily="34" charset="-122"/>
                <a:cs typeface="Outfit" pitchFamily="34" charset="-120"/>
              </a:rPr>
              <a:t>(Right column)</a:t>
            </a:r>
            <a:endParaRPr lang="en-US" sz="1600" dirty="0"/>
          </a:p>
        </p:txBody>
      </p:sp>
      <p:sp>
        <p:nvSpPr>
          <p:cNvPr id="5" name="Text 0"/>
          <p:cNvSpPr/>
          <p:nvPr>
            <p:ph idx="103" type="body" hasCustomPrompt="1"/>
          </p:nvPr>
        </p:nvSpPr>
        <p:spPr>
          <a:xfrm>
            <a:off x="0" y="4727448"/>
            <a:ext cx="4041648" cy="411480"/>
          </a:xfrm>
          <a:prstGeom prst="rect">
            <a:avLst/>
          </a:prstGeom>
          <a:noFill/>
          <a:ln/>
        </p:spPr>
        <p:txBody>
          <a:bodyPr wrap="square" rtlCol="0"/>
          <a:lstStyle>
            <a:lvl1pPr algn="l" indent="0" marL="0">
              <a:buNone/>
              <a:defRPr lang="en-US" sz="1200" i="1" dirty="0">
                <a:solidFill>
                  <a:srgbClr val="334155"/>
                </a:solidFill>
                <a:latin typeface="Zilla Slab Light" pitchFamily="34" charset="0"/>
                <a:ea typeface="Zilla Slab Light" pitchFamily="34" charset="-122"/>
                <a:cs typeface="Zilla Slab Light" pitchFamily="34" charset="-120"/>
              </a:defRPr>
            </a:lvl1pPr>
          </a:lstStyle>
          <a:p>
            <a:pPr algn="l" indent="0" marL="0">
              <a:buNone/>
            </a:pPr>
            <a:endParaRPr lang="en-US" sz="1200" dirty="0"/>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0" y="36576"/>
            <a:ext cx="9144000" cy="3858768"/>
          </a:xfrm>
          <a:prstGeom prst="rect">
            <a:avLst/>
          </a:prstGeom>
          <a:noFill/>
          <a:ln/>
        </p:spPr>
        <p:txBody>
          <a:bodyPr wrap="square" rtlCol="0" anchor="ctr"/>
          <a:lstStyle/>
          <a:p>
            <a:pPr algn="ctr" indent="0" marL="0">
              <a:spcAft>
                <a:spcPts val="400"/>
              </a:spcAft>
              <a:buNone/>
            </a:pPr>
            <a:r>
              <a:rPr lang="en-US" sz="1600" b="1" dirty="0">
                <a:solidFill>
                  <a:srgbClr val="4F46E5"/>
                </a:solidFill>
                <a:latin typeface="Outfit" pitchFamily="34" charset="0"/>
                <a:ea typeface="Outfit" pitchFamily="34" charset="-122"/>
                <a:cs typeface="Outfit" pitchFamily="34" charset="-120"/>
              </a:rPr>
              <a:t>CPSY 1950</a:t>
            </a:r>
            <a:endParaRPr lang="en-US" sz="3800" dirty="0"/>
          </a:p>
          <a:p>
            <a:pPr algn="ctr" indent="0" marL="0">
              <a:spcAft>
                <a:spcPts val="320"/>
              </a:spcAft>
              <a:buNone/>
            </a:pPr>
            <a:r>
              <a:rPr lang="en-US" sz="2000" b="1" dirty="0">
                <a:solidFill>
                  <a:srgbClr val="4F46E5"/>
                </a:solidFill>
                <a:latin typeface="Outfit" pitchFamily="34" charset="0"/>
                <a:ea typeface="Outfit" pitchFamily="34" charset="-122"/>
                <a:cs typeface="Outfit" pitchFamily="34" charset="-120"/>
              </a:rPr>
              <a:t>Deep Learning in Brains, Minds &amp; Machines</a:t>
            </a:r>
            <a:endParaRPr lang="en-US" sz="3800" dirty="0"/>
          </a:p>
          <a:p>
            <a:pPr algn="ctr" indent="0" marL="0">
              <a:spcAft>
                <a:spcPts val="760"/>
              </a:spcAft>
              <a:buNone/>
            </a:pPr>
            <a:endParaRPr lang="en-US" sz="3800" dirty="0"/>
          </a:p>
          <a:p>
            <a:pPr algn="ctr" indent="0" marL="0">
              <a:spcAft>
                <a:spcPts val="1200"/>
              </a:spcAft>
              <a:buNone/>
            </a:pPr>
            <a:r>
              <a:rPr lang="en-US" sz="3800" b="1" dirty="0">
                <a:solidFill>
                  <a:srgbClr val="FFFFFF"/>
                </a:solidFill>
                <a:latin typeface="Outfit" pitchFamily="34" charset="0"/>
                <a:ea typeface="Outfit" pitchFamily="34" charset="-122"/>
                <a:cs typeface="Outfit" pitchFamily="34" charset="-120"/>
              </a:rPr>
              <a:t>Neural alignment &amp; model-to-brain mapping</a:t>
            </a:r>
            <a:endParaRPr lang="en-US" sz="3800" dirty="0"/>
          </a:p>
        </p:txBody>
      </p:sp>
      <p:sp>
        <p:nvSpPr>
          <p:cNvPr id="3" name="Text 0"/>
          <p:cNvSpPr/>
          <p:nvPr>
            <p:ph idx="101" type="body" hasCustomPrompt="1"/>
          </p:nvPr>
        </p:nvSpPr>
        <p:spPr>
          <a:xfrm>
            <a:off x="914400" y="3977640"/>
            <a:ext cx="7315200" cy="822960"/>
          </a:xfrm>
          <a:prstGeom prst="rect">
            <a:avLst/>
          </a:prstGeom>
          <a:noFill/>
          <a:ln/>
        </p:spPr>
        <p:txBody>
          <a:bodyPr wrap="square" rtlCol="0"/>
          <a:lstStyle/>
          <a:p>
            <a:pPr algn="ctr" indent="0" marL="0">
              <a:buNone/>
            </a:pPr>
            <a:r>
              <a:rPr lang="en-US" sz="2000" dirty="0">
                <a:solidFill>
                  <a:srgbClr val="334155"/>
                </a:solidFill>
                <a:latin typeface="Outfit" pitchFamily="34" charset="0"/>
                <a:ea typeface="Outfit" pitchFamily="34" charset="-122"/>
                <a:cs typeface="Outfit" pitchFamily="34" charset="-120"/>
              </a:rPr>
              <a:t>How do we compare AI representations to the brain?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Where we are in the course</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Week 8 of 13</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This week’s roadmap</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Your readings: </a:t>
            </a:r>
            <a:r>
              <a:rPr lang="en-US" sz="1600" dirty="0">
                <a:solidFill>
                  <a:srgbClr val="334155"/>
                </a:solidFill>
                <a:latin typeface="Outfit" pitchFamily="34" charset="0"/>
                <a:ea typeface="Outfit" pitchFamily="34" charset="-122"/>
                <a:cs typeface="Outfit" pitchFamily="34" charset="-120"/>
              </a:rPr>
              <a:t>Kriegeskorte &amp; Douglas (2018), Doerig et al. (2023)</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Today: </a:t>
            </a:r>
            <a:r>
              <a:rPr lang="en-US" sz="1600" dirty="0">
                <a:solidFill>
                  <a:srgbClr val="334155"/>
                </a:solidFill>
                <a:latin typeface="Outfit" pitchFamily="34" charset="0"/>
                <a:ea typeface="Outfit" pitchFamily="34" charset="-122"/>
                <a:cs typeface="Outfit" pitchFamily="34" charset="-120"/>
              </a:rPr>
              <a:t>Background on neural data, encoding models, RSA, decoding, statistics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Thursday: </a:t>
            </a:r>
            <a:r>
              <a:rPr lang="en-US" sz="1600" dirty="0">
                <a:solidFill>
                  <a:srgbClr val="334155"/>
                </a:solidFill>
                <a:latin typeface="Outfit" pitchFamily="34" charset="0"/>
                <a:ea typeface="Outfit" pitchFamily="34" charset="-122"/>
                <a:cs typeface="Outfit" pitchFamily="34" charset="-120"/>
              </a:rPr>
              <a:t>Lightning talks — 11 papers across vision, language, audition, foundation models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Goal: </a:t>
            </a:r>
            <a:r>
              <a:rPr lang="en-US" sz="1600" dirty="0">
                <a:solidFill>
                  <a:srgbClr val="334155"/>
                </a:solidFill>
                <a:latin typeface="Outfit" pitchFamily="34" charset="0"/>
                <a:ea typeface="Outfit" pitchFamily="34" charset="-122"/>
                <a:cs typeface="Outfit" pitchFamily="34" charset="-120"/>
              </a:rPr>
              <a:t>Enough background so every talk makes sense, regardless of your neuro background</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Week 8 — March 10,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Doerig et al. (2023) — Figure 1</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The neuroconnectionist research programme</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Doerig et al. Fig. 1 here — shows four desiderata: behavioral match, neural data agreement, stimulus/task generalization, intervention correspondence)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Encoding models vs. RSA</a:t>
            </a:r>
            <a:endParaRPr lang="en-US" sz="2800" dirty="0"/>
          </a:p>
        </p:txBody>
      </p:sp>
      <p:sp>
        <p:nvSpPr>
          <p:cNvPr id="3" name="Text 0"/>
          <p:cNvSpPr/>
          <p:nvPr>
            <p:ph idx="103" type="body" hasCustomPrompt="1"/>
          </p:nvPr>
        </p:nvSpPr>
        <p:spPr>
          <a:xfrm>
            <a:off x="310896" y="1188720"/>
            <a:ext cx="3977640" cy="3291840"/>
          </a:xfrm>
          <a:prstGeom prst="rect">
            <a:avLst/>
          </a:prstGeom>
          <a:noFill/>
          <a:ln/>
        </p:spPr>
        <p:txBody>
          <a:bodyPr wrap="square" rtlCol="0" anchor="t"/>
          <a:lstStyle/>
          <a:p>
            <a:pPr algn="l" indent="0" marL="0">
              <a:lnSpc>
                <a:spcPct val="115000"/>
              </a:lnSpc>
              <a:buNone/>
            </a:pPr>
            <a:r>
              <a:rPr lang="en-US" sz="1600" b="1" dirty="0">
                <a:solidFill>
                  <a:srgbClr val="4F46E5"/>
                </a:solidFill>
                <a:latin typeface="Outfit" pitchFamily="34" charset="0"/>
                <a:ea typeface="Outfit" pitchFamily="34" charset="-122"/>
                <a:cs typeface="Outfit" pitchFamily="34" charset="-120"/>
              </a:rPr>
              <a:t>Encoding models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Predicts activity directly</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Needs a learned mapping (regression)</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Sensitive to which features drive individual responses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Requires matched stimuli + response dimensions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Can overfit with too many features</a:t>
            </a:r>
            <a:endParaRPr lang="en-US" sz="1600" dirty="0"/>
          </a:p>
        </p:txBody>
      </p:sp>
      <p:sp>
        <p:nvSpPr>
          <p:cNvPr id="4" name="Text 0"/>
          <p:cNvSpPr/>
          <p:nvPr>
            <p:ph idx="104" type="body" hasCustomPrompt="1"/>
          </p:nvPr>
        </p:nvSpPr>
        <p:spPr>
          <a:xfrm>
            <a:off x="4663440" y="1188720"/>
            <a:ext cx="3977640" cy="3291840"/>
          </a:xfrm>
          <a:prstGeom prst="rect">
            <a:avLst/>
          </a:prstGeom>
          <a:noFill/>
          <a:ln/>
        </p:spPr>
        <p:txBody>
          <a:bodyPr wrap="square" rtlCol="0" anchor="t"/>
          <a:lstStyle/>
          <a:p>
            <a:pPr algn="l" indent="0" marL="0">
              <a:lnSpc>
                <a:spcPct val="115000"/>
              </a:lnSpc>
              <a:buNone/>
            </a:pPr>
            <a:r>
              <a:rPr lang="en-US" sz="1600" b="1" dirty="0">
                <a:solidFill>
                  <a:srgbClr val="4F46E5"/>
                </a:solidFill>
                <a:latin typeface="Outfit" pitchFamily="34" charset="0"/>
                <a:ea typeface="Outfit" pitchFamily="34" charset="-122"/>
                <a:cs typeface="Outfit" pitchFamily="34" charset="-120"/>
              </a:rPr>
              <a:t>RSA</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Compares representational geometry</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No learned mapping — just correlation of RDMs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Abstracts away individual units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Works across different measurement types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Less powerful but more generalizable</a:t>
            </a:r>
            <a:endParaRPr lang="en-US" sz="1600" dirty="0"/>
          </a:p>
        </p:txBody>
      </p:sp>
      <p:sp>
        <p:nvSpPr>
          <p:cNvPr id="5" name="Text 0"/>
          <p:cNvSpPr/>
          <p:nvPr>
            <p:ph idx="103"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Why compare AI to brains?</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The promise of NeuroAI</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Neural recording methods</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What tools do we have to measure brain activity?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Encoding models</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Predicting brain activity from model features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Representational similarity analysis</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Comparing the geometry of representations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Decoding &amp; linear readout</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What information is accessible in neural representations?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Getting the statistics right</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Noise ceilings, cross-validation, and common pitfalls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1005840" y="1554480"/>
            <a:ext cx="7315200" cy="914400"/>
          </a:xfrm>
          <a:prstGeom prst="rect">
            <a:avLst/>
          </a:prstGeom>
          <a:noFill/>
          <a:ln/>
        </p:spPr>
        <p:txBody>
          <a:bodyPr wrap="square" rtlCol="0"/>
          <a:lstStyle/>
          <a:p>
            <a:pPr algn="l" indent="0" marL="0">
              <a:buNone/>
            </a:pPr>
            <a:r>
              <a:rPr lang="en-US" sz="3600" b="1" dirty="0">
                <a:solidFill>
                  <a:srgbClr val="FFFFFF"/>
                </a:solidFill>
                <a:latin typeface="Outfit" pitchFamily="34" charset="0"/>
                <a:ea typeface="Outfit" pitchFamily="34" charset="-122"/>
                <a:cs typeface="Outfit" pitchFamily="34" charset="-120"/>
              </a:rPr>
              <a:t>The bigger picture</a:t>
            </a:r>
            <a:endParaRPr lang="en-US" sz="3600" dirty="0"/>
          </a:p>
        </p:txBody>
      </p:sp>
      <p:sp>
        <p:nvSpPr>
          <p:cNvPr id="3" name="Text 1"/>
          <p:cNvSpPr/>
          <p:nvPr>
            <p:ph idx="102" type="body" hasCustomPrompt="1"/>
          </p:nvPr>
        </p:nvSpPr>
        <p:spPr>
          <a:xfrm>
            <a:off x="1005840" y="2560320"/>
            <a:ext cx="7315200" cy="548640"/>
          </a:xfrm>
          <a:prstGeom prst="rect">
            <a:avLst/>
          </a:prstGeom>
          <a:noFill/>
          <a:ln/>
        </p:spPr>
        <p:txBody>
          <a:bodyPr wrap="square" rtlCol="0"/>
          <a:lstStyle/>
          <a:p>
            <a:pPr algn="l" indent="0" marL="0">
              <a:buNone/>
            </a:pPr>
            <a:r>
              <a:rPr lang="en-US" sz="1800" dirty="0">
                <a:solidFill>
                  <a:srgbClr val="4F46E5"/>
                </a:solidFill>
                <a:latin typeface="Outfit" pitchFamily="34" charset="0"/>
                <a:ea typeface="Outfit" pitchFamily="34" charset="-122"/>
                <a:cs typeface="Outfit" pitchFamily="34" charset="-120"/>
              </a:rPr>
              <a:t>Where does all this lead?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The NeuroAI promise</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Two-way street: </a:t>
            </a:r>
            <a:r>
              <a:rPr lang="en-US" sz="1600" dirty="0">
                <a:solidFill>
                  <a:srgbClr val="334155"/>
                </a:solidFill>
                <a:latin typeface="Outfit" pitchFamily="34" charset="0"/>
                <a:ea typeface="Outfit" pitchFamily="34" charset="-122"/>
                <a:cs typeface="Outfit" pitchFamily="34" charset="-120"/>
              </a:rPr>
              <a:t>Neuroscience inspires better AI; AI provides models of brain computation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Key question: </a:t>
            </a:r>
            <a:r>
              <a:rPr lang="en-US" sz="1600" dirty="0">
                <a:solidFill>
                  <a:srgbClr val="334155"/>
                </a:solidFill>
                <a:latin typeface="Outfit" pitchFamily="34" charset="0"/>
                <a:ea typeface="Outfit" pitchFamily="34" charset="-122"/>
                <a:cs typeface="Outfit" pitchFamily="34" charset="-120"/>
              </a:rPr>
              <a:t>Do deep networks learn representations similar to the brain?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If yes: </a:t>
            </a:r>
            <a:r>
              <a:rPr lang="en-US" sz="1600" dirty="0">
                <a:solidFill>
                  <a:srgbClr val="334155"/>
                </a:solidFill>
                <a:latin typeface="Outfit" pitchFamily="34" charset="0"/>
                <a:ea typeface="Outfit" pitchFamily="34" charset="-122"/>
                <a:cs typeface="Outfit" pitchFamily="34" charset="-120"/>
              </a:rPr>
              <a:t>DNNs become candidate models of neural processing — testable, quantitative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If no: </a:t>
            </a:r>
            <a:r>
              <a:rPr lang="en-US" sz="1600" dirty="0">
                <a:solidFill>
                  <a:srgbClr val="334155"/>
                </a:solidFill>
                <a:latin typeface="Outfit" pitchFamily="34" charset="0"/>
                <a:ea typeface="Outfit" pitchFamily="34" charset="-122"/>
                <a:cs typeface="Outfit" pitchFamily="34" charset="-120"/>
              </a:rPr>
              <a:t>We learn what’s missing — inductive biases, learning rules, architectures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The field: </a:t>
            </a:r>
            <a:r>
              <a:rPr lang="en-US" sz="1600" dirty="0">
                <a:solidFill>
                  <a:srgbClr val="334155"/>
                </a:solidFill>
                <a:latin typeface="Outfit" pitchFamily="34" charset="0"/>
                <a:ea typeface="Outfit" pitchFamily="34" charset="-122"/>
                <a:cs typeface="Outfit" pitchFamily="34" charset="-120"/>
              </a:rPr>
              <a:t>Dozens of labs now doing this across vision, language, audition</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Doerig et al. (2023); Kriegeskorte &amp; Douglas (2018)</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What “alignment” means, concretely</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Behavioral alignment: </a:t>
            </a:r>
            <a:r>
              <a:rPr lang="en-US" sz="1600" dirty="0">
                <a:solidFill>
                  <a:srgbClr val="334155"/>
                </a:solidFill>
                <a:latin typeface="Outfit" pitchFamily="34" charset="0"/>
                <a:ea typeface="Outfit" pitchFamily="34" charset="-122"/>
                <a:cs typeface="Outfit" pitchFamily="34" charset="-120"/>
              </a:rPr>
              <a:t>Does the model make similar errors, show similar biases?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Representational alignment: </a:t>
            </a:r>
            <a:r>
              <a:rPr lang="en-US" sz="1600" dirty="0">
                <a:solidFill>
                  <a:srgbClr val="334155"/>
                </a:solidFill>
                <a:latin typeface="Outfit" pitchFamily="34" charset="0"/>
                <a:ea typeface="Outfit" pitchFamily="34" charset="-122"/>
                <a:cs typeface="Outfit" pitchFamily="34" charset="-120"/>
              </a:rPr>
              <a:t>Do internal representations have similar geometry?</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How we test this: </a:t>
            </a:r>
            <a:r>
              <a:rPr lang="en-US" sz="1600" dirty="0">
                <a:solidFill>
                  <a:srgbClr val="334155"/>
                </a:solidFill>
                <a:latin typeface="Outfit" pitchFamily="34" charset="0"/>
                <a:ea typeface="Outfit" pitchFamily="34" charset="-122"/>
                <a:cs typeface="Outfit" pitchFamily="34" charset="-120"/>
              </a:rPr>
              <a:t>Encoding models, RSA, decoding — today’s toolkit</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Levels of data: </a:t>
            </a:r>
            <a:r>
              <a:rPr lang="en-US" sz="1600" dirty="0">
                <a:solidFill>
                  <a:srgbClr val="334155"/>
                </a:solidFill>
                <a:latin typeface="Outfit" pitchFamily="34" charset="0"/>
                <a:ea typeface="Outfit" pitchFamily="34" charset="-122"/>
                <a:cs typeface="Outfit" pitchFamily="34" charset="-120"/>
              </a:rPr>
              <a:t>Different neural recording methods give different windows into the brain</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Neural recording methods: comparison</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fMRI: </a:t>
            </a:r>
            <a:r>
              <a:rPr lang="en-US" sz="1600" dirty="0">
                <a:solidFill>
                  <a:srgbClr val="334155"/>
                </a:solidFill>
                <a:latin typeface="Outfit" pitchFamily="34" charset="0"/>
                <a:ea typeface="Outfit" pitchFamily="34" charset="-122"/>
                <a:cs typeface="Outfit" pitchFamily="34" charset="-120"/>
              </a:rPr>
              <a:t>Best spatial coverage, slow; used in most alignment studies (Yamins, Schrimpf, Storrs...)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EEG/MEG: </a:t>
            </a:r>
            <a:r>
              <a:rPr lang="en-US" sz="1600" dirty="0">
                <a:solidFill>
                  <a:srgbClr val="334155"/>
                </a:solidFill>
                <a:latin typeface="Outfit" pitchFamily="34" charset="0"/>
                <a:ea typeface="Outfit" pitchFamily="34" charset="-122"/>
                <a:cs typeface="Outfit" pitchFamily="34" charset="-120"/>
              </a:rPr>
              <a:t>Fast temporal dynamics, poor spatial; good for temporal processing (Défossez et al.)</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Electrophysiology: </a:t>
            </a:r>
            <a:r>
              <a:rPr lang="en-US" sz="1600" dirty="0">
                <a:solidFill>
                  <a:srgbClr val="334155"/>
                </a:solidFill>
                <a:latin typeface="Outfit" pitchFamily="34" charset="0"/>
                <a:ea typeface="Outfit" pitchFamily="34" charset="-122"/>
                <a:cs typeface="Outfit" pitchFamily="34" charset="-120"/>
              </a:rPr>
              <a:t>Gold standard for single neurons; invasive, typically primates (Yamins, Schrimpf)</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ECoG: </a:t>
            </a:r>
            <a:r>
              <a:rPr lang="en-US" sz="1600" dirty="0">
                <a:solidFill>
                  <a:srgbClr val="334155"/>
                </a:solidFill>
                <a:latin typeface="Outfit" pitchFamily="34" charset="0"/>
                <a:ea typeface="Outfit" pitchFamily="34" charset="-122"/>
                <a:cs typeface="Outfit" pitchFamily="34" charset="-120"/>
              </a:rPr>
              <a:t>Best of both worlds but rare; human intracranial (Goldstein, Schrimpf language)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Two-photon: </a:t>
            </a:r>
            <a:r>
              <a:rPr lang="en-US" sz="1600" dirty="0">
                <a:solidFill>
                  <a:srgbClr val="334155"/>
                </a:solidFill>
                <a:latin typeface="Outfit" pitchFamily="34" charset="0"/>
                <a:ea typeface="Outfit" pitchFamily="34" charset="-122"/>
                <a:cs typeface="Outfit" pitchFamily="34" charset="-120"/>
              </a:rPr>
              <a:t>Population imaging in mice; cellular resolution (Ding et al.)</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Neuropixels: </a:t>
            </a:r>
            <a:r>
              <a:rPr lang="en-US" sz="1600" dirty="0">
                <a:solidFill>
                  <a:srgbClr val="334155"/>
                </a:solidFill>
                <a:latin typeface="Outfit" pitchFamily="34" charset="0"/>
                <a:ea typeface="Outfit" pitchFamily="34" charset="-122"/>
                <a:cs typeface="Outfit" pitchFamily="34" charset="-120"/>
              </a:rPr>
              <a:t>Dense recordings across areas; rodents (Azabou et al.)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Which method for which question?</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Where in the brain? </a:t>
            </a:r>
            <a:r>
              <a:rPr lang="en-US" sz="1600" dirty="0">
                <a:solidFill>
                  <a:srgbClr val="334155"/>
                </a:solidFill>
                <a:latin typeface="Outfit" pitchFamily="34" charset="0"/>
                <a:ea typeface="Outfit" pitchFamily="34" charset="-122"/>
                <a:cs typeface="Outfit" pitchFamily="34" charset="-120"/>
              </a:rPr>
              <a:t>fMRI — whole-brain maps of model-brain correspondence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When in processing? </a:t>
            </a:r>
            <a:r>
              <a:rPr lang="en-US" sz="1600" dirty="0">
                <a:solidFill>
                  <a:srgbClr val="334155"/>
                </a:solidFill>
                <a:latin typeface="Outfit" pitchFamily="34" charset="0"/>
                <a:ea typeface="Outfit" pitchFamily="34" charset="-122"/>
                <a:cs typeface="Outfit" pitchFamily="34" charset="-120"/>
              </a:rPr>
              <a:t>EEG/MEG — temporal unfolding of representations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At what granularity? </a:t>
            </a:r>
            <a:r>
              <a:rPr lang="en-US" sz="1600" dirty="0">
                <a:solidFill>
                  <a:srgbClr val="334155"/>
                </a:solidFill>
                <a:latin typeface="Outfit" pitchFamily="34" charset="0"/>
                <a:ea typeface="Outfit" pitchFamily="34" charset="-122"/>
                <a:cs typeface="Outfit" pitchFamily="34" charset="-120"/>
              </a:rPr>
              <a:t>Electrophysiology / Neuropixels — individual neurons, population codes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In humans specifically? </a:t>
            </a:r>
            <a:r>
              <a:rPr lang="en-US" sz="1600" dirty="0">
                <a:solidFill>
                  <a:srgbClr val="334155"/>
                </a:solidFill>
                <a:latin typeface="Outfit" pitchFamily="34" charset="0"/>
                <a:ea typeface="Outfit" pitchFamily="34" charset="-122"/>
                <a:cs typeface="Outfit" pitchFamily="34" charset="-120"/>
              </a:rPr>
              <a:t>ECoG — rare but high-quality human intracranial data</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Across large populations? </a:t>
            </a:r>
            <a:r>
              <a:rPr lang="en-US" sz="1600" dirty="0">
                <a:solidFill>
                  <a:srgbClr val="334155"/>
                </a:solidFill>
                <a:latin typeface="Outfit" pitchFamily="34" charset="0"/>
                <a:ea typeface="Outfit" pitchFamily="34" charset="-122"/>
                <a:cs typeface="Outfit" pitchFamily="34" charset="-120"/>
              </a:rPr>
              <a:t>Two-photon / Neuropixels — hundreds to thousands of neurons</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Each lightning talk paper chose a method for a reason — ask yourself why</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The encoding framework</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The idea: </a:t>
            </a:r>
            <a:r>
              <a:rPr lang="en-US" sz="1600" dirty="0">
                <a:solidFill>
                  <a:srgbClr val="334155"/>
                </a:solidFill>
                <a:latin typeface="Outfit" pitchFamily="34" charset="0"/>
                <a:ea typeface="Outfit" pitchFamily="34" charset="-122"/>
                <a:cs typeface="Outfit" pitchFamily="34" charset="-120"/>
              </a:rPr>
              <a:t>Use DNN layer activations to predict neural responses (voxels, firing rates)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Formally: </a:t>
            </a:r>
            <a:r>
              <a:rPr lang="en-US" sz="1600" dirty="0">
                <a:solidFill>
                  <a:srgbClr val="334155"/>
                </a:solidFill>
                <a:latin typeface="Outfit" pitchFamily="34" charset="0"/>
                <a:ea typeface="Outfit" pitchFamily="34" charset="-122"/>
                <a:cs typeface="Outfit" pitchFamily="34" charset="-120"/>
              </a:rPr>
              <a:t>y = f(x) where y is neural data, x is DNN features, f is a learned mapping</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Typically: </a:t>
            </a:r>
            <a:r>
              <a:rPr lang="en-US" sz="1600" dirty="0">
                <a:solidFill>
                  <a:srgbClr val="334155"/>
                </a:solidFill>
                <a:latin typeface="Outfit" pitchFamily="34" charset="0"/>
                <a:ea typeface="Outfit" pitchFamily="34" charset="-122"/>
                <a:cs typeface="Outfit" pitchFamily="34" charset="-120"/>
              </a:rPr>
              <a:t>Linear regression (ridge) from DNN features to brain responses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Why linear? </a:t>
            </a:r>
            <a:r>
              <a:rPr lang="en-US" sz="1600" dirty="0">
                <a:solidFill>
                  <a:srgbClr val="334155"/>
                </a:solidFill>
                <a:latin typeface="Outfit" pitchFamily="34" charset="0"/>
                <a:ea typeface="Outfit" pitchFamily="34" charset="-122"/>
                <a:cs typeface="Outfit" pitchFamily="34" charset="-120"/>
              </a:rPr>
              <a:t>We want to test if the information is already there, not build a complex decoder</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Evaluation: </a:t>
            </a:r>
            <a:r>
              <a:rPr lang="en-US" sz="1600" dirty="0">
                <a:solidFill>
                  <a:srgbClr val="334155"/>
                </a:solidFill>
                <a:latin typeface="Outfit" pitchFamily="34" charset="0"/>
                <a:ea typeface="Outfit" pitchFamily="34" charset="-122"/>
                <a:cs typeface="Outfit" pitchFamily="34" charset="-120"/>
              </a:rPr>
              <a:t>Prediction accuracy on held-out data (cross-validated R² or Pearson r)</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Encoding models: step by step</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Step 1: </a:t>
            </a:r>
            <a:r>
              <a:rPr lang="en-US" sz="1600" dirty="0">
                <a:solidFill>
                  <a:srgbClr val="334155"/>
                </a:solidFill>
                <a:latin typeface="Outfit" pitchFamily="34" charset="0"/>
                <a:ea typeface="Outfit" pitchFamily="34" charset="-122"/>
                <a:cs typeface="Outfit" pitchFamily="34" charset="-120"/>
              </a:rPr>
              <a:t>Present stimuli (images, sentences, sounds) to both model and brain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Step 2: </a:t>
            </a:r>
            <a:r>
              <a:rPr lang="en-US" sz="1600" dirty="0">
                <a:solidFill>
                  <a:srgbClr val="334155"/>
                </a:solidFill>
                <a:latin typeface="Outfit" pitchFamily="34" charset="0"/>
                <a:ea typeface="Outfit" pitchFamily="34" charset="-122"/>
                <a:cs typeface="Outfit" pitchFamily="34" charset="-120"/>
              </a:rPr>
              <a:t>Extract DNN activations from a chosen layer for each stimulus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Step 3: </a:t>
            </a:r>
            <a:r>
              <a:rPr lang="en-US" sz="1600" dirty="0">
                <a:solidFill>
                  <a:srgbClr val="334155"/>
                </a:solidFill>
                <a:latin typeface="Outfit" pitchFamily="34" charset="0"/>
                <a:ea typeface="Outfit" pitchFamily="34" charset="-122"/>
                <a:cs typeface="Outfit" pitchFamily="34" charset="-120"/>
              </a:rPr>
              <a:t>Fit a linear map from activations to neural responses (train set)</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Step 4: </a:t>
            </a:r>
            <a:r>
              <a:rPr lang="en-US" sz="1600" dirty="0">
                <a:solidFill>
                  <a:srgbClr val="334155"/>
                </a:solidFill>
                <a:latin typeface="Outfit" pitchFamily="34" charset="0"/>
                <a:ea typeface="Outfit" pitchFamily="34" charset="-122"/>
                <a:cs typeface="Outfit" pitchFamily="34" charset="-120"/>
              </a:rPr>
              <a:t>Predict neural responses for held-out stimuli (test set)</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Step 5: </a:t>
            </a:r>
            <a:r>
              <a:rPr lang="en-US" sz="1600" dirty="0">
                <a:solidFill>
                  <a:srgbClr val="334155"/>
                </a:solidFill>
                <a:latin typeface="Outfit" pitchFamily="34" charset="0"/>
                <a:ea typeface="Outfit" pitchFamily="34" charset="-122"/>
                <a:cs typeface="Outfit" pitchFamily="34" charset="-120"/>
              </a:rPr>
              <a:t>Measure prediction accuracy — how well does layer X predict brain region Y?</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Repeat across layers → find best-matching layer for each brain region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What encoding models reveal</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Layer-region mapping: </a:t>
            </a:r>
            <a:r>
              <a:rPr lang="en-US" sz="1600" dirty="0">
                <a:solidFill>
                  <a:srgbClr val="334155"/>
                </a:solidFill>
                <a:latin typeface="Outfit" pitchFamily="34" charset="0"/>
                <a:ea typeface="Outfit" pitchFamily="34" charset="-122"/>
                <a:cs typeface="Outfit" pitchFamily="34" charset="-120"/>
              </a:rPr>
              <a:t>Early DNN layers map to early visual cortex; deep layers to higher areas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Model comparison: </a:t>
            </a:r>
            <a:r>
              <a:rPr lang="en-US" sz="1600" dirty="0">
                <a:solidFill>
                  <a:srgbClr val="334155"/>
                </a:solidFill>
                <a:latin typeface="Outfit" pitchFamily="34" charset="0"/>
                <a:ea typeface="Outfit" pitchFamily="34" charset="-122"/>
                <a:cs typeface="Outfit" pitchFamily="34" charset="-120"/>
              </a:rPr>
              <a:t>Which architecture best predicts brain data? (This is Brain-Score)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Feature importance: </a:t>
            </a:r>
            <a:r>
              <a:rPr lang="en-US" sz="1600" dirty="0">
                <a:solidFill>
                  <a:srgbClr val="334155"/>
                </a:solidFill>
                <a:latin typeface="Outfit" pitchFamily="34" charset="0"/>
                <a:ea typeface="Outfit" pitchFamily="34" charset="-122"/>
                <a:cs typeface="Outfit" pitchFamily="34" charset="-120"/>
              </a:rPr>
              <a:t>What dimensions of the model drive neural responses?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Limitations: </a:t>
            </a:r>
            <a:r>
              <a:rPr lang="en-US" sz="1600" dirty="0">
                <a:solidFill>
                  <a:srgbClr val="334155"/>
                </a:solidFill>
                <a:latin typeface="Outfit" pitchFamily="34" charset="0"/>
                <a:ea typeface="Outfit" pitchFamily="34" charset="-122"/>
                <a:cs typeface="Outfit" pitchFamily="34" charset="-120"/>
              </a:rPr>
              <a:t>Prediction ≠ understanding — a model can predict without being mechanistically similar</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Key insight: </a:t>
            </a:r>
            <a:r>
              <a:rPr lang="en-US" sz="1600" dirty="0">
                <a:solidFill>
                  <a:srgbClr val="334155"/>
                </a:solidFill>
                <a:latin typeface="Outfit" pitchFamily="34" charset="0"/>
                <a:ea typeface="Outfit" pitchFamily="34" charset="-122"/>
                <a:cs typeface="Outfit" pitchFamily="34" charset="-120"/>
              </a:rPr>
              <a:t>High encoding accuracy is necessary but not sufficient for a good brain model</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RSA: the core idea</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Core intuition: </a:t>
            </a:r>
            <a:r>
              <a:rPr lang="en-US" sz="1600" dirty="0">
                <a:solidFill>
                  <a:srgbClr val="334155"/>
                </a:solidFill>
                <a:latin typeface="Outfit" pitchFamily="34" charset="0"/>
                <a:ea typeface="Outfit" pitchFamily="34" charset="-122"/>
                <a:cs typeface="Outfit" pitchFamily="34" charset="-120"/>
              </a:rPr>
              <a:t>Don’t compare individual responses — compare the pattern of similarities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Key shift: </a:t>
            </a:r>
            <a:r>
              <a:rPr lang="en-US" sz="1600" dirty="0">
                <a:solidFill>
                  <a:srgbClr val="334155"/>
                </a:solidFill>
                <a:latin typeface="Outfit" pitchFamily="34" charset="0"/>
                <a:ea typeface="Outfit" pitchFamily="34" charset="-122"/>
                <a:cs typeface="Outfit" pitchFamily="34" charset="-120"/>
              </a:rPr>
              <a:t>From “what does neuron X respond to?” to “which stimuli are represented similarly?”</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Why geometry? </a:t>
            </a:r>
            <a:r>
              <a:rPr lang="en-US" sz="1600" dirty="0">
                <a:solidFill>
                  <a:srgbClr val="334155"/>
                </a:solidFill>
                <a:latin typeface="Outfit" pitchFamily="34" charset="0"/>
                <a:ea typeface="Outfit" pitchFamily="34" charset="-122"/>
                <a:cs typeface="Outfit" pitchFamily="34" charset="-120"/>
              </a:rPr>
              <a:t>Two systems can have totally different units but identical representational structure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Analogy: </a:t>
            </a:r>
            <a:r>
              <a:rPr lang="en-US" sz="1600" dirty="0">
                <a:solidFill>
                  <a:srgbClr val="334155"/>
                </a:solidFill>
                <a:latin typeface="Outfit" pitchFamily="34" charset="0"/>
                <a:ea typeface="Outfit" pitchFamily="34" charset="-122"/>
                <a:cs typeface="Outfit" pitchFamily="34" charset="-120"/>
              </a:rPr>
              <a:t>Two maps of a city — different scales, colors, languages — but same spatial relationships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Advantage: </a:t>
            </a:r>
            <a:r>
              <a:rPr lang="en-US" sz="1600" dirty="0">
                <a:solidFill>
                  <a:srgbClr val="334155"/>
                </a:solidFill>
                <a:latin typeface="Outfit" pitchFamily="34" charset="0"/>
                <a:ea typeface="Outfit" pitchFamily="34" charset="-122"/>
                <a:cs typeface="Outfit" pitchFamily="34" charset="-120"/>
              </a:rPr>
              <a:t>Directly comparable across different measurement types (fMRI, electrophys, DNN)</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et al. (2008)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Comparing RDMs &amp; testing significance</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Distance metric: </a:t>
            </a:r>
            <a:r>
              <a:rPr lang="en-US" sz="1600" dirty="0">
                <a:solidFill>
                  <a:srgbClr val="334155"/>
                </a:solidFill>
                <a:latin typeface="Outfit" pitchFamily="34" charset="0"/>
                <a:ea typeface="Outfit" pitchFamily="34" charset="-122"/>
                <a:cs typeface="Outfit" pitchFamily="34" charset="-120"/>
              </a:rPr>
              <a:t>1 – Pearson correlation between response patterns (common choice)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Comparing RDMs: </a:t>
            </a:r>
            <a:r>
              <a:rPr lang="en-US" sz="1600" dirty="0">
                <a:solidFill>
                  <a:srgbClr val="334155"/>
                </a:solidFill>
                <a:latin typeface="Outfit" pitchFamily="34" charset="0"/>
                <a:ea typeface="Outfit" pitchFamily="34" charset="-122"/>
                <a:cs typeface="Outfit" pitchFamily="34" charset="-120"/>
              </a:rPr>
              <a:t>Correlate upper triangles of brain RDM and model RDM</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Significance: </a:t>
            </a:r>
            <a:r>
              <a:rPr lang="en-US" sz="1600" dirty="0">
                <a:solidFill>
                  <a:srgbClr val="334155"/>
                </a:solidFill>
                <a:latin typeface="Outfit" pitchFamily="34" charset="0"/>
                <a:ea typeface="Outfit" pitchFamily="34" charset="-122"/>
                <a:cs typeface="Outfit" pitchFamily="34" charset="-120"/>
              </a:rPr>
              <a:t>Permutation test — shuffle stimulus labels, recompute, build null distribution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Model selection: </a:t>
            </a:r>
            <a:r>
              <a:rPr lang="en-US" sz="1600" dirty="0">
                <a:solidFill>
                  <a:srgbClr val="334155"/>
                </a:solidFill>
                <a:latin typeface="Outfit" pitchFamily="34" charset="0"/>
                <a:ea typeface="Outfit" pitchFamily="34" charset="-122"/>
                <a:cs typeface="Outfit" pitchFamily="34" charset="-120"/>
              </a:rPr>
              <a:t>Which DNN layer or architecture has highest RSA with a given brain region?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Multi-model: </a:t>
            </a:r>
            <a:r>
              <a:rPr lang="en-US" sz="1600" dirty="0">
                <a:solidFill>
                  <a:srgbClr val="334155"/>
                </a:solidFill>
                <a:latin typeface="Outfit" pitchFamily="34" charset="0"/>
                <a:ea typeface="Outfit" pitchFamily="34" charset="-122"/>
                <a:cs typeface="Outfit" pitchFamily="34" charset="-120"/>
              </a:rPr>
              <a:t>Can compare dozens of models to the same neural data simultaneously</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Decoding: the framework</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The idea: </a:t>
            </a:r>
            <a:r>
              <a:rPr lang="en-US" sz="1600" dirty="0">
                <a:solidFill>
                  <a:srgbClr val="334155"/>
                </a:solidFill>
                <a:latin typeface="Outfit" pitchFamily="34" charset="0"/>
                <a:ea typeface="Outfit" pitchFamily="34" charset="-122"/>
                <a:cs typeface="Outfit" pitchFamily="34" charset="-120"/>
              </a:rPr>
              <a:t>Train a classifier/regressor to read out information from brain activity</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Direction: </a:t>
            </a:r>
            <a:r>
              <a:rPr lang="en-US" sz="1600" dirty="0">
                <a:solidFill>
                  <a:srgbClr val="334155"/>
                </a:solidFill>
                <a:latin typeface="Outfit" pitchFamily="34" charset="0"/>
                <a:ea typeface="Outfit" pitchFamily="34" charset="-122"/>
                <a:cs typeface="Outfit" pitchFamily="34" charset="-120"/>
              </a:rPr>
              <a:t>Opposite of encoding — from brain → stimulus/category (not stimulus → brain)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Linear readout: </a:t>
            </a:r>
            <a:r>
              <a:rPr lang="en-US" sz="1600" dirty="0">
                <a:solidFill>
                  <a:srgbClr val="334155"/>
                </a:solidFill>
                <a:latin typeface="Outfit" pitchFamily="34" charset="0"/>
                <a:ea typeface="Outfit" pitchFamily="34" charset="-122"/>
                <a:cs typeface="Outfit" pitchFamily="34" charset="-120"/>
              </a:rPr>
              <a:t>Can a linear classifier decode stimulus identity from neural responses?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Why linear? </a:t>
            </a:r>
            <a:r>
              <a:rPr lang="en-US" sz="1600" dirty="0">
                <a:solidFill>
                  <a:srgbClr val="334155"/>
                </a:solidFill>
                <a:latin typeface="Outfit" pitchFamily="34" charset="0"/>
                <a:ea typeface="Outfit" pitchFamily="34" charset="-122"/>
                <a:cs typeface="Outfit" pitchFamily="34" charset="-120"/>
              </a:rPr>
              <a:t>Tests what information is explicitly available, not what a complex model could extract</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Applications: </a:t>
            </a:r>
            <a:r>
              <a:rPr lang="en-US" sz="1600" dirty="0">
                <a:solidFill>
                  <a:srgbClr val="334155"/>
                </a:solidFill>
                <a:latin typeface="Outfit" pitchFamily="34" charset="0"/>
                <a:ea typeface="Outfit" pitchFamily="34" charset="-122"/>
                <a:cs typeface="Outfit" pitchFamily="34" charset="-120"/>
              </a:rPr>
              <a:t>BCI, speech decoding, neural prosthetics; also used in model-brain comparison</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Thursday’s lightning talks: what to look for</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Vision: </a:t>
            </a:r>
            <a:r>
              <a:rPr lang="en-US" sz="1600" dirty="0">
                <a:solidFill>
                  <a:srgbClr val="334155"/>
                </a:solidFill>
                <a:latin typeface="Outfit" pitchFamily="34" charset="0"/>
                <a:ea typeface="Outfit" pitchFamily="34" charset="-122"/>
                <a:cs typeface="Outfit" pitchFamily="34" charset="-120"/>
              </a:rPr>
              <a:t>Yamins (2014), Schrimpf Brain-Score (2020), Storrs &amp; Kriegeskorte (2021)</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Language: </a:t>
            </a:r>
            <a:r>
              <a:rPr lang="en-US" sz="1600" dirty="0">
                <a:solidFill>
                  <a:srgbClr val="334155"/>
                </a:solidFill>
                <a:latin typeface="Outfit" pitchFamily="34" charset="0"/>
                <a:ea typeface="Outfit" pitchFamily="34" charset="-122"/>
                <a:cs typeface="Outfit" pitchFamily="34" charset="-120"/>
              </a:rPr>
              <a:t>Schrimpf (2021), Caucheteux (2023), Goldstein (2022), Tuckute (2024)</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Audition: </a:t>
            </a:r>
            <a:r>
              <a:rPr lang="en-US" sz="1600" dirty="0">
                <a:solidFill>
                  <a:srgbClr val="334155"/>
                </a:solidFill>
                <a:latin typeface="Outfit" pitchFamily="34" charset="0"/>
                <a:ea typeface="Outfit" pitchFamily="34" charset="-122"/>
                <a:cs typeface="Outfit" pitchFamily="34" charset="-120"/>
              </a:rPr>
              <a:t>Li (2023), Défossez (2023)</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Foundation models for neural data: </a:t>
            </a:r>
            <a:r>
              <a:rPr lang="en-US" sz="1600" dirty="0">
                <a:solidFill>
                  <a:srgbClr val="334155"/>
                </a:solidFill>
                <a:latin typeface="Outfit" pitchFamily="34" charset="0"/>
                <a:ea typeface="Outfit" pitchFamily="34" charset="-122"/>
                <a:cs typeface="Outfit" pitchFamily="34" charset="-120"/>
              </a:rPr>
              <a:t>Azabou (2023), Ding (2025)</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For each talk: What data type? What analysis method? What’s the main claim?</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Keep in mind: Do they address all four of Doerig’s desiderata? Which ones do they miss?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Cross-validation strategies</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Why? </a:t>
            </a:r>
            <a:r>
              <a:rPr lang="en-US" sz="1600" dirty="0">
                <a:solidFill>
                  <a:srgbClr val="334155"/>
                </a:solidFill>
                <a:latin typeface="Outfit" pitchFamily="34" charset="0"/>
                <a:ea typeface="Outfit" pitchFamily="34" charset="-122"/>
                <a:cs typeface="Outfit" pitchFamily="34" charset="-120"/>
              </a:rPr>
              <a:t>Encoding/decoding models are learned — must evaluate on unseen data</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K-fold: </a:t>
            </a:r>
            <a:r>
              <a:rPr lang="en-US" sz="1600" dirty="0">
                <a:solidFill>
                  <a:srgbClr val="334155"/>
                </a:solidFill>
                <a:latin typeface="Outfit" pitchFamily="34" charset="0"/>
                <a:ea typeface="Outfit" pitchFamily="34" charset="-122"/>
                <a:cs typeface="Outfit" pitchFamily="34" charset="-120"/>
              </a:rPr>
              <a:t>Split stimuli into K groups; train on K-1, test on 1; rotate; average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Leave-one-out: </a:t>
            </a:r>
            <a:r>
              <a:rPr lang="en-US" sz="1600" dirty="0">
                <a:solidFill>
                  <a:srgbClr val="334155"/>
                </a:solidFill>
                <a:latin typeface="Outfit" pitchFamily="34" charset="0"/>
                <a:ea typeface="Outfit" pitchFamily="34" charset="-122"/>
                <a:cs typeface="Outfit" pitchFamily="34" charset="-120"/>
              </a:rPr>
              <a:t>Special case: K = number of stimuli; maximizes training data</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Important: </a:t>
            </a:r>
            <a:r>
              <a:rPr lang="en-US" sz="1600" dirty="0">
                <a:solidFill>
                  <a:srgbClr val="334155"/>
                </a:solidFill>
                <a:latin typeface="Outfit" pitchFamily="34" charset="0"/>
                <a:ea typeface="Outfit" pitchFamily="34" charset="-122"/>
                <a:cs typeface="Outfit" pitchFamily="34" charset="-120"/>
              </a:rPr>
              <a:t>Split by stimulus, not by trial — avoid data leakage across conditions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Nested CV: </a:t>
            </a:r>
            <a:r>
              <a:rPr lang="en-US" sz="1600" dirty="0">
                <a:solidFill>
                  <a:srgbClr val="334155"/>
                </a:solidFill>
                <a:latin typeface="Outfit" pitchFamily="34" charset="0"/>
                <a:ea typeface="Outfit" pitchFamily="34" charset="-122"/>
                <a:cs typeface="Outfit" pitchFamily="34" charset="-120"/>
              </a:rPr>
              <a:t>If tuning hyperparameters (e.g., ridge lambda), need inner + outer CV loops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Bootstrapping &amp; permutation tests</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Bootstrapping: </a:t>
            </a:r>
            <a:r>
              <a:rPr lang="en-US" sz="1600" dirty="0">
                <a:solidFill>
                  <a:srgbClr val="334155"/>
                </a:solidFill>
                <a:latin typeface="Outfit" pitchFamily="34" charset="0"/>
                <a:ea typeface="Outfit" pitchFamily="34" charset="-122"/>
                <a:cs typeface="Outfit" pitchFamily="34" charset="-120"/>
              </a:rPr>
              <a:t>Resample with replacement to estimate confidence intervals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Permutation tests: </a:t>
            </a:r>
            <a:r>
              <a:rPr lang="en-US" sz="1600" dirty="0">
                <a:solidFill>
                  <a:srgbClr val="334155"/>
                </a:solidFill>
                <a:latin typeface="Outfit" pitchFamily="34" charset="0"/>
                <a:ea typeface="Outfit" pitchFamily="34" charset="-122"/>
                <a:cs typeface="Outfit" pitchFamily="34" charset="-120"/>
              </a:rPr>
              <a:t>Shuffle labels to build null distribution; compare observed vs. chance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Multiple comparisons: </a:t>
            </a:r>
            <a:r>
              <a:rPr lang="en-US" sz="1600" dirty="0">
                <a:solidFill>
                  <a:srgbClr val="334155"/>
                </a:solidFill>
                <a:latin typeface="Outfit" pitchFamily="34" charset="0"/>
                <a:ea typeface="Outfit" pitchFamily="34" charset="-122"/>
                <a:cs typeface="Outfit" pitchFamily="34" charset="-120"/>
              </a:rPr>
              <a:t>Testing many voxels/neurons → need correction (FDR, Bonferroni)</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Effect sizes: </a:t>
            </a:r>
            <a:r>
              <a:rPr lang="en-US" sz="1600" dirty="0">
                <a:solidFill>
                  <a:srgbClr val="334155"/>
                </a:solidFill>
                <a:latin typeface="Outfit" pitchFamily="34" charset="0"/>
                <a:ea typeface="Outfit" pitchFamily="34" charset="-122"/>
                <a:cs typeface="Outfit" pitchFamily="34" charset="-120"/>
              </a:rPr>
              <a:t>Don’t just report p-values — report how much variance is explained</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Split-half reliability: </a:t>
            </a:r>
            <a:r>
              <a:rPr lang="en-US" sz="1600" dirty="0">
                <a:solidFill>
                  <a:srgbClr val="334155"/>
                </a:solidFill>
                <a:latin typeface="Outfit" pitchFamily="34" charset="0"/>
                <a:ea typeface="Outfit" pitchFamily="34" charset="-122"/>
                <a:cs typeface="Outfit" pitchFamily="34" charset="-120"/>
              </a:rPr>
              <a:t>Use to estimate noise ceiling — how consistent is the data itself?</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Common pitfalls &amp; best practices</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Double dipping: </a:t>
            </a:r>
            <a:r>
              <a:rPr lang="en-US" sz="1600" dirty="0">
                <a:solidFill>
                  <a:srgbClr val="334155"/>
                </a:solidFill>
                <a:latin typeface="Outfit" pitchFamily="34" charset="0"/>
                <a:ea typeface="Outfit" pitchFamily="34" charset="-122"/>
                <a:cs typeface="Outfit" pitchFamily="34" charset="-120"/>
              </a:rPr>
              <a:t>Using same data to select features and evaluate — inflates accuracy</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Circularity: </a:t>
            </a:r>
            <a:r>
              <a:rPr lang="en-US" sz="1600" dirty="0">
                <a:solidFill>
                  <a:srgbClr val="334155"/>
                </a:solidFill>
                <a:latin typeface="Outfit" pitchFamily="34" charset="0"/>
                <a:ea typeface="Outfit" pitchFamily="34" charset="-122"/>
                <a:cs typeface="Outfit" pitchFamily="34" charset="-120"/>
              </a:rPr>
              <a:t>Selecting ROIs based on the effect you’re testing</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Ignoring noise ceiling: </a:t>
            </a:r>
            <a:r>
              <a:rPr lang="en-US" sz="1600" dirty="0">
                <a:solidFill>
                  <a:srgbClr val="334155"/>
                </a:solidFill>
                <a:latin typeface="Outfit" pitchFamily="34" charset="0"/>
                <a:ea typeface="Outfit" pitchFamily="34" charset="-122"/>
                <a:cs typeface="Outfit" pitchFamily="34" charset="-120"/>
              </a:rPr>
              <a:t>A model explaining 30% variance might be at ceiling if data reliability is 35%</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Overfitting: </a:t>
            </a:r>
            <a:r>
              <a:rPr lang="en-US" sz="1600" dirty="0">
                <a:solidFill>
                  <a:srgbClr val="334155"/>
                </a:solidFill>
                <a:latin typeface="Outfit" pitchFamily="34" charset="0"/>
                <a:ea typeface="Outfit" pitchFamily="34" charset="-122"/>
                <a:cs typeface="Outfit" pitchFamily="34" charset="-120"/>
              </a:rPr>
              <a:t>Too many model features relative to data points → regularize</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Confounds: </a:t>
            </a:r>
            <a:r>
              <a:rPr lang="en-US" sz="1600" dirty="0">
                <a:solidFill>
                  <a:srgbClr val="334155"/>
                </a:solidFill>
                <a:latin typeface="Outfit" pitchFamily="34" charset="0"/>
                <a:ea typeface="Outfit" pitchFamily="34" charset="-122"/>
                <a:cs typeface="Outfit" pitchFamily="34" charset="-120"/>
              </a:rPr>
              <a:t>Low-level features (luminance, word frequency) can drive spurious correlations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Brain-Score: benchmarking neural alignment</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Brain-Score: </a:t>
            </a:r>
            <a:r>
              <a:rPr lang="en-US" sz="1600" dirty="0">
                <a:solidFill>
                  <a:srgbClr val="334155"/>
                </a:solidFill>
                <a:latin typeface="Outfit" pitchFamily="34" charset="0"/>
                <a:ea typeface="Outfit" pitchFamily="34" charset="-122"/>
                <a:cs typeface="Outfit" pitchFamily="34" charset="-120"/>
              </a:rPr>
              <a:t>Standardized benchmark comparing DNN architectures against neural data</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How it works: </a:t>
            </a:r>
            <a:r>
              <a:rPr lang="en-US" sz="1600" dirty="0">
                <a:solidFill>
                  <a:srgbClr val="334155"/>
                </a:solidFill>
                <a:latin typeface="Outfit" pitchFamily="34" charset="0"/>
                <a:ea typeface="Outfit" pitchFamily="34" charset="-122"/>
                <a:cs typeface="Outfit" pitchFamily="34" charset="-120"/>
              </a:rPr>
              <a:t>Pool encoding accuracy across brain regions and datasets → single score per model</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Key finding: </a:t>
            </a:r>
            <a:r>
              <a:rPr lang="en-US" sz="1600" dirty="0">
                <a:solidFill>
                  <a:srgbClr val="334155"/>
                </a:solidFill>
                <a:latin typeface="Outfit" pitchFamily="34" charset="0"/>
                <a:ea typeface="Outfit" pitchFamily="34" charset="-122"/>
                <a:cs typeface="Outfit" pitchFamily="34" charset="-120"/>
              </a:rPr>
              <a:t>Models that are better at ImageNet are (were) better brain models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Saturation: </a:t>
            </a:r>
            <a:r>
              <a:rPr lang="en-US" sz="1600" dirty="0">
                <a:solidFill>
                  <a:srgbClr val="334155"/>
                </a:solidFill>
                <a:latin typeface="Outfit" pitchFamily="34" charset="0"/>
                <a:ea typeface="Outfit" pitchFamily="34" charset="-122"/>
                <a:cs typeface="Outfit" pitchFamily="34" charset="-120"/>
              </a:rPr>
              <a:t>Recent finding — accuracy gains no longer translate to brain alignment (Linsley et al.)</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Implication: </a:t>
            </a:r>
            <a:r>
              <a:rPr lang="en-US" sz="1600" dirty="0">
                <a:solidFill>
                  <a:srgbClr val="334155"/>
                </a:solidFill>
                <a:latin typeface="Outfit" pitchFamily="34" charset="0"/>
                <a:ea typeface="Outfit" pitchFamily="34" charset="-122"/>
                <a:cs typeface="Outfit" pitchFamily="34" charset="-120"/>
              </a:rPr>
              <a:t>We need to look beyond task accuracy — architecture, training, data all matter</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Schrimpf et al. (2018, 2020)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Beyond prediction: what makes a good brain model?</a:t>
            </a:r>
            <a:endParaRPr lang="en-US" sz="2800" dirty="0"/>
          </a:p>
        </p:txBody>
      </p:sp>
      <p:sp>
        <p:nvSpPr>
          <p:cNvPr id="3" name="Text 0"/>
          <p:cNvSpPr/>
          <p:nvPr>
            <p:ph idx="101" type="body" hasCustomPrompt="1"/>
          </p:nvPr>
        </p:nvSpPr>
        <p:spPr>
          <a:xfrm>
            <a:off x="310896" y="1188720"/>
            <a:ext cx="8522208" cy="3291840"/>
          </a:xfrm>
          <a:prstGeom prst="rect">
            <a:avLst/>
          </a:prstGeom>
          <a:noFill/>
          <a:ln/>
        </p:spPr>
        <p:txBody>
          <a:bodyPr wrap="square" lIns="63500" tIns="127000" rIns="127000" bIns="63500" rtlCol="0" anchor="t"/>
          <a:lstStyle/>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Doerig’s argument: </a:t>
            </a:r>
            <a:r>
              <a:rPr lang="en-US" sz="1600" dirty="0">
                <a:solidFill>
                  <a:srgbClr val="334155"/>
                </a:solidFill>
                <a:latin typeface="Outfit" pitchFamily="34" charset="0"/>
                <a:ea typeface="Outfit" pitchFamily="34" charset="-122"/>
                <a:cs typeface="Outfit" pitchFamily="34" charset="-120"/>
              </a:rPr>
              <a:t>Neural predictivity alone is insufficient to claim a model “explains” the brain</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Desideratum 1: </a:t>
            </a:r>
            <a:r>
              <a:rPr lang="en-US" sz="1600" dirty="0">
                <a:solidFill>
                  <a:srgbClr val="334155"/>
                </a:solidFill>
                <a:latin typeface="Outfit" pitchFamily="34" charset="0"/>
                <a:ea typeface="Outfit" pitchFamily="34" charset="-122"/>
                <a:cs typeface="Outfit" pitchFamily="34" charset="-120"/>
              </a:rPr>
              <a:t>Behavioral alignment — match human behavior, errors, reaction times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Desideratum 2: </a:t>
            </a:r>
            <a:r>
              <a:rPr lang="en-US" sz="1600" dirty="0">
                <a:solidFill>
                  <a:srgbClr val="334155"/>
                </a:solidFill>
                <a:latin typeface="Outfit" pitchFamily="34" charset="0"/>
                <a:ea typeface="Outfit" pitchFamily="34" charset="-122"/>
                <a:cs typeface="Outfit" pitchFamily="34" charset="-120"/>
              </a:rPr>
              <a:t>Neural alignment — predict neural data (encoding, RSA)</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Desideratum 3: </a:t>
            </a:r>
            <a:r>
              <a:rPr lang="en-US" sz="1600" dirty="0">
                <a:solidFill>
                  <a:srgbClr val="334155"/>
                </a:solidFill>
                <a:latin typeface="Outfit" pitchFamily="34" charset="0"/>
                <a:ea typeface="Outfit" pitchFamily="34" charset="-122"/>
                <a:cs typeface="Outfit" pitchFamily="34" charset="-120"/>
              </a:rPr>
              <a:t>Generalization — work across stimuli, tasks, paradigms</a:t>
            </a:r>
            <a:endParaRPr lang="en-US" sz="1600" dirty="0"/>
          </a:p>
          <a:p>
            <a:pPr algn="l" marL="342900" indent="-342900">
              <a:lnSpc>
                <a:spcPct val="115000"/>
              </a:lnSpc>
              <a:buSzPct val="100000"/>
              <a:buChar char="●"/>
            </a:pPr>
            <a:r>
              <a:rPr lang="en-US" sz="1600" b="1" dirty="0">
                <a:solidFill>
                  <a:srgbClr val="4F46E5"/>
                </a:solidFill>
                <a:latin typeface="Outfit" pitchFamily="34" charset="0"/>
                <a:ea typeface="Outfit" pitchFamily="34" charset="-122"/>
                <a:cs typeface="Outfit" pitchFamily="34" charset="-120"/>
              </a:rPr>
              <a:t xml:space="preserve">Desideratum 4: </a:t>
            </a:r>
            <a:r>
              <a:rPr lang="en-US" sz="1600" dirty="0">
                <a:solidFill>
                  <a:srgbClr val="334155"/>
                </a:solidFill>
                <a:latin typeface="Outfit" pitchFamily="34" charset="0"/>
                <a:ea typeface="Outfit" pitchFamily="34" charset="-122"/>
                <a:cs typeface="Outfit" pitchFamily="34" charset="-120"/>
              </a:rPr>
              <a:t>Interventions — perturbations in the model should predict effects in the brain</a:t>
            </a:r>
            <a:endParaRPr lang="en-US" sz="1600" dirty="0"/>
          </a:p>
        </p:txBody>
      </p:sp>
      <p:sp>
        <p:nvSpPr>
          <p:cNvPr id="4" name="Text 0"/>
          <p:cNvSpPr/>
          <p:nvPr>
            <p:ph idx="102"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Doerig et al. (2023)</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Functional Magnetic Resonance Imaging</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fMRI: measuring blood-oxygen-level dependent (BOLD) signal</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fMRI schematic here — show scanner, brain slice with voxels, BOLD signal timecourse.
Key: ~2mm spatial resolution, ~1-2s temporal resolution, whole-brain coverage, non-invasive)</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Electroencephalography &amp; Magnetoencephalography</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EEG &amp; MEG: millisecond-resolution neural dynamics</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EEG/MEG diagram here — show electrode cap, MEG helmet, example evoked response.
Key: ~1ms temporal resolution, poor spatial resolution, non-invasive, scalp-level signals)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Single-unit &amp; multi-unit electrophysiology</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Electrophysiology: recording individual neuron firing</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electrode/neuron diagram here — show microelectrode in cortex, spike rasters, tuning curves.
Key: single-neuron resolution, millisecond timing, invasive, typically in non-human primates)</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Electrocorticography (ECoG)</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ECoG: intracranial recordings in humans</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ECoG grid diagram here — show electrode grid on brain surface, high-gamma signal.
Key: mm-scale spatial, ms temporal, human data, only in epilepsy surgery patients)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Two-photon calcium imaging</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Two-photon imaging: watching populations of neurons in vivo</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two-photon imaging schematic — show fluorescent neurons, calcium traces, field of view.
Key: cellular resolution, population-level, mostly mice, slow calcium dynamics)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Neuropixels probes</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Neuropixels: high-density silicon probes</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Neuropixels probe diagram — show probe schematic, recording sites across layers.
Key: hundreds of neurons simultaneously, across brain areas, mostly rodents, single-spike resolution)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Encoding model pipeline</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From images to brain predictions</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(ORIGINAL DIAGRAM: Show pipeline: Input image → DNN (highlight specific layer) → Extract activations → Linear mapping → Predicted brain response.
Below: compare predicted vs. actual brain response, compute R²)</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Yamins et al. (2014) / Schrimpf et al. (2018)</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Layer-by-layer correspondence with ventral stream</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figure showing DNN layers mapped to visual cortex hierarchy — V1, V2, V4, IT.
Show that early layers predict early areas, deep layers predict IT.
This is one of the foundational results in the field.)</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Representational Dissimilarity Matrices (RDMs)</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Building and comparing RDMs</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(ORIGINAL DIAGRAM: Left: show N stimuli, extract response patterns, compute pairwise distances → NxN RDM.
Right: do same for DNN layer → NxN RDM.
Bottom: correlate the two RDMs → RSA score.)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Applications of neural decoding</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From brain signals to speech and behavior</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(Place examples: ECoG-based speech decoding (Goldstein et al.), MEG decoding (Défossez et al.).
Show that decoding accuracy depends on recording method, region, and decoder complexity.)</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457200" y="73152"/>
            <a:ext cx="8229600"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Outfit" pitchFamily="34" charset="0"/>
                <a:ea typeface="Outfit" pitchFamily="34" charset="-122"/>
                <a:cs typeface="Outfit" pitchFamily="34" charset="-120"/>
              </a:rPr>
              <a:t>The noise ceiling concept</a:t>
            </a:r>
            <a:endParaRPr lang="en-US" sz="1600" dirty="0"/>
          </a:p>
        </p:txBody>
      </p:sp>
      <p:sp>
        <p:nvSpPr>
          <p:cNvPr id="3" name="Text 1"/>
          <p:cNvSpPr/>
          <p:nvPr>
            <p:ph idx="102" type="title" hasCustomPrompt="1"/>
          </p:nvPr>
        </p:nvSpPr>
        <p:spPr>
          <a:xfrm>
            <a:off x="310896" y="777240"/>
            <a:ext cx="8522208" cy="411480"/>
          </a:xfrm>
          <a:prstGeom prst="rect">
            <a:avLst/>
          </a:prstGeom>
          <a:noFill/>
          <a:ln/>
        </p:spPr>
        <p:txBody>
          <a:bodyPr wrap="square" lIns="0" tIns="0" rIns="0" bIns="0" rtlCol="0"/>
          <a:lstStyle/>
          <a:p>
            <a:pPr algn="ctr" indent="0" marL="0">
              <a:buNone/>
            </a:pPr>
            <a:r>
              <a:rPr lang="en-US" sz="2000" b="1" dirty="0">
                <a:solidFill>
                  <a:srgbClr val="334155"/>
                </a:solidFill>
                <a:latin typeface="Outfit" pitchFamily="34" charset="0"/>
                <a:ea typeface="Outfit" pitchFamily="34" charset="-122"/>
                <a:cs typeface="Outfit" pitchFamily="34" charset="-120"/>
              </a:rPr>
              <a:t>Upper bound on model performance given measurement noise</a:t>
            </a:r>
            <a:endParaRPr lang="en-US" sz="2000" dirty="0"/>
          </a:p>
        </p:txBody>
      </p:sp>
      <p:sp>
        <p:nvSpPr>
          <p:cNvPr id="4" name="Text 1"/>
          <p:cNvSpPr/>
          <p:nvPr>
            <p:ph idx="103" type="body" hasCustomPrompt="1"/>
          </p:nvPr>
        </p:nvSpPr>
        <p:spPr>
          <a:xfrm>
            <a:off x="914400" y="1234440"/>
            <a:ext cx="7315200" cy="3291840"/>
          </a:xfrm>
          <a:prstGeom prst="rect">
            <a:avLst/>
          </a:prstGeom>
          <a:noFill/>
          <a:ln/>
        </p:spPr>
        <p:txBody>
          <a:bodyPr wrap="square" rtlCol="0"/>
          <a:lstStyle/>
          <a:p>
            <a:pPr algn="ctr" indent="0" marL="0">
              <a:buNone/>
            </a:pPr>
            <a:r>
              <a:rPr lang="en-US" sz="1400" dirty="0">
                <a:solidFill>
                  <a:srgbClr val="64748B"/>
                </a:solidFill>
                <a:latin typeface="Calibri" pitchFamily="34" charset="0"/>
                <a:ea typeface="Calibri" pitchFamily="34" charset="-122"/>
                <a:cs typeface="Calibri" pitchFamily="34" charset="-120"/>
              </a:rPr>
              <a:t>(ORIGINAL DIAGRAM: Show predicted R² on y-axis, model complexity on x-axis.
Draw horizontal dashed line = noise ceiling.
Show that even a perfect model can’t exceed this ceiling.
Label: “noise ceiling = reliability of the data itself”)</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310896" y="228600"/>
            <a:ext cx="8522208" cy="521208"/>
          </a:xfrm>
          <a:prstGeom prst="rect">
            <a:avLst/>
          </a:prstGeom>
          <a:noFill/>
          <a:ln/>
        </p:spPr>
        <p:txBody>
          <a:bodyPr wrap="square" lIns="63500" tIns="127000" rIns="127000" bIns="63500" rtlCol="0"/>
          <a:lstStyle/>
          <a:p>
            <a:pPr algn="ctr" indent="0" marL="0">
              <a:buNone/>
            </a:pPr>
            <a:r>
              <a:rPr lang="en-US" sz="2800" b="1" dirty="0">
                <a:solidFill>
                  <a:srgbClr val="4F46E5"/>
                </a:solidFill>
                <a:latin typeface="Outfit" pitchFamily="34" charset="0"/>
                <a:ea typeface="Outfit" pitchFamily="34" charset="-122"/>
                <a:cs typeface="Outfit" pitchFamily="34" charset="-120"/>
              </a:rPr>
              <a:t>Encoding vs. decoding: different questions</a:t>
            </a:r>
            <a:endParaRPr lang="en-US" sz="2800" dirty="0"/>
          </a:p>
        </p:txBody>
      </p:sp>
      <p:sp>
        <p:nvSpPr>
          <p:cNvPr id="3" name="Text 0"/>
          <p:cNvSpPr/>
          <p:nvPr>
            <p:ph idx="103" type="body" hasCustomPrompt="1"/>
          </p:nvPr>
        </p:nvSpPr>
        <p:spPr>
          <a:xfrm>
            <a:off x="310896" y="1188720"/>
            <a:ext cx="3977640" cy="3291840"/>
          </a:xfrm>
          <a:prstGeom prst="rect">
            <a:avLst/>
          </a:prstGeom>
          <a:noFill/>
          <a:ln/>
        </p:spPr>
        <p:txBody>
          <a:bodyPr wrap="square" rtlCol="0" anchor="t"/>
          <a:lstStyle/>
          <a:p>
            <a:pPr algn="l" indent="0" marL="0">
              <a:lnSpc>
                <a:spcPct val="115000"/>
              </a:lnSpc>
              <a:buNone/>
            </a:pPr>
            <a:r>
              <a:rPr lang="en-US" sz="1600" b="1" dirty="0">
                <a:solidFill>
                  <a:srgbClr val="4F46E5"/>
                </a:solidFill>
                <a:latin typeface="Outfit" pitchFamily="34" charset="0"/>
                <a:ea typeface="Outfit" pitchFamily="34" charset="-122"/>
                <a:cs typeface="Outfit" pitchFamily="34" charset="-120"/>
              </a:rPr>
              <a:t>Encoding</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Model features → brain activity</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“How well can this model predict the brain?”</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Tests representational content</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Compares across architectures</a:t>
            </a:r>
            <a:endParaRPr lang="en-US" sz="1600" dirty="0"/>
          </a:p>
        </p:txBody>
      </p:sp>
      <p:sp>
        <p:nvSpPr>
          <p:cNvPr id="4" name="Text 0"/>
          <p:cNvSpPr/>
          <p:nvPr>
            <p:ph idx="104" type="body" hasCustomPrompt="1"/>
          </p:nvPr>
        </p:nvSpPr>
        <p:spPr>
          <a:xfrm>
            <a:off x="4663440" y="1188720"/>
            <a:ext cx="3977640" cy="3291840"/>
          </a:xfrm>
          <a:prstGeom prst="rect">
            <a:avLst/>
          </a:prstGeom>
          <a:noFill/>
          <a:ln/>
        </p:spPr>
        <p:txBody>
          <a:bodyPr wrap="square" rtlCol="0" anchor="t"/>
          <a:lstStyle/>
          <a:p>
            <a:pPr algn="l" indent="0" marL="0">
              <a:lnSpc>
                <a:spcPct val="115000"/>
              </a:lnSpc>
              <a:buNone/>
            </a:pPr>
            <a:r>
              <a:rPr lang="en-US" sz="1600" b="1" dirty="0">
                <a:solidFill>
                  <a:srgbClr val="4F46E5"/>
                </a:solidFill>
                <a:latin typeface="Outfit" pitchFamily="34" charset="0"/>
                <a:ea typeface="Outfit" pitchFamily="34" charset="-122"/>
                <a:cs typeface="Outfit" pitchFamily="34" charset="-120"/>
              </a:rPr>
              <a:t>Decoding</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Brain activity → stimulus/label</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“What information is accessible in this brain region?”</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Tests information availability</a:t>
            </a:r>
            <a:endParaRPr lang="en-US" sz="1600" dirty="0"/>
          </a:p>
          <a:p>
            <a:pPr algn="l" marL="342900" indent="-342900">
              <a:lnSpc>
                <a:spcPct val="115000"/>
              </a:lnSpc>
              <a:buSzPct val="100000"/>
              <a:buChar char="●"/>
            </a:pPr>
            <a:r>
              <a:rPr lang="en-US" sz="1600" dirty="0">
                <a:solidFill>
                  <a:srgbClr val="334155"/>
                </a:solidFill>
                <a:latin typeface="Outfit" pitchFamily="34" charset="0"/>
                <a:ea typeface="Outfit" pitchFamily="34" charset="-122"/>
                <a:cs typeface="Outfit" pitchFamily="34" charset="-120"/>
              </a:rPr>
              <a:t>Used in BCIs, clinical applications</a:t>
            </a:r>
            <a:endParaRPr lang="en-US" sz="1600" dirty="0"/>
          </a:p>
        </p:txBody>
      </p:sp>
      <p:sp>
        <p:nvSpPr>
          <p:cNvPr id="5" name="Text 0"/>
          <p:cNvSpPr/>
          <p:nvPr>
            <p:ph idx="103" type="body" hasCustomPrompt="1"/>
          </p:nvPr>
        </p:nvSpPr>
        <p:spPr>
          <a:xfrm>
            <a:off x="0" y="4727448"/>
            <a:ext cx="4041648" cy="411480"/>
          </a:xfrm>
          <a:prstGeom prst="rect">
            <a:avLst/>
          </a:prstGeom>
          <a:noFill/>
          <a:ln/>
        </p:spPr>
        <p:txBody>
          <a:bodyPr wrap="square" lIns="127000" tIns="127000" rIns="127000" bIns="127000" rtlCol="0" anchor="b"/>
          <a:lstStyle/>
          <a:p>
            <a:pPr algn="l" indent="0" marL="0">
              <a:buNone/>
            </a:pPr>
            <a:r>
              <a:rPr lang="en-US" sz="1200" i="1" dirty="0">
                <a:solidFill>
                  <a:srgbClr val="334155"/>
                </a:solidFill>
                <a:latin typeface="Zilla Slab Light" pitchFamily="34" charset="0"/>
                <a:ea typeface="Zilla Slab Light" pitchFamily="34" charset="-122"/>
                <a:cs typeface="Zilla Slab Light" pitchFamily="34" charset="-120"/>
              </a:rPr>
              <a:t>Kriegeskorte &amp; Douglas (2018)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CPSY 1950 Template</dc:title>
  <dc:subject>PptxGenJS Presentation</dc:subject>
  <dc:creator>Thomas Serre</dc:creator>
  <cp:lastModifiedBy>Thomas Serre</cp:lastModifiedBy>
  <cp:revision>1</cp:revision>
  <dcterms:created xsi:type="dcterms:W3CDTF">2026-03-01T22:19:53Z</dcterms:created>
  <dcterms:modified xsi:type="dcterms:W3CDTF">2026-03-01T22:19:53Z</dcterms:modified>
</cp:coreProperties>
</file>